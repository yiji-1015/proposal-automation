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86" r:id="rId1"/>
    <p:sldMasterId id="2147483805" r:id="rId2"/>
  </p:sldMasterIdLst>
  <p:notesMasterIdLst>
    <p:notesMasterId r:id="rId10"/>
  </p:notesMasterIdLst>
  <p:handoutMasterIdLst>
    <p:handoutMasterId r:id="rId11"/>
  </p:handoutMasterIdLst>
  <p:sldIdLst>
    <p:sldId id="256" r:id="rId3"/>
    <p:sldId id="266" r:id="rId4"/>
    <p:sldId id="267" r:id="rId5"/>
    <p:sldId id="268" r:id="rId6"/>
    <p:sldId id="269" r:id="rId7"/>
    <p:sldId id="264" r:id="rId8"/>
    <p:sldId id="265" r:id="rId9"/>
  </p:sldIdLst>
  <p:sldSz cx="9906000" cy="6858000" type="A4"/>
  <p:notesSz cx="7104063" cy="10234613"/>
  <p:embeddedFontLst>
    <p:embeddedFont>
      <p:font typeface="KoPub돋움체 Bold" panose="02020603020101020101" pitchFamily="18" charset="-127"/>
      <p:regular r:id="rId12"/>
      <p:bold r:id="rId13"/>
    </p:embeddedFont>
    <p:embeddedFont>
      <p:font typeface="KoPub돋움체 Light" panose="02020603020101020101" pitchFamily="18" charset="-127"/>
      <p:regular r:id="rId14"/>
    </p:embeddedFont>
    <p:embeddedFont>
      <p:font typeface="KoPub돋움체 Medium" panose="02020603020101020101" pitchFamily="18" charset="-127"/>
      <p:regular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페이퍼로지 4 Regular" pitchFamily="2" charset="-127"/>
      <p:regular r:id="rId22"/>
    </p:embeddedFont>
    <p:embeddedFont>
      <p:font typeface="페이퍼로지 6 SemiBold" pitchFamily="2" charset="-127"/>
      <p:bold r:id="rId23"/>
    </p:embeddedFont>
    <p:embeddedFont>
      <p:font typeface="페이퍼로지 7 Bold" pitchFamily="2" charset="-127"/>
      <p:bold r:id="rId24"/>
    </p:embeddedFont>
    <p:embeddedFont>
      <p:font typeface="페이퍼로지 8 ExtraBold" pitchFamily="2" charset="-127"/>
      <p:bold r:id="rId25"/>
    </p:embeddedFont>
  </p:embeddedFontLst>
  <p:defaultTextStyle>
    <a:defPPr>
      <a:defRPr lang="ko-KR"/>
    </a:defPPr>
    <a:lvl1pPr marL="0" algn="l" defTabSz="91432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9" algn="l" defTabSz="91432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21" algn="l" defTabSz="91432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80" algn="l" defTabSz="91432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41" algn="l" defTabSz="91432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99" algn="l" defTabSz="91432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62" algn="l" defTabSz="91432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21" algn="l" defTabSz="91432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81" algn="l" defTabSz="91432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5978" userDrawn="1">
          <p15:clr>
            <a:srgbClr val="A4A3A4"/>
          </p15:clr>
        </p15:guide>
        <p15:guide id="16" pos="262" userDrawn="1">
          <p15:clr>
            <a:srgbClr val="A4A3A4"/>
          </p15:clr>
        </p15:guide>
        <p15:guide id="29" orient="horz" pos="3997" userDrawn="1">
          <p15:clr>
            <a:srgbClr val="A4A3A4"/>
          </p15:clr>
        </p15:guide>
        <p15:guide id="40" orient="horz" pos="1003" userDrawn="1">
          <p15:clr>
            <a:srgbClr val="A4A3A4"/>
          </p15:clr>
        </p15:guide>
        <p15:guide id="43" orient="horz" pos="1185" userDrawn="1">
          <p15:clr>
            <a:srgbClr val="A4A3A4"/>
          </p15:clr>
        </p15:guide>
        <p15:guide id="44" orient="horz" pos="3838" userDrawn="1">
          <p15:clr>
            <a:srgbClr val="A4A3A4"/>
          </p15:clr>
        </p15:guide>
        <p15:guide id="45" pos="3982" userDrawn="1">
          <p15:clr>
            <a:srgbClr val="A4A3A4"/>
          </p15:clr>
        </p15:guide>
        <p15:guide id="47" orient="horz" pos="1344" userDrawn="1">
          <p15:clr>
            <a:srgbClr val="A4A3A4"/>
          </p15:clr>
        </p15:guide>
        <p15:guide id="48" orient="horz" pos="3543" userDrawn="1">
          <p15:clr>
            <a:srgbClr val="A4A3A4"/>
          </p15:clr>
        </p15:guide>
        <p15:guide id="49" orient="horz" pos="3680" userDrawn="1">
          <p15:clr>
            <a:srgbClr val="A4A3A4"/>
          </p15:clr>
        </p15:guide>
        <p15:guide id="50" pos="807" userDrawn="1">
          <p15:clr>
            <a:srgbClr val="A4A3A4"/>
          </p15:clr>
        </p15:guide>
        <p15:guide id="51" orient="horz" pos="709" userDrawn="1">
          <p15:clr>
            <a:srgbClr val="A4A3A4"/>
          </p15:clr>
        </p15:guide>
        <p15:guide id="52" orient="horz" pos="890" userDrawn="1">
          <p15:clr>
            <a:srgbClr val="A4A3A4"/>
          </p15:clr>
        </p15:guide>
        <p15:guide id="53" orient="horz" pos="104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8A90"/>
    <a:srgbClr val="FEF36B"/>
    <a:srgbClr val="0158FF"/>
    <a:srgbClr val="BFBFBF"/>
    <a:srgbClr val="989BA0"/>
    <a:srgbClr val="B0B5BC"/>
    <a:srgbClr val="FFFAB7"/>
    <a:srgbClr val="A6A6A6"/>
    <a:srgbClr val="959BA5"/>
    <a:srgbClr val="A0A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47" autoAdjust="0"/>
    <p:restoredTop sz="97599" autoAdjust="0"/>
  </p:normalViewPr>
  <p:slideViewPr>
    <p:cSldViewPr snapToObjects="1" showGuides="1">
      <p:cViewPr varScale="1">
        <p:scale>
          <a:sx n="156" d="100"/>
          <a:sy n="156" d="100"/>
        </p:scale>
        <p:origin x="2370" y="150"/>
      </p:cViewPr>
      <p:guideLst>
        <p:guide pos="5978"/>
        <p:guide pos="262"/>
        <p:guide orient="horz" pos="3997"/>
        <p:guide orient="horz" pos="1003"/>
        <p:guide orient="horz" pos="1185"/>
        <p:guide orient="horz" pos="3838"/>
        <p:guide pos="3982"/>
        <p:guide orient="horz" pos="1344"/>
        <p:guide orient="horz" pos="3543"/>
        <p:guide orient="horz" pos="3680"/>
        <p:guide pos="807"/>
        <p:guide orient="horz" pos="709"/>
        <p:guide orient="horz" pos="890"/>
        <p:guide orient="horz" pos="104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124" d="100"/>
          <a:sy n="124" d="100"/>
        </p:scale>
        <p:origin x="4104" y="96"/>
      </p:cViewPr>
      <p:guideLst>
        <p:guide orient="horz" pos="3224"/>
        <p:guide pos="22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24" Type="http://schemas.openxmlformats.org/officeDocument/2006/relationships/font" Target="fonts/font13.fntdata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427" cy="513508"/>
          </a:xfrm>
          <a:prstGeom prst="rect">
            <a:avLst/>
          </a:prstGeom>
        </p:spPr>
        <p:txBody>
          <a:bodyPr vert="horz" lIns="99054" tIns="49527" rIns="99054" bIns="495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4" y="1"/>
            <a:ext cx="3078427" cy="513508"/>
          </a:xfrm>
          <a:prstGeom prst="rect">
            <a:avLst/>
          </a:prstGeom>
        </p:spPr>
        <p:txBody>
          <a:bodyPr vert="horz" lIns="99054" tIns="49527" rIns="99054" bIns="49527" rtlCol="0"/>
          <a:lstStyle>
            <a:lvl1pPr algn="r">
              <a:defRPr sz="1300"/>
            </a:lvl1pPr>
          </a:lstStyle>
          <a:p>
            <a:fld id="{7DDCEF59-61AB-46BD-85C1-E8D0441C06C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721108"/>
            <a:ext cx="3078427" cy="513507"/>
          </a:xfrm>
          <a:prstGeom prst="rect">
            <a:avLst/>
          </a:prstGeom>
        </p:spPr>
        <p:txBody>
          <a:bodyPr vert="horz" lIns="99054" tIns="49527" rIns="99054" bIns="495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4" y="9721108"/>
            <a:ext cx="3078427" cy="513507"/>
          </a:xfrm>
          <a:prstGeom prst="rect">
            <a:avLst/>
          </a:prstGeom>
        </p:spPr>
        <p:txBody>
          <a:bodyPr vert="horz" lIns="99054" tIns="49527" rIns="99054" bIns="49527" rtlCol="0" anchor="b"/>
          <a:lstStyle>
            <a:lvl1pPr algn="r">
              <a:defRPr sz="1300"/>
            </a:lvl1pPr>
          </a:lstStyle>
          <a:p>
            <a:fld id="{5B178915-B052-47B2-B3FF-962A46B816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662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3078427" cy="511731"/>
          </a:xfrm>
          <a:prstGeom prst="rect">
            <a:avLst/>
          </a:prstGeom>
        </p:spPr>
        <p:txBody>
          <a:bodyPr vert="horz" lIns="99054" tIns="49527" rIns="99054" bIns="495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4" y="2"/>
            <a:ext cx="3078427" cy="511731"/>
          </a:xfrm>
          <a:prstGeom prst="rect">
            <a:avLst/>
          </a:prstGeom>
        </p:spPr>
        <p:txBody>
          <a:bodyPr vert="horz" lIns="99054" tIns="49527" rIns="99054" bIns="49527" rtlCol="0"/>
          <a:lstStyle>
            <a:lvl1pPr algn="r">
              <a:defRPr sz="1300"/>
            </a:lvl1pPr>
          </a:lstStyle>
          <a:p>
            <a:fld id="{5E15BC46-ACA4-496F-B0E4-5DF69E8B2900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81050" y="768350"/>
            <a:ext cx="554196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4" tIns="49527" rIns="99054" bIns="495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vert="horz" lIns="99054" tIns="49527" rIns="99054" bIns="4952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721108"/>
            <a:ext cx="3078427" cy="511731"/>
          </a:xfrm>
          <a:prstGeom prst="rect">
            <a:avLst/>
          </a:prstGeom>
        </p:spPr>
        <p:txBody>
          <a:bodyPr vert="horz" lIns="99054" tIns="49527" rIns="99054" bIns="495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4" y="9721108"/>
            <a:ext cx="3078427" cy="511731"/>
          </a:xfrm>
          <a:prstGeom prst="rect">
            <a:avLst/>
          </a:prstGeom>
        </p:spPr>
        <p:txBody>
          <a:bodyPr vert="horz" lIns="99054" tIns="49527" rIns="99054" bIns="49527" rtlCol="0" anchor="b"/>
          <a:lstStyle>
            <a:lvl1pPr algn="r">
              <a:defRPr sz="1300"/>
            </a:lvl1pPr>
          </a:lstStyle>
          <a:p>
            <a:fld id="{D816EAFC-7C61-40B1-A803-8D65A6C48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48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21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9" algn="l" defTabSz="914321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21" algn="l" defTabSz="914321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80" algn="l" defTabSz="914321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41" algn="l" defTabSz="914321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9" algn="l" defTabSz="914321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62" algn="l" defTabSz="914321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21" algn="l" defTabSz="914321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81" algn="l" defTabSz="914321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48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/>
          <p:cNvGrpSpPr/>
          <p:nvPr userDrawn="1"/>
        </p:nvGrpSpPr>
        <p:grpSpPr>
          <a:xfrm>
            <a:off x="867000" y="6221925"/>
            <a:ext cx="8172000" cy="206375"/>
            <a:chOff x="415925" y="6140861"/>
            <a:chExt cx="9074150" cy="206375"/>
          </a:xfrm>
        </p:grpSpPr>
        <p:sp>
          <p:nvSpPr>
            <p:cNvPr id="22" name="직사각형 21"/>
            <p:cNvSpPr/>
            <p:nvPr/>
          </p:nvSpPr>
          <p:spPr>
            <a:xfrm rot="5400000">
              <a:off x="4849812" y="1706974"/>
              <a:ext cx="206375" cy="9074150"/>
            </a:xfrm>
            <a:prstGeom prst="rect">
              <a:avLst/>
            </a:prstGeom>
            <a:solidFill>
              <a:srgbClr val="015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vl="0" algn="ctr" eaLnBrk="1" latinLnBrk="0" hangingPunct="1"/>
              <a:endParaRPr lang="ko-KR" altLang="en-US" sz="1100">
                <a:ln>
                  <a:noFill/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218762" y="6182494"/>
              <a:ext cx="1468473" cy="1231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eaLnBrk="1" latinLnBrk="0" hangingPunct="1">
                <a:defRPr/>
              </a:pPr>
              <a:r>
                <a:rPr lang="en-US" altLang="ko-KR" sz="800" dirty="0">
                  <a:ln>
                    <a:noFill/>
                  </a:ln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[</a:t>
              </a:r>
              <a:r>
                <a:rPr lang="ko-KR" altLang="en-US" sz="800" dirty="0">
                  <a:ln>
                    <a:noFill/>
                  </a:ln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새마을금고</a:t>
              </a:r>
              <a:r>
                <a:rPr lang="en-US" altLang="ko-KR" sz="800" dirty="0">
                  <a:ln>
                    <a:noFill/>
                  </a:ln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] </a:t>
              </a:r>
              <a:r>
                <a:rPr lang="ko-KR" altLang="en-US" sz="800" dirty="0" err="1">
                  <a:ln>
                    <a:noFill/>
                  </a:ln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계정계</a:t>
              </a:r>
              <a:r>
                <a:rPr lang="ko-KR" altLang="en-US" sz="800" dirty="0">
                  <a:ln>
                    <a:noFill/>
                  </a:ln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 최신화 구축</a:t>
              </a:r>
            </a:p>
          </p:txBody>
        </p:sp>
      </p:grpSp>
      <p:sp>
        <p:nvSpPr>
          <p:cNvPr id="11" name="직사각형 10"/>
          <p:cNvSpPr/>
          <p:nvPr userDrawn="1"/>
        </p:nvSpPr>
        <p:spPr>
          <a:xfrm flipH="1">
            <a:off x="-1181" y="0"/>
            <a:ext cx="9908355" cy="12432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lvl="0" algn="ctr" eaLnBrk="1" latinLnBrk="0" hangingPunct="1"/>
            <a:endParaRPr lang="ko-KR" altLang="en-US" dirty="0">
              <a:ln>
                <a:noFill/>
              </a:ln>
              <a:solidFill>
                <a:schemeClr val="lt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 rot="5400000">
            <a:off x="4936799" y="-3480521"/>
            <a:ext cx="32400" cy="8172000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lvl="0" algn="ctr" eaLnBrk="1" latinLnBrk="0" hangingPunct="1"/>
            <a:endParaRPr lang="ko-KR" altLang="en-US" sz="1100">
              <a:ln>
                <a:noFill/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9006600" y="601104"/>
            <a:ext cx="32400" cy="642140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lvl="0" algn="ctr" eaLnBrk="1" latinLnBrk="0" hangingPunct="1"/>
            <a:endParaRPr lang="ko-KR" altLang="en-US" sz="1100">
              <a:ln>
                <a:noFill/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867000" y="601104"/>
            <a:ext cx="32400" cy="641196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lvl="0" algn="ctr" eaLnBrk="1" latinLnBrk="0" hangingPunct="1"/>
            <a:endParaRPr lang="ko-KR" altLang="en-US" sz="1100">
              <a:ln>
                <a:noFill/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867000" y="785100"/>
            <a:ext cx="32400" cy="4572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lvl="0" algn="ctr" eaLnBrk="1" latinLnBrk="0" hangingPunct="1"/>
            <a:endParaRPr lang="ko-KR" altLang="en-US" sz="1100">
              <a:ln>
                <a:noFill/>
              </a:ln>
              <a:solidFill>
                <a:srgbClr val="01033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 userDrawn="1"/>
        </p:nvSpPr>
        <p:spPr>
          <a:xfrm>
            <a:off x="1115656" y="779703"/>
            <a:ext cx="1684948" cy="43088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eaLnBrk="1" latinLnBrk="0" hangingPunct="1"/>
            <a:r>
              <a:rPr lang="en-US" altLang="ko-KR" sz="2800" kern="1200" dirty="0">
                <a:ln>
                  <a:noFill/>
                </a:ln>
                <a:solidFill>
                  <a:srgbClr val="02095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C</a:t>
            </a:r>
            <a:r>
              <a:rPr lang="en-US" altLang="ko-KR" sz="2800" kern="1200" dirty="0">
                <a:ln>
                  <a:noFill/>
                </a:ln>
                <a:solidFill>
                  <a:srgbClr val="0158FF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ontents</a:t>
            </a:r>
            <a:endParaRPr lang="ko-KR" altLang="en-US" sz="2800" kern="1200" dirty="0">
              <a:ln>
                <a:noFill/>
              </a:ln>
              <a:solidFill>
                <a:srgbClr val="0158FF"/>
              </a:solidFill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08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906000" cy="52831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endParaRPr lang="ko-KR" altLang="en-US">
              <a:ln>
                <a:noFill/>
              </a:ln>
            </a:endParaRPr>
          </a:p>
        </p:txBody>
      </p:sp>
      <p:sp>
        <p:nvSpPr>
          <p:cNvPr id="9" name="직사각형 8"/>
          <p:cNvSpPr/>
          <p:nvPr userDrawn="1"/>
        </p:nvSpPr>
        <p:spPr>
          <a:xfrm rot="5400000">
            <a:off x="4849813" y="1973262"/>
            <a:ext cx="206375" cy="6826249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latinLnBrk="0"/>
            <a:endParaRPr lang="ko-KR" altLang="en-US" sz="1100">
              <a:ln>
                <a:noFill/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210812" y="5317138"/>
            <a:ext cx="148438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>
              <a:defRPr/>
            </a:pPr>
            <a:r>
              <a:rPr lang="en-US" altLang="ko-KR" sz="900" dirty="0">
                <a:ln>
                  <a:noFill/>
                </a:ln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[</a:t>
            </a:r>
            <a:r>
              <a:rPr lang="ko-KR" altLang="en-US" sz="900" dirty="0">
                <a:ln>
                  <a:noFill/>
                </a:ln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새마을금고</a:t>
            </a:r>
            <a:r>
              <a:rPr lang="en-US" altLang="ko-KR" sz="900" dirty="0">
                <a:ln>
                  <a:noFill/>
                </a:ln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]</a:t>
            </a:r>
            <a:r>
              <a:rPr lang="ko-KR" altLang="en-US" sz="900" dirty="0">
                <a:ln>
                  <a:noFill/>
                </a:ln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 </a:t>
            </a:r>
            <a:r>
              <a:rPr lang="ko-KR" altLang="en-US" sz="900" dirty="0" err="1">
                <a:ln>
                  <a:noFill/>
                </a:ln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계정계</a:t>
            </a:r>
            <a:r>
              <a:rPr lang="ko-KR" altLang="en-US" sz="900" dirty="0">
                <a:ln>
                  <a:noFill/>
                </a:ln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 최신화 구축</a:t>
            </a:r>
          </a:p>
        </p:txBody>
      </p:sp>
      <p:sp>
        <p:nvSpPr>
          <p:cNvPr id="11" name="직사각형 10"/>
          <p:cNvSpPr/>
          <p:nvPr userDrawn="1"/>
        </p:nvSpPr>
        <p:spPr>
          <a:xfrm rot="5400000">
            <a:off x="3835401" y="752475"/>
            <a:ext cx="2235199" cy="68262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endParaRPr lang="ko-KR" altLang="en-US">
              <a:ln>
                <a:noFill/>
              </a:ln>
            </a:endParaRPr>
          </a:p>
        </p:txBody>
      </p:sp>
      <p:sp>
        <p:nvSpPr>
          <p:cNvPr id="12" name="직사각형 11"/>
          <p:cNvSpPr/>
          <p:nvPr userDrawn="1"/>
        </p:nvSpPr>
        <p:spPr>
          <a:xfrm rot="5400000">
            <a:off x="4939909" y="-1178815"/>
            <a:ext cx="26182" cy="6826249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latinLnBrk="0"/>
            <a:endParaRPr lang="ko-KR" altLang="en-US" sz="1100">
              <a:ln>
                <a:noFill/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 rot="5400000">
            <a:off x="4939909" y="1748309"/>
            <a:ext cx="26182" cy="97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latinLnBrk="0"/>
            <a:endParaRPr lang="ko-KR" altLang="en-US" sz="1100">
              <a:ln>
                <a:noFill/>
              </a:ln>
              <a:solidFill>
                <a:srgbClr val="01033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547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9"/>
          <p:cNvSpPr>
            <a:spLocks noChangeArrowheads="1"/>
          </p:cNvSpPr>
          <p:nvPr userDrawn="1"/>
        </p:nvSpPr>
        <p:spPr bwMode="auto">
          <a:xfrm>
            <a:off x="4786288" y="6582969"/>
            <a:ext cx="333425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III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20" name="그룹 19"/>
          <p:cNvGrpSpPr/>
          <p:nvPr userDrawn="1"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22" name="자유형 21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23" name="그룹 22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24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6" name="직사각형 25"/>
          <p:cNvSpPr/>
          <p:nvPr userDrawn="1"/>
        </p:nvSpPr>
        <p:spPr bwMode="gray">
          <a:xfrm>
            <a:off x="0" y="858481"/>
            <a:ext cx="9906000" cy="540000"/>
          </a:xfrm>
          <a:prstGeom prst="rect">
            <a:avLst/>
          </a:prstGeom>
          <a:solidFill>
            <a:srgbClr val="535961"/>
          </a:solidFill>
          <a:ln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27" name="그룹 26"/>
          <p:cNvGrpSpPr/>
          <p:nvPr userDrawn="1"/>
        </p:nvGrpSpPr>
        <p:grpSpPr>
          <a:xfrm>
            <a:off x="8800722" y="0"/>
            <a:ext cx="863230" cy="293168"/>
            <a:chOff x="8800722" y="0"/>
            <a:chExt cx="863230" cy="29316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11541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III</a:t>
              </a:r>
            </a:p>
          </p:txBody>
        </p:sp>
        <p:grpSp>
          <p:nvGrpSpPr>
            <p:cNvPr id="29" name="그룹 28"/>
            <p:cNvGrpSpPr/>
            <p:nvPr userDrawn="1"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상세 구축방안</a:t>
                </a:r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7894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9"/>
          <p:cNvSpPr>
            <a:spLocks noChangeArrowheads="1"/>
          </p:cNvSpPr>
          <p:nvPr userDrawn="1"/>
        </p:nvSpPr>
        <p:spPr bwMode="auto">
          <a:xfrm>
            <a:off x="4815142" y="6582969"/>
            <a:ext cx="275717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I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9036364" y="0"/>
            <a:ext cx="550644" cy="293168"/>
            <a:chOff x="9036364" y="0"/>
            <a:chExt cx="550644" cy="29316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3847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algn="l" eaLnBrk="1" latinLnBrk="0" hangingPunct="1"/>
              <a:r>
                <a:rPr lang="en-US" altLang="ko-KR" sz="12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cs typeface="Arial" charset="0"/>
                </a:rPr>
                <a:t>I</a:t>
              </a:r>
            </a:p>
          </p:txBody>
        </p:sp>
        <p:grpSp>
          <p:nvGrpSpPr>
            <p:cNvPr id="32" name="그룹 31"/>
            <p:cNvGrpSpPr/>
            <p:nvPr userDrawn="1"/>
          </p:nvGrpSpPr>
          <p:grpSpPr>
            <a:xfrm>
              <a:off x="9036364" y="0"/>
              <a:ext cx="454436" cy="272733"/>
              <a:chOff x="8999408" y="0"/>
              <a:chExt cx="454436" cy="27273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999408" y="131586"/>
                <a:ext cx="403957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eaLnBrk="1" latinLnBrk="0" hangingPunct="1"/>
                <a:r>
                  <a:rPr lang="ko-KR" altLang="en-US" b="0" spc="0" dirty="0" err="1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제안개요</a:t>
                </a:r>
                <a:endParaRPr lang="en-US" altLang="ko-KR" b="0" spc="0" dirty="0">
                  <a:ln>
                    <a:noFill/>
                  </a:ln>
                  <a:solidFill>
                    <a:srgbClr val="A0A5A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그룹 3"/>
          <p:cNvGrpSpPr/>
          <p:nvPr userDrawn="1"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36" name="자유형 35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37" name="그룹 36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39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40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</p:grpSp>
      <p:sp>
        <p:nvSpPr>
          <p:cNvPr id="54" name="직사각형 53"/>
          <p:cNvSpPr/>
          <p:nvPr userDrawn="1"/>
        </p:nvSpPr>
        <p:spPr bwMode="gray">
          <a:xfrm>
            <a:off x="0" y="858481"/>
            <a:ext cx="9906000" cy="540000"/>
          </a:xfrm>
          <a:prstGeom prst="rect">
            <a:avLst/>
          </a:prstGeom>
          <a:solidFill>
            <a:srgbClr val="535961"/>
          </a:solidFill>
          <a:ln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43300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장_리딩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9"/>
          <p:cNvSpPr>
            <a:spLocks noChangeArrowheads="1"/>
          </p:cNvSpPr>
          <p:nvPr userDrawn="1"/>
        </p:nvSpPr>
        <p:spPr bwMode="auto">
          <a:xfrm>
            <a:off x="4815142" y="6582969"/>
            <a:ext cx="275717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I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25" name="그룹 24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  <p:sp>
          <p:nvSpPr>
            <p:cNvPr id="29" name="자유형 28"/>
            <p:cNvSpPr/>
            <p:nvPr userDrawn="1"/>
          </p:nvSpPr>
          <p:spPr>
            <a:xfrm>
              <a:off x="422184" y="309446"/>
              <a:ext cx="9068616" cy="492892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18" name="그룹 17"/>
          <p:cNvGrpSpPr/>
          <p:nvPr userDrawn="1"/>
        </p:nvGrpSpPr>
        <p:grpSpPr>
          <a:xfrm>
            <a:off x="9036364" y="0"/>
            <a:ext cx="550644" cy="293168"/>
            <a:chOff x="9036364" y="0"/>
            <a:chExt cx="550644" cy="2931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3847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algn="l" eaLnBrk="1" latinLnBrk="0" hangingPunct="1"/>
              <a:r>
                <a:rPr lang="en-US" altLang="ko-KR" sz="12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cs typeface="Arial" charset="0"/>
                </a:rPr>
                <a:t>I</a:t>
              </a:r>
            </a:p>
          </p:txBody>
        </p:sp>
        <p:grpSp>
          <p:nvGrpSpPr>
            <p:cNvPr id="21" name="그룹 20"/>
            <p:cNvGrpSpPr/>
            <p:nvPr userDrawn="1"/>
          </p:nvGrpSpPr>
          <p:grpSpPr>
            <a:xfrm>
              <a:off x="9036364" y="0"/>
              <a:ext cx="454436" cy="272733"/>
              <a:chOff x="8999408" y="0"/>
              <a:chExt cx="454436" cy="272733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999408" y="131586"/>
                <a:ext cx="403957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eaLnBrk="1" latinLnBrk="0" hangingPunct="1"/>
                <a:r>
                  <a:rPr lang="ko-KR" altLang="en-US" b="0" spc="0" dirty="0" err="1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제안개요</a:t>
                </a:r>
                <a:endParaRPr lang="en-US" altLang="ko-KR" b="0" spc="0" dirty="0">
                  <a:ln>
                    <a:noFill/>
                  </a:ln>
                  <a:solidFill>
                    <a:srgbClr val="A0A5A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7029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9"/>
          <p:cNvSpPr>
            <a:spLocks noChangeArrowheads="1"/>
          </p:cNvSpPr>
          <p:nvPr userDrawn="1"/>
        </p:nvSpPr>
        <p:spPr bwMode="auto">
          <a:xfrm>
            <a:off x="4800715" y="6582969"/>
            <a:ext cx="304571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II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20" name="그룹 19"/>
          <p:cNvGrpSpPr/>
          <p:nvPr userDrawn="1"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22" name="자유형 21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23" name="그룹 22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24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6" name="직사각형 25"/>
          <p:cNvSpPr/>
          <p:nvPr userDrawn="1"/>
        </p:nvSpPr>
        <p:spPr bwMode="gray">
          <a:xfrm>
            <a:off x="0" y="858481"/>
            <a:ext cx="9906000" cy="540000"/>
          </a:xfrm>
          <a:prstGeom prst="rect">
            <a:avLst/>
          </a:prstGeom>
          <a:solidFill>
            <a:srgbClr val="535961"/>
          </a:solidFill>
          <a:ln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27" name="그룹 26"/>
          <p:cNvGrpSpPr/>
          <p:nvPr userDrawn="1"/>
        </p:nvGrpSpPr>
        <p:grpSpPr>
          <a:xfrm>
            <a:off x="8800722" y="0"/>
            <a:ext cx="824758" cy="293168"/>
            <a:chOff x="8800722" y="0"/>
            <a:chExt cx="824758" cy="29316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7694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II</a:t>
              </a:r>
            </a:p>
          </p:txBody>
        </p:sp>
        <p:grpSp>
          <p:nvGrpSpPr>
            <p:cNvPr id="29" name="그룹 28"/>
            <p:cNvGrpSpPr/>
            <p:nvPr userDrawn="1"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 err="1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제안업체</a:t>
                </a: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 현황</a:t>
                </a:r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43484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_리딩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9"/>
          <p:cNvSpPr>
            <a:spLocks noChangeArrowheads="1"/>
          </p:cNvSpPr>
          <p:nvPr userDrawn="1"/>
        </p:nvSpPr>
        <p:spPr bwMode="auto">
          <a:xfrm>
            <a:off x="4800715" y="6582969"/>
            <a:ext cx="304571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II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27" name="그룹 26"/>
          <p:cNvGrpSpPr/>
          <p:nvPr userDrawn="1"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28" name="그룹 27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31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  <p:sp>
          <p:nvSpPr>
            <p:cNvPr id="29" name="자유형 28"/>
            <p:cNvSpPr/>
            <p:nvPr userDrawn="1"/>
          </p:nvSpPr>
          <p:spPr>
            <a:xfrm>
              <a:off x="422184" y="309446"/>
              <a:ext cx="9068616" cy="492892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18" name="그룹 17"/>
          <p:cNvGrpSpPr/>
          <p:nvPr userDrawn="1"/>
        </p:nvGrpSpPr>
        <p:grpSpPr>
          <a:xfrm>
            <a:off x="8800722" y="0"/>
            <a:ext cx="824758" cy="293168"/>
            <a:chOff x="8800722" y="0"/>
            <a:chExt cx="824758" cy="2931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7694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II</a:t>
              </a: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 err="1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제안업체</a:t>
                </a: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 현황</a:t>
                </a:r>
              </a:p>
            </p:txBody>
          </p: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5088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9"/>
          <p:cNvSpPr>
            <a:spLocks noChangeArrowheads="1"/>
          </p:cNvSpPr>
          <p:nvPr userDrawn="1"/>
        </p:nvSpPr>
        <p:spPr bwMode="auto">
          <a:xfrm>
            <a:off x="4786288" y="6582969"/>
            <a:ext cx="333425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III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20" name="그룹 19"/>
          <p:cNvGrpSpPr/>
          <p:nvPr userDrawn="1"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22" name="자유형 21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23" name="그룹 22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24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6" name="직사각형 25"/>
          <p:cNvSpPr/>
          <p:nvPr userDrawn="1"/>
        </p:nvSpPr>
        <p:spPr bwMode="gray">
          <a:xfrm>
            <a:off x="0" y="858481"/>
            <a:ext cx="9906000" cy="540000"/>
          </a:xfrm>
          <a:prstGeom prst="rect">
            <a:avLst/>
          </a:prstGeom>
          <a:solidFill>
            <a:srgbClr val="535961"/>
          </a:solidFill>
          <a:ln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27" name="그룹 26"/>
          <p:cNvGrpSpPr/>
          <p:nvPr userDrawn="1"/>
        </p:nvGrpSpPr>
        <p:grpSpPr>
          <a:xfrm>
            <a:off x="8800722" y="0"/>
            <a:ext cx="863230" cy="293168"/>
            <a:chOff x="8800722" y="0"/>
            <a:chExt cx="863230" cy="29316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11541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III</a:t>
              </a:r>
            </a:p>
          </p:txBody>
        </p:sp>
        <p:grpSp>
          <p:nvGrpSpPr>
            <p:cNvPr id="29" name="그룹 28"/>
            <p:cNvGrpSpPr/>
            <p:nvPr userDrawn="1"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상세 구축방안</a:t>
                </a:r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242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장_리딩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9"/>
          <p:cNvSpPr>
            <a:spLocks noChangeArrowheads="1"/>
          </p:cNvSpPr>
          <p:nvPr userDrawn="1"/>
        </p:nvSpPr>
        <p:spPr bwMode="auto">
          <a:xfrm>
            <a:off x="4786288" y="6582969"/>
            <a:ext cx="333425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III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27" name="그룹 26"/>
          <p:cNvGrpSpPr/>
          <p:nvPr userDrawn="1"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28" name="그룹 27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31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  <p:sp>
          <p:nvSpPr>
            <p:cNvPr id="29" name="자유형 28"/>
            <p:cNvSpPr/>
            <p:nvPr userDrawn="1"/>
          </p:nvSpPr>
          <p:spPr>
            <a:xfrm>
              <a:off x="422184" y="309446"/>
              <a:ext cx="9068616" cy="492892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18" name="그룹 17"/>
          <p:cNvGrpSpPr/>
          <p:nvPr userDrawn="1"/>
        </p:nvGrpSpPr>
        <p:grpSpPr>
          <a:xfrm>
            <a:off x="8800722" y="0"/>
            <a:ext cx="863230" cy="293168"/>
            <a:chOff x="8800722" y="0"/>
            <a:chExt cx="863230" cy="2931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11541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III</a:t>
              </a: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상세 구축방안</a:t>
                </a:r>
              </a:p>
            </p:txBody>
          </p: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353529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9"/>
          <p:cNvSpPr>
            <a:spLocks noChangeArrowheads="1"/>
          </p:cNvSpPr>
          <p:nvPr userDrawn="1"/>
        </p:nvSpPr>
        <p:spPr bwMode="auto">
          <a:xfrm>
            <a:off x="4783082" y="6582969"/>
            <a:ext cx="33983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IV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20" name="그룹 19"/>
          <p:cNvGrpSpPr/>
          <p:nvPr userDrawn="1"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21" name="자유형 20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22" name="그룹 21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5" name="직사각형 24"/>
          <p:cNvSpPr/>
          <p:nvPr userDrawn="1"/>
        </p:nvSpPr>
        <p:spPr bwMode="gray">
          <a:xfrm>
            <a:off x="0" y="858481"/>
            <a:ext cx="9906000" cy="540000"/>
          </a:xfrm>
          <a:prstGeom prst="rect">
            <a:avLst/>
          </a:prstGeom>
          <a:solidFill>
            <a:srgbClr val="535961"/>
          </a:solidFill>
          <a:ln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32" name="그룹 31"/>
          <p:cNvGrpSpPr/>
          <p:nvPr userDrawn="1"/>
        </p:nvGrpSpPr>
        <p:grpSpPr>
          <a:xfrm>
            <a:off x="8430429" y="0"/>
            <a:ext cx="1254363" cy="293168"/>
            <a:chOff x="8430429" y="0"/>
            <a:chExt cx="1254363" cy="29316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13625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IV</a:t>
              </a:r>
            </a:p>
          </p:txBody>
        </p:sp>
        <p:grpSp>
          <p:nvGrpSpPr>
            <p:cNvPr id="34" name="그룹 33"/>
            <p:cNvGrpSpPr/>
            <p:nvPr userDrawn="1"/>
          </p:nvGrpSpPr>
          <p:grpSpPr>
            <a:xfrm>
              <a:off x="8430429" y="0"/>
              <a:ext cx="1060371" cy="272733"/>
              <a:chOff x="8393473" y="0"/>
              <a:chExt cx="1060371" cy="272733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393473" y="131586"/>
                <a:ext cx="1009892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사업수행 및 관리 방안</a:t>
                </a:r>
              </a:p>
            </p:txBody>
          </p: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06518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장_리딩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9"/>
          <p:cNvSpPr>
            <a:spLocks noChangeArrowheads="1"/>
          </p:cNvSpPr>
          <p:nvPr userDrawn="1"/>
        </p:nvSpPr>
        <p:spPr bwMode="auto">
          <a:xfrm>
            <a:off x="4783082" y="6582969"/>
            <a:ext cx="33983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IV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32" name="그룹 31"/>
          <p:cNvGrpSpPr/>
          <p:nvPr userDrawn="1"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33" name="그룹 32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35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36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  <p:sp>
          <p:nvSpPr>
            <p:cNvPr id="34" name="자유형 33"/>
            <p:cNvSpPr/>
            <p:nvPr userDrawn="1"/>
          </p:nvSpPr>
          <p:spPr>
            <a:xfrm>
              <a:off x="422184" y="309446"/>
              <a:ext cx="9068616" cy="492892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18" name="그룹 17"/>
          <p:cNvGrpSpPr/>
          <p:nvPr userDrawn="1"/>
        </p:nvGrpSpPr>
        <p:grpSpPr>
          <a:xfrm>
            <a:off x="8430429" y="0"/>
            <a:ext cx="1254363" cy="293168"/>
            <a:chOff x="8430429" y="0"/>
            <a:chExt cx="1254363" cy="2931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13625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IV</a:t>
              </a:r>
            </a:p>
          </p:txBody>
        </p:sp>
        <p:grpSp>
          <p:nvGrpSpPr>
            <p:cNvPr id="21" name="그룹 20"/>
            <p:cNvGrpSpPr/>
            <p:nvPr userDrawn="1"/>
          </p:nvGrpSpPr>
          <p:grpSpPr>
            <a:xfrm>
              <a:off x="8430429" y="0"/>
              <a:ext cx="1060371" cy="272733"/>
              <a:chOff x="8393473" y="0"/>
              <a:chExt cx="1060371" cy="27273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393473" y="131586"/>
                <a:ext cx="1009892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사업수행 및 관리 방안</a:t>
                </a:r>
              </a:p>
            </p:txBody>
          </p: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463824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9"/>
          <p:cNvSpPr>
            <a:spLocks noChangeArrowheads="1"/>
          </p:cNvSpPr>
          <p:nvPr userDrawn="1"/>
        </p:nvSpPr>
        <p:spPr bwMode="auto">
          <a:xfrm>
            <a:off x="4797509" y="6582969"/>
            <a:ext cx="31098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V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20" name="그룹 19"/>
          <p:cNvGrpSpPr/>
          <p:nvPr userDrawn="1"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21" name="자유형 20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22" name="그룹 21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5" name="직사각형 24"/>
          <p:cNvSpPr/>
          <p:nvPr userDrawn="1"/>
        </p:nvSpPr>
        <p:spPr bwMode="gray">
          <a:xfrm>
            <a:off x="0" y="858481"/>
            <a:ext cx="9906000" cy="540000"/>
          </a:xfrm>
          <a:prstGeom prst="rect">
            <a:avLst/>
          </a:prstGeom>
          <a:solidFill>
            <a:srgbClr val="535961"/>
          </a:solidFill>
          <a:ln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32" name="그룹 31"/>
          <p:cNvGrpSpPr/>
          <p:nvPr userDrawn="1"/>
        </p:nvGrpSpPr>
        <p:grpSpPr>
          <a:xfrm>
            <a:off x="8228451" y="0"/>
            <a:ext cx="1417869" cy="293168"/>
            <a:chOff x="8228451" y="0"/>
            <a:chExt cx="1417869" cy="29316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9778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V</a:t>
              </a:r>
            </a:p>
          </p:txBody>
        </p:sp>
        <p:grpSp>
          <p:nvGrpSpPr>
            <p:cNvPr id="34" name="그룹 33"/>
            <p:cNvGrpSpPr/>
            <p:nvPr userDrawn="1"/>
          </p:nvGrpSpPr>
          <p:grpSpPr>
            <a:xfrm>
              <a:off x="8228451" y="0"/>
              <a:ext cx="1262349" cy="272733"/>
              <a:chOff x="8191495" y="0"/>
              <a:chExt cx="1262349" cy="272733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191495" y="131586"/>
                <a:ext cx="1211870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교육지원 및 기술이전 방안</a:t>
                </a:r>
              </a:p>
            </p:txBody>
          </p: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96747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장_리딩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9"/>
          <p:cNvSpPr>
            <a:spLocks noChangeArrowheads="1"/>
          </p:cNvSpPr>
          <p:nvPr userDrawn="1"/>
        </p:nvSpPr>
        <p:spPr bwMode="auto">
          <a:xfrm>
            <a:off x="4797509" y="6582969"/>
            <a:ext cx="31098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V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32" name="그룹 31"/>
          <p:cNvGrpSpPr/>
          <p:nvPr userDrawn="1"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33" name="그룹 32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35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36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  <p:sp>
          <p:nvSpPr>
            <p:cNvPr id="34" name="자유형 33"/>
            <p:cNvSpPr/>
            <p:nvPr userDrawn="1"/>
          </p:nvSpPr>
          <p:spPr>
            <a:xfrm>
              <a:off x="422184" y="309446"/>
              <a:ext cx="9068616" cy="492892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18" name="그룹 17"/>
          <p:cNvGrpSpPr/>
          <p:nvPr userDrawn="1"/>
        </p:nvGrpSpPr>
        <p:grpSpPr>
          <a:xfrm>
            <a:off x="8228451" y="0"/>
            <a:ext cx="1417869" cy="293168"/>
            <a:chOff x="8228451" y="0"/>
            <a:chExt cx="1417869" cy="2931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9778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V</a:t>
              </a:r>
            </a:p>
          </p:txBody>
        </p:sp>
        <p:grpSp>
          <p:nvGrpSpPr>
            <p:cNvPr id="21" name="그룹 20"/>
            <p:cNvGrpSpPr/>
            <p:nvPr userDrawn="1"/>
          </p:nvGrpSpPr>
          <p:grpSpPr>
            <a:xfrm>
              <a:off x="8228451" y="0"/>
              <a:ext cx="1262349" cy="272733"/>
              <a:chOff x="8191495" y="0"/>
              <a:chExt cx="1262349" cy="27273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191495" y="131586"/>
                <a:ext cx="1211870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교육지원 및 기술이전 방안</a:t>
                </a:r>
              </a:p>
            </p:txBody>
          </p: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57931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59"/>
          <p:cNvSpPr>
            <a:spLocks noChangeArrowheads="1"/>
          </p:cNvSpPr>
          <p:nvPr userDrawn="1"/>
        </p:nvSpPr>
        <p:spPr bwMode="auto">
          <a:xfrm>
            <a:off x="4783082" y="6582969"/>
            <a:ext cx="339837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VI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19" name="그룹 18"/>
          <p:cNvGrpSpPr/>
          <p:nvPr userDrawn="1"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20" name="자유형 19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22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23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5" name="직사각형 24"/>
          <p:cNvSpPr/>
          <p:nvPr userDrawn="1"/>
        </p:nvSpPr>
        <p:spPr bwMode="gray">
          <a:xfrm>
            <a:off x="0" y="858481"/>
            <a:ext cx="9906000" cy="540000"/>
          </a:xfrm>
          <a:prstGeom prst="rect">
            <a:avLst/>
          </a:prstGeom>
          <a:solidFill>
            <a:srgbClr val="535961"/>
          </a:solidFill>
          <a:ln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26" name="그룹 25"/>
          <p:cNvGrpSpPr/>
          <p:nvPr userDrawn="1"/>
        </p:nvGrpSpPr>
        <p:grpSpPr>
          <a:xfrm>
            <a:off x="8834385" y="0"/>
            <a:ext cx="850407" cy="293168"/>
            <a:chOff x="8834385" y="0"/>
            <a:chExt cx="850407" cy="29316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13625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VI</a:t>
              </a:r>
            </a:p>
          </p:txBody>
        </p:sp>
        <p:grpSp>
          <p:nvGrpSpPr>
            <p:cNvPr id="28" name="그룹 27"/>
            <p:cNvGrpSpPr/>
            <p:nvPr userDrawn="1"/>
          </p:nvGrpSpPr>
          <p:grpSpPr>
            <a:xfrm>
              <a:off x="8834385" y="0"/>
              <a:ext cx="656415" cy="272733"/>
              <a:chOff x="8797429" y="0"/>
              <a:chExt cx="656415" cy="272733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797429" y="131586"/>
                <a:ext cx="605936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유지보수방안</a:t>
                </a:r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38665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장_리딩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59"/>
          <p:cNvSpPr>
            <a:spLocks noChangeArrowheads="1"/>
          </p:cNvSpPr>
          <p:nvPr userDrawn="1"/>
        </p:nvSpPr>
        <p:spPr bwMode="auto">
          <a:xfrm>
            <a:off x="4783082" y="6582969"/>
            <a:ext cx="339837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VI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234633" y="237274"/>
            <a:ext cx="136517" cy="106291"/>
            <a:chOff x="1495660" y="3500853"/>
            <a:chExt cx="191590" cy="149170"/>
          </a:xfrm>
          <a:solidFill>
            <a:srgbClr val="C5C8CD"/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69163DD5-91B9-4081-AEF9-6F975D7E6765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597497" y="3500853"/>
              <a:ext cx="89753" cy="149170"/>
            </a:xfrm>
            <a:custGeom>
              <a:avLst/>
              <a:gdLst>
                <a:gd name="T0" fmla="*/ 153 w 300"/>
                <a:gd name="T1" fmla="*/ 0 h 499"/>
                <a:gd name="T2" fmla="*/ 44 w 300"/>
                <a:gd name="T3" fmla="*/ 40 h 499"/>
                <a:gd name="T4" fmla="*/ 0 w 300"/>
                <a:gd name="T5" fmla="*/ 147 h 499"/>
                <a:gd name="T6" fmla="*/ 134 w 300"/>
                <a:gd name="T7" fmla="*/ 302 h 499"/>
                <a:gd name="T8" fmla="*/ 142 w 300"/>
                <a:gd name="T9" fmla="*/ 313 h 499"/>
                <a:gd name="T10" fmla="*/ 88 w 300"/>
                <a:gd name="T11" fmla="*/ 389 h 499"/>
                <a:gd name="T12" fmla="*/ 29 w 300"/>
                <a:gd name="T13" fmla="*/ 442 h 499"/>
                <a:gd name="T14" fmla="*/ 21 w 300"/>
                <a:gd name="T15" fmla="*/ 470 h 499"/>
                <a:gd name="T16" fmla="*/ 37 w 300"/>
                <a:gd name="T17" fmla="*/ 489 h 499"/>
                <a:gd name="T18" fmla="*/ 64 w 300"/>
                <a:gd name="T19" fmla="*/ 491 h 499"/>
                <a:gd name="T20" fmla="*/ 300 w 300"/>
                <a:gd name="T21" fmla="*/ 161 h 499"/>
                <a:gd name="T22" fmla="*/ 256 w 300"/>
                <a:gd name="T23" fmla="*/ 53 h 499"/>
                <a:gd name="T24" fmla="*/ 153 w 300"/>
                <a:gd name="T25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153" y="0"/>
                  </a:moveTo>
                  <a:cubicBezTo>
                    <a:pt x="109" y="0"/>
                    <a:pt x="73" y="13"/>
                    <a:pt x="44" y="40"/>
                  </a:cubicBezTo>
                  <a:cubicBezTo>
                    <a:pt x="15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6" y="402"/>
                    <a:pt x="56" y="419"/>
                    <a:pt x="29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7" y="489"/>
                    <a:pt x="37" y="489"/>
                    <a:pt x="37" y="489"/>
                  </a:cubicBezTo>
                  <a:cubicBezTo>
                    <a:pt x="45" y="499"/>
                    <a:pt x="59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ubicBezTo>
                    <a:pt x="226" y="17"/>
                    <a:pt x="192" y="0"/>
                    <a:pt x="153" y="0"/>
                  </a:cubicBezTo>
                  <a:close/>
                </a:path>
              </a:pathLst>
            </a:custGeom>
            <a:solidFill>
              <a:srgbClr val="B0B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1000">
                <a:ln>
                  <a:noFill/>
                </a:ln>
                <a:latin typeface="+mj-ea"/>
                <a:ea typeface="+mj-ea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F06567DA-B288-469A-A992-76FFBE1BB44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495660" y="3500853"/>
              <a:ext cx="89627" cy="149170"/>
            </a:xfrm>
            <a:custGeom>
              <a:avLst/>
              <a:gdLst>
                <a:gd name="T0" fmla="*/ 256 w 300"/>
                <a:gd name="T1" fmla="*/ 53 h 499"/>
                <a:gd name="T2" fmla="*/ 152 w 300"/>
                <a:gd name="T3" fmla="*/ 0 h 499"/>
                <a:gd name="T4" fmla="*/ 43 w 300"/>
                <a:gd name="T5" fmla="*/ 40 h 499"/>
                <a:gd name="T6" fmla="*/ 0 w 300"/>
                <a:gd name="T7" fmla="*/ 147 h 499"/>
                <a:gd name="T8" fmla="*/ 134 w 300"/>
                <a:gd name="T9" fmla="*/ 302 h 499"/>
                <a:gd name="T10" fmla="*/ 142 w 300"/>
                <a:gd name="T11" fmla="*/ 313 h 499"/>
                <a:gd name="T12" fmla="*/ 88 w 300"/>
                <a:gd name="T13" fmla="*/ 389 h 499"/>
                <a:gd name="T14" fmla="*/ 28 w 300"/>
                <a:gd name="T15" fmla="*/ 442 h 499"/>
                <a:gd name="T16" fmla="*/ 21 w 300"/>
                <a:gd name="T17" fmla="*/ 470 h 499"/>
                <a:gd name="T18" fmla="*/ 36 w 300"/>
                <a:gd name="T19" fmla="*/ 489 h 499"/>
                <a:gd name="T20" fmla="*/ 64 w 300"/>
                <a:gd name="T21" fmla="*/ 491 h 499"/>
                <a:gd name="T22" fmla="*/ 300 w 300"/>
                <a:gd name="T23" fmla="*/ 161 h 499"/>
                <a:gd name="T24" fmla="*/ 256 w 300"/>
                <a:gd name="T25" fmla="*/ 53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256" y="53"/>
                  </a:moveTo>
                  <a:cubicBezTo>
                    <a:pt x="226" y="17"/>
                    <a:pt x="191" y="0"/>
                    <a:pt x="152" y="0"/>
                  </a:cubicBezTo>
                  <a:cubicBezTo>
                    <a:pt x="109" y="0"/>
                    <a:pt x="72" y="13"/>
                    <a:pt x="43" y="40"/>
                  </a:cubicBezTo>
                  <a:cubicBezTo>
                    <a:pt x="14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5" y="402"/>
                    <a:pt x="56" y="419"/>
                    <a:pt x="28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6" y="489"/>
                    <a:pt x="36" y="489"/>
                    <a:pt x="36" y="489"/>
                  </a:cubicBezTo>
                  <a:cubicBezTo>
                    <a:pt x="44" y="499"/>
                    <a:pt x="58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lose/>
                </a:path>
              </a:pathLst>
            </a:custGeom>
            <a:solidFill>
              <a:srgbClr val="B0B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1000">
                <a:ln>
                  <a:noFill/>
                </a:ln>
                <a:latin typeface="+mj-ea"/>
                <a:ea typeface="+mj-ea"/>
              </a:endParaRPr>
            </a:p>
          </p:txBody>
        </p:sp>
      </p:grpSp>
      <p:sp>
        <p:nvSpPr>
          <p:cNvPr id="35" name="자유형 34"/>
          <p:cNvSpPr/>
          <p:nvPr userDrawn="1"/>
        </p:nvSpPr>
        <p:spPr>
          <a:xfrm>
            <a:off x="422184" y="309446"/>
            <a:ext cx="9068616" cy="492892"/>
          </a:xfrm>
          <a:custGeom>
            <a:avLst/>
            <a:gdLst>
              <a:gd name="connsiteX0" fmla="*/ 0 w 5575300"/>
              <a:gd name="connsiteY0" fmla="*/ 0 h 4298950"/>
              <a:gd name="connsiteX1" fmla="*/ 5575300 w 5575300"/>
              <a:gd name="connsiteY1" fmla="*/ 0 h 4298950"/>
              <a:gd name="connsiteX2" fmla="*/ 5575300 w 5575300"/>
              <a:gd name="connsiteY2" fmla="*/ 4298950 h 429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75300" h="4298950">
                <a:moveTo>
                  <a:pt x="0" y="0"/>
                </a:moveTo>
                <a:lnTo>
                  <a:pt x="5575300" y="0"/>
                </a:lnTo>
                <a:lnTo>
                  <a:pt x="5575300" y="4298950"/>
                </a:lnTo>
              </a:path>
            </a:pathLst>
          </a:custGeom>
          <a:ln w="8890" cap="sq">
            <a:solidFill>
              <a:srgbClr val="B0B5B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9" name="그룹 18"/>
          <p:cNvGrpSpPr/>
          <p:nvPr userDrawn="1"/>
        </p:nvGrpSpPr>
        <p:grpSpPr>
          <a:xfrm>
            <a:off x="8834385" y="0"/>
            <a:ext cx="850407" cy="293168"/>
            <a:chOff x="8834385" y="0"/>
            <a:chExt cx="850407" cy="2931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13625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VI</a:t>
              </a:r>
            </a:p>
          </p:txBody>
        </p:sp>
        <p:grpSp>
          <p:nvGrpSpPr>
            <p:cNvPr id="21" name="그룹 20"/>
            <p:cNvGrpSpPr/>
            <p:nvPr userDrawn="1"/>
          </p:nvGrpSpPr>
          <p:grpSpPr>
            <a:xfrm>
              <a:off x="8834385" y="0"/>
              <a:ext cx="656415" cy="272733"/>
              <a:chOff x="8797429" y="0"/>
              <a:chExt cx="656415" cy="27273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797429" y="131586"/>
                <a:ext cx="605936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유지보수방안</a:t>
                </a:r>
              </a:p>
            </p:txBody>
          </p: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9216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59"/>
          <p:cNvSpPr>
            <a:spLocks noChangeArrowheads="1"/>
          </p:cNvSpPr>
          <p:nvPr userDrawn="1"/>
        </p:nvSpPr>
        <p:spPr bwMode="auto">
          <a:xfrm>
            <a:off x="4768655" y="6582969"/>
            <a:ext cx="368691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VII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19" name="그룹 18"/>
          <p:cNvGrpSpPr/>
          <p:nvPr userDrawn="1"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20" name="자유형 19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22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23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5" name="직사각형 24"/>
          <p:cNvSpPr/>
          <p:nvPr userDrawn="1"/>
        </p:nvSpPr>
        <p:spPr bwMode="gray">
          <a:xfrm>
            <a:off x="0" y="858481"/>
            <a:ext cx="9906000" cy="540000"/>
          </a:xfrm>
          <a:prstGeom prst="rect">
            <a:avLst/>
          </a:prstGeom>
          <a:solidFill>
            <a:srgbClr val="535961"/>
          </a:solidFill>
          <a:ln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26" name="그룹 25"/>
          <p:cNvGrpSpPr/>
          <p:nvPr userDrawn="1"/>
        </p:nvGrpSpPr>
        <p:grpSpPr>
          <a:xfrm>
            <a:off x="9036364" y="0"/>
            <a:ext cx="686900" cy="293168"/>
            <a:chOff x="9036364" y="0"/>
            <a:chExt cx="686900" cy="29316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17472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VII</a:t>
              </a:r>
            </a:p>
          </p:txBody>
        </p:sp>
        <p:grpSp>
          <p:nvGrpSpPr>
            <p:cNvPr id="28" name="그룹 27"/>
            <p:cNvGrpSpPr/>
            <p:nvPr userDrawn="1"/>
          </p:nvGrpSpPr>
          <p:grpSpPr>
            <a:xfrm>
              <a:off x="9036364" y="0"/>
              <a:ext cx="454436" cy="272733"/>
              <a:chOff x="8999408" y="0"/>
              <a:chExt cx="454436" cy="272733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999408" y="131586"/>
                <a:ext cx="403957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기타사항</a:t>
                </a:r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94131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장_리딩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59"/>
          <p:cNvSpPr>
            <a:spLocks noChangeArrowheads="1"/>
          </p:cNvSpPr>
          <p:nvPr userDrawn="1"/>
        </p:nvSpPr>
        <p:spPr bwMode="auto">
          <a:xfrm>
            <a:off x="4768655" y="6582969"/>
            <a:ext cx="368691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eaLnBrk="1" latinLnBrk="0" hangingPunct="1"/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VII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234633" y="237274"/>
            <a:ext cx="136517" cy="106291"/>
            <a:chOff x="1495660" y="3500853"/>
            <a:chExt cx="191590" cy="149170"/>
          </a:xfrm>
          <a:solidFill>
            <a:srgbClr val="C5C8CD"/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69163DD5-91B9-4081-AEF9-6F975D7E6765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597497" y="3500853"/>
              <a:ext cx="89753" cy="149170"/>
            </a:xfrm>
            <a:custGeom>
              <a:avLst/>
              <a:gdLst>
                <a:gd name="T0" fmla="*/ 153 w 300"/>
                <a:gd name="T1" fmla="*/ 0 h 499"/>
                <a:gd name="T2" fmla="*/ 44 w 300"/>
                <a:gd name="T3" fmla="*/ 40 h 499"/>
                <a:gd name="T4" fmla="*/ 0 w 300"/>
                <a:gd name="T5" fmla="*/ 147 h 499"/>
                <a:gd name="T6" fmla="*/ 134 w 300"/>
                <a:gd name="T7" fmla="*/ 302 h 499"/>
                <a:gd name="T8" fmla="*/ 142 w 300"/>
                <a:gd name="T9" fmla="*/ 313 h 499"/>
                <a:gd name="T10" fmla="*/ 88 w 300"/>
                <a:gd name="T11" fmla="*/ 389 h 499"/>
                <a:gd name="T12" fmla="*/ 29 w 300"/>
                <a:gd name="T13" fmla="*/ 442 h 499"/>
                <a:gd name="T14" fmla="*/ 21 w 300"/>
                <a:gd name="T15" fmla="*/ 470 h 499"/>
                <a:gd name="T16" fmla="*/ 37 w 300"/>
                <a:gd name="T17" fmla="*/ 489 h 499"/>
                <a:gd name="T18" fmla="*/ 64 w 300"/>
                <a:gd name="T19" fmla="*/ 491 h 499"/>
                <a:gd name="T20" fmla="*/ 300 w 300"/>
                <a:gd name="T21" fmla="*/ 161 h 499"/>
                <a:gd name="T22" fmla="*/ 256 w 300"/>
                <a:gd name="T23" fmla="*/ 53 h 499"/>
                <a:gd name="T24" fmla="*/ 153 w 300"/>
                <a:gd name="T25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153" y="0"/>
                  </a:moveTo>
                  <a:cubicBezTo>
                    <a:pt x="109" y="0"/>
                    <a:pt x="73" y="13"/>
                    <a:pt x="44" y="40"/>
                  </a:cubicBezTo>
                  <a:cubicBezTo>
                    <a:pt x="15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6" y="402"/>
                    <a:pt x="56" y="419"/>
                    <a:pt x="29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7" y="489"/>
                    <a:pt x="37" y="489"/>
                    <a:pt x="37" y="489"/>
                  </a:cubicBezTo>
                  <a:cubicBezTo>
                    <a:pt x="45" y="499"/>
                    <a:pt x="59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ubicBezTo>
                    <a:pt x="226" y="17"/>
                    <a:pt x="192" y="0"/>
                    <a:pt x="153" y="0"/>
                  </a:cubicBezTo>
                  <a:close/>
                </a:path>
              </a:pathLst>
            </a:custGeom>
            <a:solidFill>
              <a:srgbClr val="B0B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1000">
                <a:ln>
                  <a:noFill/>
                </a:ln>
                <a:latin typeface="+mj-ea"/>
                <a:ea typeface="+mj-ea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F06567DA-B288-469A-A992-76FFBE1BB44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495660" y="3500853"/>
              <a:ext cx="89627" cy="149170"/>
            </a:xfrm>
            <a:custGeom>
              <a:avLst/>
              <a:gdLst>
                <a:gd name="T0" fmla="*/ 256 w 300"/>
                <a:gd name="T1" fmla="*/ 53 h 499"/>
                <a:gd name="T2" fmla="*/ 152 w 300"/>
                <a:gd name="T3" fmla="*/ 0 h 499"/>
                <a:gd name="T4" fmla="*/ 43 w 300"/>
                <a:gd name="T5" fmla="*/ 40 h 499"/>
                <a:gd name="T6" fmla="*/ 0 w 300"/>
                <a:gd name="T7" fmla="*/ 147 h 499"/>
                <a:gd name="T8" fmla="*/ 134 w 300"/>
                <a:gd name="T9" fmla="*/ 302 h 499"/>
                <a:gd name="T10" fmla="*/ 142 w 300"/>
                <a:gd name="T11" fmla="*/ 313 h 499"/>
                <a:gd name="T12" fmla="*/ 88 w 300"/>
                <a:gd name="T13" fmla="*/ 389 h 499"/>
                <a:gd name="T14" fmla="*/ 28 w 300"/>
                <a:gd name="T15" fmla="*/ 442 h 499"/>
                <a:gd name="T16" fmla="*/ 21 w 300"/>
                <a:gd name="T17" fmla="*/ 470 h 499"/>
                <a:gd name="T18" fmla="*/ 36 w 300"/>
                <a:gd name="T19" fmla="*/ 489 h 499"/>
                <a:gd name="T20" fmla="*/ 64 w 300"/>
                <a:gd name="T21" fmla="*/ 491 h 499"/>
                <a:gd name="T22" fmla="*/ 300 w 300"/>
                <a:gd name="T23" fmla="*/ 161 h 499"/>
                <a:gd name="T24" fmla="*/ 256 w 300"/>
                <a:gd name="T25" fmla="*/ 53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256" y="53"/>
                  </a:moveTo>
                  <a:cubicBezTo>
                    <a:pt x="226" y="17"/>
                    <a:pt x="191" y="0"/>
                    <a:pt x="152" y="0"/>
                  </a:cubicBezTo>
                  <a:cubicBezTo>
                    <a:pt x="109" y="0"/>
                    <a:pt x="72" y="13"/>
                    <a:pt x="43" y="40"/>
                  </a:cubicBezTo>
                  <a:cubicBezTo>
                    <a:pt x="14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5" y="402"/>
                    <a:pt x="56" y="419"/>
                    <a:pt x="28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6" y="489"/>
                    <a:pt x="36" y="489"/>
                    <a:pt x="36" y="489"/>
                  </a:cubicBezTo>
                  <a:cubicBezTo>
                    <a:pt x="44" y="499"/>
                    <a:pt x="58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lose/>
                </a:path>
              </a:pathLst>
            </a:custGeom>
            <a:solidFill>
              <a:srgbClr val="B0B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1000">
                <a:ln>
                  <a:noFill/>
                </a:ln>
                <a:latin typeface="+mj-ea"/>
                <a:ea typeface="+mj-ea"/>
              </a:endParaRPr>
            </a:p>
          </p:txBody>
        </p:sp>
      </p:grpSp>
      <p:sp>
        <p:nvSpPr>
          <p:cNvPr id="35" name="자유형 34"/>
          <p:cNvSpPr/>
          <p:nvPr userDrawn="1"/>
        </p:nvSpPr>
        <p:spPr>
          <a:xfrm>
            <a:off x="422184" y="309446"/>
            <a:ext cx="9068616" cy="492892"/>
          </a:xfrm>
          <a:custGeom>
            <a:avLst/>
            <a:gdLst>
              <a:gd name="connsiteX0" fmla="*/ 0 w 5575300"/>
              <a:gd name="connsiteY0" fmla="*/ 0 h 4298950"/>
              <a:gd name="connsiteX1" fmla="*/ 5575300 w 5575300"/>
              <a:gd name="connsiteY1" fmla="*/ 0 h 4298950"/>
              <a:gd name="connsiteX2" fmla="*/ 5575300 w 5575300"/>
              <a:gd name="connsiteY2" fmla="*/ 4298950 h 429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75300" h="4298950">
                <a:moveTo>
                  <a:pt x="0" y="0"/>
                </a:moveTo>
                <a:lnTo>
                  <a:pt x="5575300" y="0"/>
                </a:lnTo>
                <a:lnTo>
                  <a:pt x="5575300" y="4298950"/>
                </a:lnTo>
              </a:path>
            </a:pathLst>
          </a:custGeom>
          <a:ln w="8890" cap="sq">
            <a:solidFill>
              <a:srgbClr val="B0B5B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9" name="그룹 18"/>
          <p:cNvGrpSpPr/>
          <p:nvPr userDrawn="1"/>
        </p:nvGrpSpPr>
        <p:grpSpPr>
          <a:xfrm>
            <a:off x="9036364" y="0"/>
            <a:ext cx="686900" cy="293168"/>
            <a:chOff x="9036364" y="0"/>
            <a:chExt cx="686900" cy="2931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696307-2F22-41BC-B385-58C8FECD5054}"/>
                </a:ext>
              </a:extLst>
            </p:cNvPr>
            <p:cNvSpPr txBox="1"/>
            <p:nvPr/>
          </p:nvSpPr>
          <p:spPr>
            <a:xfrm>
              <a:off x="9548536" y="108502"/>
              <a:ext cx="17472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>
                <a:spcAft>
                  <a:spcPts val="300"/>
                </a:spcAft>
                <a:defRPr sz="280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005B8D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Times New Roman" panose="02020603050405020304" pitchFamily="18" charset="0"/>
                </a:defRPr>
              </a:lvl1pPr>
            </a:lstStyle>
            <a:p>
              <a:pPr marL="0" algn="l" defTabSz="914321" rtl="0" eaLnBrk="1" latinLnBrk="0" hangingPunct="1">
                <a:spcAft>
                  <a:spcPts val="300"/>
                </a:spcAft>
              </a:pPr>
              <a:r>
                <a:rPr lang="en-US" altLang="ko-KR" sz="1200" kern="1200" spc="-100" dirty="0">
                  <a:ln>
                    <a:noFill/>
                  </a:ln>
                  <a:solidFill>
                    <a:srgbClr val="A0A5AE"/>
                  </a:solidFill>
                  <a:latin typeface="Times New Roman" panose="02020603050405020304" pitchFamily="18" charset="0"/>
                  <a:ea typeface="KoPub돋움체 Bold" panose="02020603020101020101" pitchFamily="18" charset="-127"/>
                  <a:cs typeface="Arial" charset="0"/>
                </a:rPr>
                <a:t>VII</a:t>
              </a:r>
            </a:p>
          </p:txBody>
        </p:sp>
        <p:grpSp>
          <p:nvGrpSpPr>
            <p:cNvPr id="21" name="그룹 20"/>
            <p:cNvGrpSpPr/>
            <p:nvPr userDrawn="1"/>
          </p:nvGrpSpPr>
          <p:grpSpPr>
            <a:xfrm>
              <a:off x="9036364" y="0"/>
              <a:ext cx="454436" cy="272733"/>
              <a:chOff x="8999408" y="0"/>
              <a:chExt cx="454436" cy="27273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84F8E5-5950-4D6B-A177-B1BA7EE743E9}"/>
                  </a:ext>
                </a:extLst>
              </p:cNvPr>
              <p:cNvSpPr txBox="1"/>
              <p:nvPr/>
            </p:nvSpPr>
            <p:spPr>
              <a:xfrm>
                <a:off x="8999408" y="131586"/>
                <a:ext cx="403957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algn="r"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900" b="1" spc="-4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algn="r" defTabSz="914125" rtl="0" eaLnBrk="1" fontAlgn="base" latinLnBrk="0" hangingPunct="1">
                  <a:spcBef>
                    <a:spcPct val="0"/>
                  </a:spcBef>
                  <a:spcAft>
                    <a:spcPts val="200"/>
                  </a:spcAft>
                </a:pPr>
                <a:r>
                  <a:rPr lang="ko-KR" altLang="en-US" sz="900" b="0" kern="1200" spc="0" dirty="0">
                    <a:ln>
                      <a:noFill/>
                    </a:ln>
                    <a:solidFill>
                      <a:srgbClr val="A0A5A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기타사항</a:t>
                </a:r>
              </a:p>
            </p:txBody>
          </p: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0C20347C-7A01-435D-A7FB-78B32561AD94}"/>
                  </a:ext>
                </a:extLst>
              </p:cNvPr>
              <p:cNvCxnSpPr/>
              <p:nvPr/>
            </p:nvCxnSpPr>
            <p:spPr>
              <a:xfrm>
                <a:off x="9453844" y="0"/>
                <a:ext cx="0" cy="272733"/>
              </a:xfrm>
              <a:prstGeom prst="line">
                <a:avLst/>
              </a:prstGeom>
              <a:ln w="3175" cap="rnd">
                <a:solidFill>
                  <a:srgbClr val="C5C8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595798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59"/>
          <p:cNvSpPr>
            <a:spLocks noChangeArrowheads="1"/>
          </p:cNvSpPr>
          <p:nvPr userDrawn="1"/>
        </p:nvSpPr>
        <p:spPr bwMode="auto">
          <a:xfrm>
            <a:off x="4739801" y="6582969"/>
            <a:ext cx="426399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r>
              <a:rPr kumimoji="1" lang="ko-KR" altLang="en-US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별첨</a:t>
            </a:r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17" name="자유형 16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18" name="그룹 17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19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1" name="직사각형 20"/>
          <p:cNvSpPr/>
          <p:nvPr userDrawn="1"/>
        </p:nvSpPr>
        <p:spPr bwMode="gray">
          <a:xfrm>
            <a:off x="0" y="858481"/>
            <a:ext cx="9906000" cy="540000"/>
          </a:xfrm>
          <a:prstGeom prst="rect">
            <a:avLst/>
          </a:prstGeom>
          <a:solidFill>
            <a:srgbClr val="535961"/>
          </a:solidFill>
          <a:ln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25" name="그룹 24"/>
          <p:cNvGrpSpPr/>
          <p:nvPr userDrawn="1"/>
        </p:nvGrpSpPr>
        <p:grpSpPr>
          <a:xfrm>
            <a:off x="9238343" y="0"/>
            <a:ext cx="252457" cy="272733"/>
            <a:chOff x="9201387" y="0"/>
            <a:chExt cx="252457" cy="27273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84F8E5-5950-4D6B-A177-B1BA7EE743E9}"/>
                </a:ext>
              </a:extLst>
            </p:cNvPr>
            <p:cNvSpPr txBox="1"/>
            <p:nvPr/>
          </p:nvSpPr>
          <p:spPr>
            <a:xfrm>
              <a:off x="9201387" y="131586"/>
              <a:ext cx="201978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r" defTabSz="914125" fontAlgn="base" latinLnBrk="0">
                <a:spcBef>
                  <a:spcPct val="0"/>
                </a:spcBef>
                <a:spcAft>
                  <a:spcPts val="200"/>
                </a:spcAft>
                <a:defRPr sz="900" b="1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algn="r" defTabSz="914125" rtl="0" eaLnBrk="1" fontAlgn="base" latinLnBrk="0" hangingPunct="1">
                <a:spcBef>
                  <a:spcPct val="0"/>
                </a:spcBef>
                <a:spcAft>
                  <a:spcPts val="200"/>
                </a:spcAft>
              </a:pPr>
              <a:r>
                <a:rPr lang="ko-KR" altLang="en-US" sz="900" b="0" kern="1200" spc="0" dirty="0">
                  <a:ln>
                    <a:noFill/>
                  </a:ln>
                  <a:solidFill>
                    <a:srgbClr val="A0A5A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별첨</a:t>
              </a: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0C20347C-7A01-435D-A7FB-78B32561AD94}"/>
                </a:ext>
              </a:extLst>
            </p:cNvPr>
            <p:cNvCxnSpPr/>
            <p:nvPr/>
          </p:nvCxnSpPr>
          <p:spPr>
            <a:xfrm>
              <a:off x="9453844" y="0"/>
              <a:ext cx="0" cy="272733"/>
            </a:xfrm>
            <a:prstGeom prst="line">
              <a:avLst/>
            </a:prstGeom>
            <a:ln w="3175" cap="rnd">
              <a:solidFill>
                <a:srgbClr val="C5C8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11233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_리딩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59"/>
          <p:cNvSpPr>
            <a:spLocks noChangeArrowheads="1"/>
          </p:cNvSpPr>
          <p:nvPr userDrawn="1"/>
        </p:nvSpPr>
        <p:spPr bwMode="auto">
          <a:xfrm>
            <a:off x="4739801" y="6582969"/>
            <a:ext cx="426399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latinLnBrk="0"/>
            <a:r>
              <a:rPr kumimoji="1" lang="ko-KR" altLang="en-US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별첨</a:t>
            </a:r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latinLnBrk="0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234633" y="237274"/>
            <a:ext cx="136517" cy="106291"/>
            <a:chOff x="1495660" y="3500853"/>
            <a:chExt cx="191590" cy="149170"/>
          </a:xfrm>
          <a:solidFill>
            <a:srgbClr val="C5C8CD"/>
          </a:solidFill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69163DD5-91B9-4081-AEF9-6F975D7E6765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597497" y="3500853"/>
              <a:ext cx="89753" cy="149170"/>
            </a:xfrm>
            <a:custGeom>
              <a:avLst/>
              <a:gdLst>
                <a:gd name="T0" fmla="*/ 153 w 300"/>
                <a:gd name="T1" fmla="*/ 0 h 499"/>
                <a:gd name="T2" fmla="*/ 44 w 300"/>
                <a:gd name="T3" fmla="*/ 40 h 499"/>
                <a:gd name="T4" fmla="*/ 0 w 300"/>
                <a:gd name="T5" fmla="*/ 147 h 499"/>
                <a:gd name="T6" fmla="*/ 134 w 300"/>
                <a:gd name="T7" fmla="*/ 302 h 499"/>
                <a:gd name="T8" fmla="*/ 142 w 300"/>
                <a:gd name="T9" fmla="*/ 313 h 499"/>
                <a:gd name="T10" fmla="*/ 88 w 300"/>
                <a:gd name="T11" fmla="*/ 389 h 499"/>
                <a:gd name="T12" fmla="*/ 29 w 300"/>
                <a:gd name="T13" fmla="*/ 442 h 499"/>
                <a:gd name="T14" fmla="*/ 21 w 300"/>
                <a:gd name="T15" fmla="*/ 470 h 499"/>
                <a:gd name="T16" fmla="*/ 37 w 300"/>
                <a:gd name="T17" fmla="*/ 489 h 499"/>
                <a:gd name="T18" fmla="*/ 64 w 300"/>
                <a:gd name="T19" fmla="*/ 491 h 499"/>
                <a:gd name="T20" fmla="*/ 300 w 300"/>
                <a:gd name="T21" fmla="*/ 161 h 499"/>
                <a:gd name="T22" fmla="*/ 256 w 300"/>
                <a:gd name="T23" fmla="*/ 53 h 499"/>
                <a:gd name="T24" fmla="*/ 153 w 300"/>
                <a:gd name="T25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153" y="0"/>
                  </a:moveTo>
                  <a:cubicBezTo>
                    <a:pt x="109" y="0"/>
                    <a:pt x="73" y="13"/>
                    <a:pt x="44" y="40"/>
                  </a:cubicBezTo>
                  <a:cubicBezTo>
                    <a:pt x="15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6" y="402"/>
                    <a:pt x="56" y="419"/>
                    <a:pt x="29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7" y="489"/>
                    <a:pt x="37" y="489"/>
                    <a:pt x="37" y="489"/>
                  </a:cubicBezTo>
                  <a:cubicBezTo>
                    <a:pt x="45" y="499"/>
                    <a:pt x="59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ubicBezTo>
                    <a:pt x="226" y="17"/>
                    <a:pt x="192" y="0"/>
                    <a:pt x="153" y="0"/>
                  </a:cubicBezTo>
                  <a:close/>
                </a:path>
              </a:pathLst>
            </a:custGeom>
            <a:solidFill>
              <a:srgbClr val="B0B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R="0" lvl="0" indent="0" defTabSz="914400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1000">
                <a:ln>
                  <a:noFill/>
                </a:ln>
                <a:latin typeface="+mj-ea"/>
                <a:ea typeface="+mj-ea"/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F06567DA-B288-469A-A992-76FFBE1BB44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495660" y="3500853"/>
              <a:ext cx="89627" cy="149170"/>
            </a:xfrm>
            <a:custGeom>
              <a:avLst/>
              <a:gdLst>
                <a:gd name="T0" fmla="*/ 256 w 300"/>
                <a:gd name="T1" fmla="*/ 53 h 499"/>
                <a:gd name="T2" fmla="*/ 152 w 300"/>
                <a:gd name="T3" fmla="*/ 0 h 499"/>
                <a:gd name="T4" fmla="*/ 43 w 300"/>
                <a:gd name="T5" fmla="*/ 40 h 499"/>
                <a:gd name="T6" fmla="*/ 0 w 300"/>
                <a:gd name="T7" fmla="*/ 147 h 499"/>
                <a:gd name="T8" fmla="*/ 134 w 300"/>
                <a:gd name="T9" fmla="*/ 302 h 499"/>
                <a:gd name="T10" fmla="*/ 142 w 300"/>
                <a:gd name="T11" fmla="*/ 313 h 499"/>
                <a:gd name="T12" fmla="*/ 88 w 300"/>
                <a:gd name="T13" fmla="*/ 389 h 499"/>
                <a:gd name="T14" fmla="*/ 28 w 300"/>
                <a:gd name="T15" fmla="*/ 442 h 499"/>
                <a:gd name="T16" fmla="*/ 21 w 300"/>
                <a:gd name="T17" fmla="*/ 470 h 499"/>
                <a:gd name="T18" fmla="*/ 36 w 300"/>
                <a:gd name="T19" fmla="*/ 489 h 499"/>
                <a:gd name="T20" fmla="*/ 64 w 300"/>
                <a:gd name="T21" fmla="*/ 491 h 499"/>
                <a:gd name="T22" fmla="*/ 300 w 300"/>
                <a:gd name="T23" fmla="*/ 161 h 499"/>
                <a:gd name="T24" fmla="*/ 256 w 300"/>
                <a:gd name="T25" fmla="*/ 53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256" y="53"/>
                  </a:moveTo>
                  <a:cubicBezTo>
                    <a:pt x="226" y="17"/>
                    <a:pt x="191" y="0"/>
                    <a:pt x="152" y="0"/>
                  </a:cubicBezTo>
                  <a:cubicBezTo>
                    <a:pt x="109" y="0"/>
                    <a:pt x="72" y="13"/>
                    <a:pt x="43" y="40"/>
                  </a:cubicBezTo>
                  <a:cubicBezTo>
                    <a:pt x="14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5" y="402"/>
                    <a:pt x="56" y="419"/>
                    <a:pt x="28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6" y="489"/>
                    <a:pt x="36" y="489"/>
                    <a:pt x="36" y="489"/>
                  </a:cubicBezTo>
                  <a:cubicBezTo>
                    <a:pt x="44" y="499"/>
                    <a:pt x="58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lose/>
                </a:path>
              </a:pathLst>
            </a:custGeom>
            <a:solidFill>
              <a:srgbClr val="B0B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R="0" lvl="0" indent="0" defTabSz="914400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1000">
                <a:ln>
                  <a:noFill/>
                </a:ln>
                <a:latin typeface="+mj-ea"/>
                <a:ea typeface="+mj-ea"/>
              </a:endParaRPr>
            </a:p>
          </p:txBody>
        </p:sp>
      </p:grpSp>
      <p:sp>
        <p:nvSpPr>
          <p:cNvPr id="23" name="자유형 22"/>
          <p:cNvSpPr/>
          <p:nvPr userDrawn="1"/>
        </p:nvSpPr>
        <p:spPr>
          <a:xfrm>
            <a:off x="422184" y="309446"/>
            <a:ext cx="9068616" cy="492892"/>
          </a:xfrm>
          <a:custGeom>
            <a:avLst/>
            <a:gdLst>
              <a:gd name="connsiteX0" fmla="*/ 0 w 5575300"/>
              <a:gd name="connsiteY0" fmla="*/ 0 h 4298950"/>
              <a:gd name="connsiteX1" fmla="*/ 5575300 w 5575300"/>
              <a:gd name="connsiteY1" fmla="*/ 0 h 4298950"/>
              <a:gd name="connsiteX2" fmla="*/ 5575300 w 5575300"/>
              <a:gd name="connsiteY2" fmla="*/ 4298950 h 429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75300" h="4298950">
                <a:moveTo>
                  <a:pt x="0" y="0"/>
                </a:moveTo>
                <a:lnTo>
                  <a:pt x="5575300" y="0"/>
                </a:lnTo>
                <a:lnTo>
                  <a:pt x="5575300" y="4298950"/>
                </a:lnTo>
              </a:path>
            </a:pathLst>
          </a:custGeom>
          <a:ln w="8890" cap="sq">
            <a:solidFill>
              <a:srgbClr val="B0B5B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lvl="0" algn="ctr" latinLnBrk="0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9238343" y="0"/>
            <a:ext cx="252457" cy="272733"/>
            <a:chOff x="9201387" y="0"/>
            <a:chExt cx="252457" cy="27273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84F8E5-5950-4D6B-A177-B1BA7EE743E9}"/>
                </a:ext>
              </a:extLst>
            </p:cNvPr>
            <p:cNvSpPr txBox="1"/>
            <p:nvPr/>
          </p:nvSpPr>
          <p:spPr>
            <a:xfrm>
              <a:off x="9201387" y="131586"/>
              <a:ext cx="201978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algn="r" defTabSz="914125" fontAlgn="base" latinLnBrk="0">
                <a:spcBef>
                  <a:spcPct val="0"/>
                </a:spcBef>
                <a:spcAft>
                  <a:spcPts val="200"/>
                </a:spcAft>
                <a:defRPr sz="900" b="1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algn="r" defTabSz="914125" rtl="0" eaLnBrk="1" fontAlgn="base" latinLnBrk="0" hangingPunct="1">
                <a:spcBef>
                  <a:spcPct val="0"/>
                </a:spcBef>
                <a:spcAft>
                  <a:spcPts val="200"/>
                </a:spcAft>
              </a:pPr>
              <a:r>
                <a:rPr lang="ko-KR" altLang="en-US" sz="900" b="0" kern="1200" spc="0" dirty="0">
                  <a:ln>
                    <a:noFill/>
                  </a:ln>
                  <a:solidFill>
                    <a:srgbClr val="A0A5A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별첨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0C20347C-7A01-435D-A7FB-78B32561AD94}"/>
                </a:ext>
              </a:extLst>
            </p:cNvPr>
            <p:cNvCxnSpPr/>
            <p:nvPr/>
          </p:nvCxnSpPr>
          <p:spPr>
            <a:xfrm>
              <a:off x="9453844" y="0"/>
              <a:ext cx="0" cy="272733"/>
            </a:xfrm>
            <a:prstGeom prst="line">
              <a:avLst/>
            </a:prstGeom>
            <a:ln w="3175" cap="rnd">
              <a:solidFill>
                <a:srgbClr val="C5C8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5151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조견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59"/>
          <p:cNvSpPr>
            <a:spLocks noChangeArrowheads="1"/>
          </p:cNvSpPr>
          <p:nvPr userDrawn="1"/>
        </p:nvSpPr>
        <p:spPr bwMode="auto">
          <a:xfrm>
            <a:off x="4694917" y="6582969"/>
            <a:ext cx="5161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eaLnBrk="1" latinLnBrk="0" hangingPunct="1"/>
            <a:r>
              <a:rPr kumimoji="1" lang="ko-KR" altLang="en-US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조견표</a:t>
            </a:r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17" name="자유형 16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>
                <a:gd name="connsiteX0" fmla="*/ 0 w 5575300"/>
                <a:gd name="connsiteY0" fmla="*/ 0 h 4298950"/>
                <a:gd name="connsiteX1" fmla="*/ 5575300 w 5575300"/>
                <a:gd name="connsiteY1" fmla="*/ 0 h 4298950"/>
                <a:gd name="connsiteX2" fmla="*/ 5575300 w 5575300"/>
                <a:gd name="connsiteY2" fmla="*/ 4298950 h 429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75300" h="429895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ln w="8890" cap="sq">
              <a:solidFill>
                <a:srgbClr val="B0B5B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lvl="0" algn="ctr" eaLnBrk="1" latinLnBrk="0" hangingPunct="1"/>
              <a:endParaRPr lang="ko-KR" altLang="en-US" sz="1000">
                <a:ln>
                  <a:noFill/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18" name="그룹 17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  <a:solidFill>
              <a:srgbClr val="C5C8CD"/>
            </a:solidFill>
          </p:grpSpPr>
          <p:sp>
            <p:nvSpPr>
              <p:cNvPr id="19" name="Freeform 5">
                <a:extLst>
                  <a:ext uri="{FF2B5EF4-FFF2-40B4-BE49-F238E27FC236}">
                    <a16:creationId xmlns:a16="http://schemas.microsoft.com/office/drawing/2014/main" id="{69163DD5-91B9-4081-AEF9-6F975D7E676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597497" y="3500853"/>
                <a:ext cx="89753" cy="149170"/>
              </a:xfrm>
              <a:custGeom>
                <a:avLst/>
                <a:gdLst>
                  <a:gd name="T0" fmla="*/ 153 w 300"/>
                  <a:gd name="T1" fmla="*/ 0 h 499"/>
                  <a:gd name="T2" fmla="*/ 44 w 300"/>
                  <a:gd name="T3" fmla="*/ 40 h 499"/>
                  <a:gd name="T4" fmla="*/ 0 w 300"/>
                  <a:gd name="T5" fmla="*/ 147 h 499"/>
                  <a:gd name="T6" fmla="*/ 134 w 300"/>
                  <a:gd name="T7" fmla="*/ 302 h 499"/>
                  <a:gd name="T8" fmla="*/ 142 w 300"/>
                  <a:gd name="T9" fmla="*/ 313 h 499"/>
                  <a:gd name="T10" fmla="*/ 88 w 300"/>
                  <a:gd name="T11" fmla="*/ 389 h 499"/>
                  <a:gd name="T12" fmla="*/ 29 w 300"/>
                  <a:gd name="T13" fmla="*/ 442 h 499"/>
                  <a:gd name="T14" fmla="*/ 21 w 300"/>
                  <a:gd name="T15" fmla="*/ 470 h 499"/>
                  <a:gd name="T16" fmla="*/ 37 w 300"/>
                  <a:gd name="T17" fmla="*/ 489 h 499"/>
                  <a:gd name="T18" fmla="*/ 64 w 300"/>
                  <a:gd name="T19" fmla="*/ 491 h 499"/>
                  <a:gd name="T20" fmla="*/ 300 w 300"/>
                  <a:gd name="T21" fmla="*/ 161 h 499"/>
                  <a:gd name="T22" fmla="*/ 256 w 300"/>
                  <a:gd name="T23" fmla="*/ 53 h 499"/>
                  <a:gd name="T24" fmla="*/ 153 w 300"/>
                  <a:gd name="T25" fmla="*/ 0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F06567DA-B288-469A-A992-76FFBE1BB44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495660" y="3500853"/>
                <a:ext cx="89627" cy="149170"/>
              </a:xfrm>
              <a:custGeom>
                <a:avLst/>
                <a:gdLst>
                  <a:gd name="T0" fmla="*/ 256 w 300"/>
                  <a:gd name="T1" fmla="*/ 53 h 499"/>
                  <a:gd name="T2" fmla="*/ 152 w 300"/>
                  <a:gd name="T3" fmla="*/ 0 h 499"/>
                  <a:gd name="T4" fmla="*/ 43 w 300"/>
                  <a:gd name="T5" fmla="*/ 40 h 499"/>
                  <a:gd name="T6" fmla="*/ 0 w 300"/>
                  <a:gd name="T7" fmla="*/ 147 h 499"/>
                  <a:gd name="T8" fmla="*/ 134 w 300"/>
                  <a:gd name="T9" fmla="*/ 302 h 499"/>
                  <a:gd name="T10" fmla="*/ 142 w 300"/>
                  <a:gd name="T11" fmla="*/ 313 h 499"/>
                  <a:gd name="T12" fmla="*/ 88 w 300"/>
                  <a:gd name="T13" fmla="*/ 389 h 499"/>
                  <a:gd name="T14" fmla="*/ 28 w 300"/>
                  <a:gd name="T15" fmla="*/ 442 h 499"/>
                  <a:gd name="T16" fmla="*/ 21 w 300"/>
                  <a:gd name="T17" fmla="*/ 470 h 499"/>
                  <a:gd name="T18" fmla="*/ 36 w 300"/>
                  <a:gd name="T19" fmla="*/ 489 h 499"/>
                  <a:gd name="T20" fmla="*/ 64 w 300"/>
                  <a:gd name="T21" fmla="*/ 491 h 499"/>
                  <a:gd name="T22" fmla="*/ 300 w 300"/>
                  <a:gd name="T23" fmla="*/ 161 h 499"/>
                  <a:gd name="T24" fmla="*/ 256 w 300"/>
                  <a:gd name="T25" fmla="*/ 53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0" h="499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B0B5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ko-KR" altLang="en-US" sz="1000">
                  <a:ln>
                    <a:noFill/>
                  </a:ln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1" name="직사각형 20"/>
          <p:cNvSpPr/>
          <p:nvPr userDrawn="1"/>
        </p:nvSpPr>
        <p:spPr bwMode="gray">
          <a:xfrm>
            <a:off x="0" y="858481"/>
            <a:ext cx="9906000" cy="540000"/>
          </a:xfrm>
          <a:prstGeom prst="rect">
            <a:avLst/>
          </a:prstGeom>
          <a:solidFill>
            <a:srgbClr val="535961"/>
          </a:solidFill>
          <a:ln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  <a:sp3d/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25" name="그룹 24"/>
          <p:cNvGrpSpPr/>
          <p:nvPr userDrawn="1"/>
        </p:nvGrpSpPr>
        <p:grpSpPr>
          <a:xfrm>
            <a:off x="9137353" y="0"/>
            <a:ext cx="353447" cy="272733"/>
            <a:chOff x="9100397" y="0"/>
            <a:chExt cx="353447" cy="27273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84F8E5-5950-4D6B-A177-B1BA7EE743E9}"/>
                </a:ext>
              </a:extLst>
            </p:cNvPr>
            <p:cNvSpPr txBox="1"/>
            <p:nvPr/>
          </p:nvSpPr>
          <p:spPr>
            <a:xfrm>
              <a:off x="9100397" y="131586"/>
              <a:ext cx="302968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r" defTabSz="914125" fontAlgn="base" latinLnBrk="0">
                <a:spcBef>
                  <a:spcPct val="0"/>
                </a:spcBef>
                <a:spcAft>
                  <a:spcPts val="200"/>
                </a:spcAft>
                <a:defRPr sz="900" b="1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algn="r" defTabSz="914125" rtl="0" eaLnBrk="1" fontAlgn="base" latinLnBrk="0" hangingPunct="1">
                <a:spcBef>
                  <a:spcPct val="0"/>
                </a:spcBef>
                <a:spcAft>
                  <a:spcPts val="200"/>
                </a:spcAft>
              </a:pPr>
              <a:r>
                <a:rPr lang="ko-KR" altLang="en-US" sz="900" b="0" kern="1200" spc="0" dirty="0">
                  <a:ln>
                    <a:noFill/>
                  </a:ln>
                  <a:solidFill>
                    <a:srgbClr val="A0A5A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조견표</a:t>
              </a: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0C20347C-7A01-435D-A7FB-78B32561AD94}"/>
                </a:ext>
              </a:extLst>
            </p:cNvPr>
            <p:cNvCxnSpPr/>
            <p:nvPr/>
          </p:nvCxnSpPr>
          <p:spPr>
            <a:xfrm>
              <a:off x="9453844" y="0"/>
              <a:ext cx="0" cy="272733"/>
            </a:xfrm>
            <a:prstGeom prst="line">
              <a:avLst/>
            </a:prstGeom>
            <a:ln w="3175" cap="rnd">
              <a:solidFill>
                <a:srgbClr val="C5C8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0602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조견표_리딩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234633" y="237274"/>
            <a:ext cx="136517" cy="106291"/>
            <a:chOff x="1495660" y="3500853"/>
            <a:chExt cx="191590" cy="149170"/>
          </a:xfrm>
          <a:solidFill>
            <a:srgbClr val="C5C8CD"/>
          </a:solidFill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69163DD5-91B9-4081-AEF9-6F975D7E6765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597497" y="3500853"/>
              <a:ext cx="89753" cy="149170"/>
            </a:xfrm>
            <a:custGeom>
              <a:avLst/>
              <a:gdLst>
                <a:gd name="T0" fmla="*/ 153 w 300"/>
                <a:gd name="T1" fmla="*/ 0 h 499"/>
                <a:gd name="T2" fmla="*/ 44 w 300"/>
                <a:gd name="T3" fmla="*/ 40 h 499"/>
                <a:gd name="T4" fmla="*/ 0 w 300"/>
                <a:gd name="T5" fmla="*/ 147 h 499"/>
                <a:gd name="T6" fmla="*/ 134 w 300"/>
                <a:gd name="T7" fmla="*/ 302 h 499"/>
                <a:gd name="T8" fmla="*/ 142 w 300"/>
                <a:gd name="T9" fmla="*/ 313 h 499"/>
                <a:gd name="T10" fmla="*/ 88 w 300"/>
                <a:gd name="T11" fmla="*/ 389 h 499"/>
                <a:gd name="T12" fmla="*/ 29 w 300"/>
                <a:gd name="T13" fmla="*/ 442 h 499"/>
                <a:gd name="T14" fmla="*/ 21 w 300"/>
                <a:gd name="T15" fmla="*/ 470 h 499"/>
                <a:gd name="T16" fmla="*/ 37 w 300"/>
                <a:gd name="T17" fmla="*/ 489 h 499"/>
                <a:gd name="T18" fmla="*/ 64 w 300"/>
                <a:gd name="T19" fmla="*/ 491 h 499"/>
                <a:gd name="T20" fmla="*/ 300 w 300"/>
                <a:gd name="T21" fmla="*/ 161 h 499"/>
                <a:gd name="T22" fmla="*/ 256 w 300"/>
                <a:gd name="T23" fmla="*/ 53 h 499"/>
                <a:gd name="T24" fmla="*/ 153 w 300"/>
                <a:gd name="T25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153" y="0"/>
                  </a:moveTo>
                  <a:cubicBezTo>
                    <a:pt x="109" y="0"/>
                    <a:pt x="73" y="13"/>
                    <a:pt x="44" y="40"/>
                  </a:cubicBezTo>
                  <a:cubicBezTo>
                    <a:pt x="15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6" y="402"/>
                    <a:pt x="56" y="419"/>
                    <a:pt x="29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7" y="489"/>
                    <a:pt x="37" y="489"/>
                    <a:pt x="37" y="489"/>
                  </a:cubicBezTo>
                  <a:cubicBezTo>
                    <a:pt x="45" y="499"/>
                    <a:pt x="59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ubicBezTo>
                    <a:pt x="226" y="17"/>
                    <a:pt x="192" y="0"/>
                    <a:pt x="153" y="0"/>
                  </a:cubicBezTo>
                  <a:close/>
                </a:path>
              </a:pathLst>
            </a:custGeom>
            <a:solidFill>
              <a:srgbClr val="B0B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1000">
                <a:ln>
                  <a:noFill/>
                </a:ln>
                <a:latin typeface="+mj-ea"/>
                <a:ea typeface="+mj-ea"/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F06567DA-B288-469A-A992-76FFBE1BB44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495660" y="3500853"/>
              <a:ext cx="89627" cy="149170"/>
            </a:xfrm>
            <a:custGeom>
              <a:avLst/>
              <a:gdLst>
                <a:gd name="T0" fmla="*/ 256 w 300"/>
                <a:gd name="T1" fmla="*/ 53 h 499"/>
                <a:gd name="T2" fmla="*/ 152 w 300"/>
                <a:gd name="T3" fmla="*/ 0 h 499"/>
                <a:gd name="T4" fmla="*/ 43 w 300"/>
                <a:gd name="T5" fmla="*/ 40 h 499"/>
                <a:gd name="T6" fmla="*/ 0 w 300"/>
                <a:gd name="T7" fmla="*/ 147 h 499"/>
                <a:gd name="T8" fmla="*/ 134 w 300"/>
                <a:gd name="T9" fmla="*/ 302 h 499"/>
                <a:gd name="T10" fmla="*/ 142 w 300"/>
                <a:gd name="T11" fmla="*/ 313 h 499"/>
                <a:gd name="T12" fmla="*/ 88 w 300"/>
                <a:gd name="T13" fmla="*/ 389 h 499"/>
                <a:gd name="T14" fmla="*/ 28 w 300"/>
                <a:gd name="T15" fmla="*/ 442 h 499"/>
                <a:gd name="T16" fmla="*/ 21 w 300"/>
                <a:gd name="T17" fmla="*/ 470 h 499"/>
                <a:gd name="T18" fmla="*/ 36 w 300"/>
                <a:gd name="T19" fmla="*/ 489 h 499"/>
                <a:gd name="T20" fmla="*/ 64 w 300"/>
                <a:gd name="T21" fmla="*/ 491 h 499"/>
                <a:gd name="T22" fmla="*/ 300 w 300"/>
                <a:gd name="T23" fmla="*/ 161 h 499"/>
                <a:gd name="T24" fmla="*/ 256 w 300"/>
                <a:gd name="T25" fmla="*/ 53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256" y="53"/>
                  </a:moveTo>
                  <a:cubicBezTo>
                    <a:pt x="226" y="17"/>
                    <a:pt x="191" y="0"/>
                    <a:pt x="152" y="0"/>
                  </a:cubicBezTo>
                  <a:cubicBezTo>
                    <a:pt x="109" y="0"/>
                    <a:pt x="72" y="13"/>
                    <a:pt x="43" y="40"/>
                  </a:cubicBezTo>
                  <a:cubicBezTo>
                    <a:pt x="14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5" y="402"/>
                    <a:pt x="56" y="419"/>
                    <a:pt x="28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6" y="489"/>
                    <a:pt x="36" y="489"/>
                    <a:pt x="36" y="489"/>
                  </a:cubicBezTo>
                  <a:cubicBezTo>
                    <a:pt x="44" y="499"/>
                    <a:pt x="58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lose/>
                </a:path>
              </a:pathLst>
            </a:custGeom>
            <a:solidFill>
              <a:srgbClr val="B0B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1000">
                <a:ln>
                  <a:noFill/>
                </a:ln>
                <a:latin typeface="+mj-ea"/>
                <a:ea typeface="+mj-ea"/>
              </a:endParaRPr>
            </a:p>
          </p:txBody>
        </p:sp>
      </p:grpSp>
      <p:sp>
        <p:nvSpPr>
          <p:cNvPr id="23" name="자유형 22"/>
          <p:cNvSpPr/>
          <p:nvPr userDrawn="1"/>
        </p:nvSpPr>
        <p:spPr>
          <a:xfrm>
            <a:off x="422184" y="309446"/>
            <a:ext cx="9068616" cy="492892"/>
          </a:xfrm>
          <a:custGeom>
            <a:avLst/>
            <a:gdLst>
              <a:gd name="connsiteX0" fmla="*/ 0 w 5575300"/>
              <a:gd name="connsiteY0" fmla="*/ 0 h 4298950"/>
              <a:gd name="connsiteX1" fmla="*/ 5575300 w 5575300"/>
              <a:gd name="connsiteY1" fmla="*/ 0 h 4298950"/>
              <a:gd name="connsiteX2" fmla="*/ 5575300 w 5575300"/>
              <a:gd name="connsiteY2" fmla="*/ 4298950 h 429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75300" h="4298950">
                <a:moveTo>
                  <a:pt x="0" y="0"/>
                </a:moveTo>
                <a:lnTo>
                  <a:pt x="5575300" y="0"/>
                </a:lnTo>
                <a:lnTo>
                  <a:pt x="5575300" y="4298950"/>
                </a:lnTo>
              </a:path>
            </a:pathLst>
          </a:custGeom>
          <a:ln w="8890" cap="sq">
            <a:solidFill>
              <a:srgbClr val="B0B5B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lvl="0" algn="ctr" eaLnBrk="1" latinLnBrk="0" hangingPunct="1"/>
            <a:endParaRPr lang="ko-KR" altLang="en-US" sz="1000">
              <a:ln>
                <a:noFill/>
              </a:ln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9137353" y="0"/>
            <a:ext cx="353447" cy="272733"/>
            <a:chOff x="9100397" y="0"/>
            <a:chExt cx="353447" cy="27273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E84F8E5-5950-4D6B-A177-B1BA7EE743E9}"/>
                </a:ext>
              </a:extLst>
            </p:cNvPr>
            <p:cNvSpPr txBox="1"/>
            <p:nvPr/>
          </p:nvSpPr>
          <p:spPr>
            <a:xfrm>
              <a:off x="9100397" y="131586"/>
              <a:ext cx="302968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algn="r" defTabSz="914125" fontAlgn="base" latinLnBrk="0">
                <a:spcBef>
                  <a:spcPct val="0"/>
                </a:spcBef>
                <a:spcAft>
                  <a:spcPts val="200"/>
                </a:spcAft>
                <a:defRPr sz="900" b="1" spc="-4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algn="r" defTabSz="914125" rtl="0" eaLnBrk="1" fontAlgn="base" latinLnBrk="0" hangingPunct="1">
                <a:spcBef>
                  <a:spcPct val="0"/>
                </a:spcBef>
                <a:spcAft>
                  <a:spcPts val="200"/>
                </a:spcAft>
              </a:pPr>
              <a:r>
                <a:rPr lang="ko-KR" altLang="en-US" sz="900" b="0" kern="1200" spc="0" dirty="0">
                  <a:ln>
                    <a:noFill/>
                  </a:ln>
                  <a:solidFill>
                    <a:srgbClr val="A0A5A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조견표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0C20347C-7A01-435D-A7FB-78B32561AD94}"/>
                </a:ext>
              </a:extLst>
            </p:cNvPr>
            <p:cNvCxnSpPr/>
            <p:nvPr/>
          </p:nvCxnSpPr>
          <p:spPr>
            <a:xfrm>
              <a:off x="9453844" y="0"/>
              <a:ext cx="0" cy="272733"/>
            </a:xfrm>
            <a:prstGeom prst="line">
              <a:avLst/>
            </a:prstGeom>
            <a:ln w="3175" cap="rnd">
              <a:solidFill>
                <a:srgbClr val="C5C8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59"/>
          <p:cNvSpPr>
            <a:spLocks noChangeArrowheads="1"/>
          </p:cNvSpPr>
          <p:nvPr userDrawn="1"/>
        </p:nvSpPr>
        <p:spPr bwMode="auto">
          <a:xfrm>
            <a:off x="4694917" y="6582969"/>
            <a:ext cx="5161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eaLnBrk="1" latinLnBrk="0" hangingPunct="1"/>
            <a:r>
              <a:rPr kumimoji="1" lang="ko-KR" altLang="en-US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조견표</a:t>
            </a:r>
            <a:r>
              <a:rPr kumimoji="1" lang="en-US" altLang="ko-KR" sz="800" b="0" kern="120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+mn-cs"/>
              </a:rPr>
              <a:t> </a:t>
            </a:r>
            <a:r>
              <a:rPr kumimoji="1" lang="en-US" altLang="ko-KR" sz="80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- </a:t>
            </a:r>
            <a:fld id="{B9BD96D4-FBDC-4909-BFD7-96760582A1EC}" type="slidenum">
              <a:rPr kumimoji="1" lang="en-US" altLang="ko-KR" sz="80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 algn="ctr" eaLnBrk="1" latinLnBrk="0" hangingPunct="1"/>
              <a:t>‹#›</a:t>
            </a:fld>
            <a:endParaRPr kumimoji="1" lang="en-US" altLang="ko-KR" sz="800" dirty="0">
              <a:ln>
                <a:noFill/>
              </a:ln>
              <a:solidFill>
                <a:schemeClr val="bg1">
                  <a:lumMod val="50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9419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94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88" r:id="rId2"/>
    <p:sldLayoutId id="2147483789" r:id="rId3"/>
    <p:sldLayoutId id="214748382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Box 9">
            <a:extLst>
              <a:ext uri="{FF2B5EF4-FFF2-40B4-BE49-F238E27FC236}">
                <a16:creationId xmlns:a16="http://schemas.microsoft.com/office/drawing/2014/main" id="{41CD3D4D-57BB-031B-D995-C8735B0FAA5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16064" y="6590663"/>
            <a:ext cx="3016444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r" defTabSz="957420" eaLnBrk="1" fontAlgn="base" latinLnBrk="0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2026. Samsung SDS Co., Ltd. All rights reserved.  |  Confidential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EBF458F-8E23-3960-CCF0-CBFB59F071E2}"/>
              </a:ext>
            </a:extLst>
          </p:cNvPr>
          <p:cNvGrpSpPr/>
          <p:nvPr userDrawn="1"/>
        </p:nvGrpSpPr>
        <p:grpSpPr>
          <a:xfrm>
            <a:off x="8802887" y="6598937"/>
            <a:ext cx="682625" cy="84138"/>
            <a:chOff x="13112104" y="9610726"/>
            <a:chExt cx="682625" cy="84138"/>
          </a:xfrm>
        </p:grpSpPr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9D364852-E3F9-60F2-5CA5-6F4633AD21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112104" y="9610726"/>
              <a:ext cx="50800" cy="84138"/>
            </a:xfrm>
            <a:custGeom>
              <a:avLst/>
              <a:gdLst>
                <a:gd name="T0" fmla="*/ 22 w 48"/>
                <a:gd name="T1" fmla="*/ 77 h 77"/>
                <a:gd name="T2" fmla="*/ 1 w 48"/>
                <a:gd name="T3" fmla="*/ 53 h 77"/>
                <a:gd name="T4" fmla="*/ 16 w 48"/>
                <a:gd name="T5" fmla="*/ 53 h 77"/>
                <a:gd name="T6" fmla="*/ 25 w 48"/>
                <a:gd name="T7" fmla="*/ 66 h 77"/>
                <a:gd name="T8" fmla="*/ 32 w 48"/>
                <a:gd name="T9" fmla="*/ 58 h 77"/>
                <a:gd name="T10" fmla="*/ 1 w 48"/>
                <a:gd name="T11" fmla="*/ 21 h 77"/>
                <a:gd name="T12" fmla="*/ 26 w 48"/>
                <a:gd name="T13" fmla="*/ 0 h 77"/>
                <a:gd name="T14" fmla="*/ 47 w 48"/>
                <a:gd name="T15" fmla="*/ 23 h 77"/>
                <a:gd name="T16" fmla="*/ 32 w 48"/>
                <a:gd name="T17" fmla="*/ 23 h 77"/>
                <a:gd name="T18" fmla="*/ 25 w 48"/>
                <a:gd name="T19" fmla="*/ 11 h 77"/>
                <a:gd name="T20" fmla="*/ 17 w 48"/>
                <a:gd name="T21" fmla="*/ 19 h 77"/>
                <a:gd name="T22" fmla="*/ 48 w 48"/>
                <a:gd name="T23" fmla="*/ 56 h 77"/>
                <a:gd name="T24" fmla="*/ 22 w 48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" h="77">
                  <a:moveTo>
                    <a:pt x="22" y="77"/>
                  </a:moveTo>
                  <a:cubicBezTo>
                    <a:pt x="3" y="77"/>
                    <a:pt x="0" y="66"/>
                    <a:pt x="1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60"/>
                    <a:pt x="16" y="66"/>
                    <a:pt x="25" y="66"/>
                  </a:cubicBezTo>
                  <a:cubicBezTo>
                    <a:pt x="30" y="66"/>
                    <a:pt x="32" y="63"/>
                    <a:pt x="32" y="58"/>
                  </a:cubicBezTo>
                  <a:cubicBezTo>
                    <a:pt x="32" y="44"/>
                    <a:pt x="1" y="43"/>
                    <a:pt x="1" y="21"/>
                  </a:cubicBezTo>
                  <a:cubicBezTo>
                    <a:pt x="1" y="10"/>
                    <a:pt x="7" y="0"/>
                    <a:pt x="26" y="0"/>
                  </a:cubicBezTo>
                  <a:cubicBezTo>
                    <a:pt x="41" y="0"/>
                    <a:pt x="48" y="7"/>
                    <a:pt x="47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17"/>
                    <a:pt x="31" y="11"/>
                    <a:pt x="25" y="11"/>
                  </a:cubicBezTo>
                  <a:cubicBezTo>
                    <a:pt x="20" y="11"/>
                    <a:pt x="17" y="14"/>
                    <a:pt x="17" y="19"/>
                  </a:cubicBezTo>
                  <a:cubicBezTo>
                    <a:pt x="17" y="34"/>
                    <a:pt x="48" y="32"/>
                    <a:pt x="48" y="56"/>
                  </a:cubicBezTo>
                  <a:cubicBezTo>
                    <a:pt x="48" y="75"/>
                    <a:pt x="34" y="77"/>
                    <a:pt x="22" y="77"/>
                  </a:cubicBez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latinLnBrk="0" hangingPunct="1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72191696-B18D-7BB0-B68A-A1A2B9D9EA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169254" y="9610726"/>
              <a:ext cx="65087" cy="82550"/>
            </a:xfrm>
            <a:custGeom>
              <a:avLst/>
              <a:gdLst>
                <a:gd name="T0" fmla="*/ 0 w 41"/>
                <a:gd name="T1" fmla="*/ 52 h 52"/>
                <a:gd name="T2" fmla="*/ 13 w 41"/>
                <a:gd name="T3" fmla="*/ 0 h 52"/>
                <a:gd name="T4" fmla="*/ 27 w 41"/>
                <a:gd name="T5" fmla="*/ 0 h 52"/>
                <a:gd name="T6" fmla="*/ 41 w 41"/>
                <a:gd name="T7" fmla="*/ 52 h 52"/>
                <a:gd name="T8" fmla="*/ 29 w 41"/>
                <a:gd name="T9" fmla="*/ 52 h 52"/>
                <a:gd name="T10" fmla="*/ 27 w 41"/>
                <a:gd name="T11" fmla="*/ 40 h 52"/>
                <a:gd name="T12" fmla="*/ 12 w 41"/>
                <a:gd name="T13" fmla="*/ 40 h 52"/>
                <a:gd name="T14" fmla="*/ 10 w 41"/>
                <a:gd name="T15" fmla="*/ 52 h 52"/>
                <a:gd name="T16" fmla="*/ 0 w 41"/>
                <a:gd name="T17" fmla="*/ 52 h 52"/>
                <a:gd name="T18" fmla="*/ 20 w 41"/>
                <a:gd name="T19" fmla="*/ 10 h 52"/>
                <a:gd name="T20" fmla="*/ 19 w 41"/>
                <a:gd name="T21" fmla="*/ 10 h 52"/>
                <a:gd name="T22" fmla="*/ 14 w 41"/>
                <a:gd name="T23" fmla="*/ 32 h 52"/>
                <a:gd name="T24" fmla="*/ 25 w 41"/>
                <a:gd name="T25" fmla="*/ 32 h 52"/>
                <a:gd name="T26" fmla="*/ 20 w 41"/>
                <a:gd name="T27" fmla="*/ 1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52">
                  <a:moveTo>
                    <a:pt x="0" y="52"/>
                  </a:moveTo>
                  <a:lnTo>
                    <a:pt x="13" y="0"/>
                  </a:lnTo>
                  <a:lnTo>
                    <a:pt x="27" y="0"/>
                  </a:lnTo>
                  <a:lnTo>
                    <a:pt x="41" y="52"/>
                  </a:lnTo>
                  <a:lnTo>
                    <a:pt x="29" y="52"/>
                  </a:lnTo>
                  <a:lnTo>
                    <a:pt x="27" y="40"/>
                  </a:lnTo>
                  <a:lnTo>
                    <a:pt x="12" y="40"/>
                  </a:lnTo>
                  <a:lnTo>
                    <a:pt x="10" y="52"/>
                  </a:lnTo>
                  <a:lnTo>
                    <a:pt x="0" y="52"/>
                  </a:lnTo>
                  <a:close/>
                  <a:moveTo>
                    <a:pt x="20" y="10"/>
                  </a:moveTo>
                  <a:lnTo>
                    <a:pt x="19" y="10"/>
                  </a:lnTo>
                  <a:lnTo>
                    <a:pt x="14" y="32"/>
                  </a:lnTo>
                  <a:lnTo>
                    <a:pt x="25" y="32"/>
                  </a:lnTo>
                  <a:lnTo>
                    <a:pt x="20" y="10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latinLnBrk="0" hangingPunct="1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870A89E6-EDF5-E092-9E94-ADDFB34061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240692" y="9610726"/>
              <a:ext cx="77787" cy="82550"/>
            </a:xfrm>
            <a:custGeom>
              <a:avLst/>
              <a:gdLst>
                <a:gd name="T0" fmla="*/ 0 w 49"/>
                <a:gd name="T1" fmla="*/ 52 h 52"/>
                <a:gd name="T2" fmla="*/ 0 w 49"/>
                <a:gd name="T3" fmla="*/ 0 h 52"/>
                <a:gd name="T4" fmla="*/ 17 w 49"/>
                <a:gd name="T5" fmla="*/ 0 h 52"/>
                <a:gd name="T6" fmla="*/ 24 w 49"/>
                <a:gd name="T7" fmla="*/ 35 h 52"/>
                <a:gd name="T8" fmla="*/ 24 w 49"/>
                <a:gd name="T9" fmla="*/ 35 h 52"/>
                <a:gd name="T10" fmla="*/ 33 w 49"/>
                <a:gd name="T11" fmla="*/ 0 h 52"/>
                <a:gd name="T12" fmla="*/ 49 w 49"/>
                <a:gd name="T13" fmla="*/ 0 h 52"/>
                <a:gd name="T14" fmla="*/ 49 w 49"/>
                <a:gd name="T15" fmla="*/ 52 h 52"/>
                <a:gd name="T16" fmla="*/ 39 w 49"/>
                <a:gd name="T17" fmla="*/ 52 h 52"/>
                <a:gd name="T18" fmla="*/ 39 w 49"/>
                <a:gd name="T19" fmla="*/ 11 h 52"/>
                <a:gd name="T20" fmla="*/ 38 w 49"/>
                <a:gd name="T21" fmla="*/ 11 h 52"/>
                <a:gd name="T22" fmla="*/ 29 w 49"/>
                <a:gd name="T23" fmla="*/ 52 h 52"/>
                <a:gd name="T24" fmla="*/ 19 w 49"/>
                <a:gd name="T25" fmla="*/ 52 h 52"/>
                <a:gd name="T26" fmla="*/ 10 w 49"/>
                <a:gd name="T27" fmla="*/ 11 h 52"/>
                <a:gd name="T28" fmla="*/ 10 w 49"/>
                <a:gd name="T29" fmla="*/ 11 h 52"/>
                <a:gd name="T30" fmla="*/ 10 w 49"/>
                <a:gd name="T31" fmla="*/ 52 h 52"/>
                <a:gd name="T32" fmla="*/ 0 w 49"/>
                <a:gd name="T3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" h="52">
                  <a:moveTo>
                    <a:pt x="0" y="52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3" y="0"/>
                  </a:lnTo>
                  <a:lnTo>
                    <a:pt x="49" y="0"/>
                  </a:lnTo>
                  <a:lnTo>
                    <a:pt x="49" y="52"/>
                  </a:lnTo>
                  <a:lnTo>
                    <a:pt x="39" y="52"/>
                  </a:lnTo>
                  <a:lnTo>
                    <a:pt x="39" y="11"/>
                  </a:lnTo>
                  <a:lnTo>
                    <a:pt x="38" y="11"/>
                  </a:lnTo>
                  <a:lnTo>
                    <a:pt x="29" y="52"/>
                  </a:lnTo>
                  <a:lnTo>
                    <a:pt x="19" y="52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latinLnBrk="0" hangingPunct="1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9FD91D4E-40CC-6A18-5229-DB566622D1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28004" y="9610726"/>
              <a:ext cx="52387" cy="84138"/>
            </a:xfrm>
            <a:custGeom>
              <a:avLst/>
              <a:gdLst>
                <a:gd name="T0" fmla="*/ 23 w 48"/>
                <a:gd name="T1" fmla="*/ 77 h 77"/>
                <a:gd name="T2" fmla="*/ 1 w 48"/>
                <a:gd name="T3" fmla="*/ 53 h 77"/>
                <a:gd name="T4" fmla="*/ 16 w 48"/>
                <a:gd name="T5" fmla="*/ 53 h 77"/>
                <a:gd name="T6" fmla="*/ 25 w 48"/>
                <a:gd name="T7" fmla="*/ 66 h 77"/>
                <a:gd name="T8" fmla="*/ 33 w 48"/>
                <a:gd name="T9" fmla="*/ 58 h 77"/>
                <a:gd name="T10" fmla="*/ 2 w 48"/>
                <a:gd name="T11" fmla="*/ 21 h 77"/>
                <a:gd name="T12" fmla="*/ 26 w 48"/>
                <a:gd name="T13" fmla="*/ 0 h 77"/>
                <a:gd name="T14" fmla="*/ 47 w 48"/>
                <a:gd name="T15" fmla="*/ 23 h 77"/>
                <a:gd name="T16" fmla="*/ 32 w 48"/>
                <a:gd name="T17" fmla="*/ 23 h 77"/>
                <a:gd name="T18" fmla="*/ 25 w 48"/>
                <a:gd name="T19" fmla="*/ 11 h 77"/>
                <a:gd name="T20" fmla="*/ 17 w 48"/>
                <a:gd name="T21" fmla="*/ 19 h 77"/>
                <a:gd name="T22" fmla="*/ 48 w 48"/>
                <a:gd name="T23" fmla="*/ 56 h 77"/>
                <a:gd name="T24" fmla="*/ 23 w 48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" h="77">
                  <a:moveTo>
                    <a:pt x="23" y="77"/>
                  </a:moveTo>
                  <a:cubicBezTo>
                    <a:pt x="4" y="77"/>
                    <a:pt x="0" y="66"/>
                    <a:pt x="1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60"/>
                    <a:pt x="17" y="66"/>
                    <a:pt x="25" y="66"/>
                  </a:cubicBezTo>
                  <a:cubicBezTo>
                    <a:pt x="30" y="66"/>
                    <a:pt x="33" y="63"/>
                    <a:pt x="33" y="58"/>
                  </a:cubicBezTo>
                  <a:cubicBezTo>
                    <a:pt x="33" y="44"/>
                    <a:pt x="2" y="43"/>
                    <a:pt x="2" y="21"/>
                  </a:cubicBezTo>
                  <a:cubicBezTo>
                    <a:pt x="2" y="10"/>
                    <a:pt x="7" y="0"/>
                    <a:pt x="26" y="0"/>
                  </a:cubicBezTo>
                  <a:cubicBezTo>
                    <a:pt x="41" y="0"/>
                    <a:pt x="48" y="7"/>
                    <a:pt x="47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17"/>
                    <a:pt x="31" y="11"/>
                    <a:pt x="25" y="11"/>
                  </a:cubicBezTo>
                  <a:cubicBezTo>
                    <a:pt x="20" y="11"/>
                    <a:pt x="17" y="14"/>
                    <a:pt x="17" y="19"/>
                  </a:cubicBezTo>
                  <a:cubicBezTo>
                    <a:pt x="17" y="34"/>
                    <a:pt x="48" y="32"/>
                    <a:pt x="48" y="56"/>
                  </a:cubicBezTo>
                  <a:cubicBezTo>
                    <a:pt x="48" y="75"/>
                    <a:pt x="34" y="77"/>
                    <a:pt x="23" y="77"/>
                  </a:cubicBez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latinLnBrk="0" hangingPunct="1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D308BD00-CBFF-9DD5-4742-A5A7C0EFE6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89917" y="9610726"/>
              <a:ext cx="55562" cy="82550"/>
            </a:xfrm>
            <a:custGeom>
              <a:avLst/>
              <a:gdLst>
                <a:gd name="T0" fmla="*/ 51 w 51"/>
                <a:gd name="T1" fmla="*/ 0 h 76"/>
                <a:gd name="T2" fmla="*/ 51 w 51"/>
                <a:gd name="T3" fmla="*/ 53 h 76"/>
                <a:gd name="T4" fmla="*/ 26 w 51"/>
                <a:gd name="T5" fmla="*/ 76 h 76"/>
                <a:gd name="T6" fmla="*/ 0 w 51"/>
                <a:gd name="T7" fmla="*/ 53 h 76"/>
                <a:gd name="T8" fmla="*/ 0 w 51"/>
                <a:gd name="T9" fmla="*/ 0 h 76"/>
                <a:gd name="T10" fmla="*/ 16 w 51"/>
                <a:gd name="T11" fmla="*/ 0 h 76"/>
                <a:gd name="T12" fmla="*/ 16 w 51"/>
                <a:gd name="T13" fmla="*/ 52 h 76"/>
                <a:gd name="T14" fmla="*/ 25 w 51"/>
                <a:gd name="T15" fmla="*/ 65 h 76"/>
                <a:gd name="T16" fmla="*/ 35 w 51"/>
                <a:gd name="T17" fmla="*/ 52 h 76"/>
                <a:gd name="T18" fmla="*/ 35 w 51"/>
                <a:gd name="T19" fmla="*/ 0 h 76"/>
                <a:gd name="T20" fmla="*/ 51 w 51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76">
                  <a:moveTo>
                    <a:pt x="51" y="0"/>
                  </a:moveTo>
                  <a:cubicBezTo>
                    <a:pt x="51" y="53"/>
                    <a:pt x="51" y="53"/>
                    <a:pt x="51" y="53"/>
                  </a:cubicBezTo>
                  <a:cubicBezTo>
                    <a:pt x="51" y="64"/>
                    <a:pt x="44" y="76"/>
                    <a:pt x="26" y="76"/>
                  </a:cubicBezTo>
                  <a:cubicBezTo>
                    <a:pt x="9" y="76"/>
                    <a:pt x="0" y="67"/>
                    <a:pt x="0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61"/>
                    <a:pt x="20" y="65"/>
                    <a:pt x="25" y="65"/>
                  </a:cubicBezTo>
                  <a:cubicBezTo>
                    <a:pt x="32" y="65"/>
                    <a:pt x="35" y="60"/>
                    <a:pt x="35" y="52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latinLnBrk="0" hangingPunct="1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9C43960C-31D8-7887-272E-B209BC1772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458179" y="9610726"/>
              <a:ext cx="58737" cy="82550"/>
            </a:xfrm>
            <a:custGeom>
              <a:avLst/>
              <a:gdLst>
                <a:gd name="T0" fmla="*/ 0 w 37"/>
                <a:gd name="T1" fmla="*/ 52 h 52"/>
                <a:gd name="T2" fmla="*/ 0 w 37"/>
                <a:gd name="T3" fmla="*/ 0 h 52"/>
                <a:gd name="T4" fmla="*/ 14 w 37"/>
                <a:gd name="T5" fmla="*/ 0 h 52"/>
                <a:gd name="T6" fmla="*/ 27 w 37"/>
                <a:gd name="T7" fmla="*/ 36 h 52"/>
                <a:gd name="T8" fmla="*/ 27 w 37"/>
                <a:gd name="T9" fmla="*/ 36 h 52"/>
                <a:gd name="T10" fmla="*/ 27 w 37"/>
                <a:gd name="T11" fmla="*/ 0 h 52"/>
                <a:gd name="T12" fmla="*/ 37 w 37"/>
                <a:gd name="T13" fmla="*/ 0 h 52"/>
                <a:gd name="T14" fmla="*/ 37 w 37"/>
                <a:gd name="T15" fmla="*/ 52 h 52"/>
                <a:gd name="T16" fmla="*/ 23 w 37"/>
                <a:gd name="T17" fmla="*/ 52 h 52"/>
                <a:gd name="T18" fmla="*/ 9 w 37"/>
                <a:gd name="T19" fmla="*/ 14 h 52"/>
                <a:gd name="T20" fmla="*/ 9 w 37"/>
                <a:gd name="T21" fmla="*/ 14 h 52"/>
                <a:gd name="T22" fmla="*/ 9 w 37"/>
                <a:gd name="T23" fmla="*/ 52 h 52"/>
                <a:gd name="T24" fmla="*/ 0 w 37"/>
                <a:gd name="T25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" h="52">
                  <a:moveTo>
                    <a:pt x="0" y="52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7" y="0"/>
                  </a:lnTo>
                  <a:lnTo>
                    <a:pt x="37" y="0"/>
                  </a:lnTo>
                  <a:lnTo>
                    <a:pt x="37" y="52"/>
                  </a:lnTo>
                  <a:lnTo>
                    <a:pt x="23" y="52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latinLnBrk="0" hangingPunct="1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DB2EAB56-2818-9E93-B72B-D667A79032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529617" y="9610726"/>
              <a:ext cx="53975" cy="84138"/>
            </a:xfrm>
            <a:custGeom>
              <a:avLst/>
              <a:gdLst>
                <a:gd name="T0" fmla="*/ 35 w 51"/>
                <a:gd name="T1" fmla="*/ 24 h 77"/>
                <a:gd name="T2" fmla="*/ 25 w 51"/>
                <a:gd name="T3" fmla="*/ 11 h 77"/>
                <a:gd name="T4" fmla="*/ 16 w 51"/>
                <a:gd name="T5" fmla="*/ 39 h 77"/>
                <a:gd name="T6" fmla="*/ 27 w 51"/>
                <a:gd name="T7" fmla="*/ 67 h 77"/>
                <a:gd name="T8" fmla="*/ 34 w 51"/>
                <a:gd name="T9" fmla="*/ 65 h 77"/>
                <a:gd name="T10" fmla="*/ 34 w 51"/>
                <a:gd name="T11" fmla="*/ 49 h 77"/>
                <a:gd name="T12" fmla="*/ 26 w 51"/>
                <a:gd name="T13" fmla="*/ 49 h 77"/>
                <a:gd name="T14" fmla="*/ 26 w 51"/>
                <a:gd name="T15" fmla="*/ 37 h 77"/>
                <a:gd name="T16" fmla="*/ 50 w 51"/>
                <a:gd name="T17" fmla="*/ 37 h 77"/>
                <a:gd name="T18" fmla="*/ 50 w 51"/>
                <a:gd name="T19" fmla="*/ 75 h 77"/>
                <a:gd name="T20" fmla="*/ 29 w 51"/>
                <a:gd name="T21" fmla="*/ 77 h 77"/>
                <a:gd name="T22" fmla="*/ 0 w 51"/>
                <a:gd name="T23" fmla="*/ 38 h 77"/>
                <a:gd name="T24" fmla="*/ 26 w 51"/>
                <a:gd name="T25" fmla="*/ 0 h 77"/>
                <a:gd name="T26" fmla="*/ 50 w 51"/>
                <a:gd name="T27" fmla="*/ 24 h 77"/>
                <a:gd name="T28" fmla="*/ 35 w 51"/>
                <a:gd name="T29" fmla="*/ 2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" h="77">
                  <a:moveTo>
                    <a:pt x="35" y="24"/>
                  </a:moveTo>
                  <a:cubicBezTo>
                    <a:pt x="35" y="18"/>
                    <a:pt x="34" y="11"/>
                    <a:pt x="25" y="11"/>
                  </a:cubicBezTo>
                  <a:cubicBezTo>
                    <a:pt x="16" y="11"/>
                    <a:pt x="16" y="25"/>
                    <a:pt x="16" y="39"/>
                  </a:cubicBezTo>
                  <a:cubicBezTo>
                    <a:pt x="16" y="62"/>
                    <a:pt x="18" y="67"/>
                    <a:pt x="27" y="67"/>
                  </a:cubicBezTo>
                  <a:cubicBezTo>
                    <a:pt x="29" y="67"/>
                    <a:pt x="32" y="66"/>
                    <a:pt x="34" y="65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75"/>
                    <a:pt x="50" y="75"/>
                    <a:pt x="50" y="75"/>
                  </a:cubicBezTo>
                  <a:cubicBezTo>
                    <a:pt x="46" y="76"/>
                    <a:pt x="35" y="77"/>
                    <a:pt x="29" y="77"/>
                  </a:cubicBezTo>
                  <a:cubicBezTo>
                    <a:pt x="3" y="77"/>
                    <a:pt x="0" y="67"/>
                    <a:pt x="0" y="38"/>
                  </a:cubicBezTo>
                  <a:cubicBezTo>
                    <a:pt x="0" y="19"/>
                    <a:pt x="1" y="0"/>
                    <a:pt x="26" y="0"/>
                  </a:cubicBezTo>
                  <a:cubicBezTo>
                    <a:pt x="41" y="0"/>
                    <a:pt x="51" y="9"/>
                    <a:pt x="50" y="24"/>
                  </a:cubicBezTo>
                  <a:lnTo>
                    <a:pt x="35" y="24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latinLnBrk="0" hangingPunct="1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296639EB-D592-7463-D1A3-D83F047E3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16929" y="9610726"/>
              <a:ext cx="52387" cy="84138"/>
            </a:xfrm>
            <a:custGeom>
              <a:avLst/>
              <a:gdLst>
                <a:gd name="T0" fmla="*/ 23 w 49"/>
                <a:gd name="T1" fmla="*/ 77 h 77"/>
                <a:gd name="T2" fmla="*/ 1 w 49"/>
                <a:gd name="T3" fmla="*/ 53 h 77"/>
                <a:gd name="T4" fmla="*/ 16 w 49"/>
                <a:gd name="T5" fmla="*/ 53 h 77"/>
                <a:gd name="T6" fmla="*/ 25 w 49"/>
                <a:gd name="T7" fmla="*/ 66 h 77"/>
                <a:gd name="T8" fmla="*/ 33 w 49"/>
                <a:gd name="T9" fmla="*/ 58 h 77"/>
                <a:gd name="T10" fmla="*/ 2 w 49"/>
                <a:gd name="T11" fmla="*/ 21 h 77"/>
                <a:gd name="T12" fmla="*/ 26 w 49"/>
                <a:gd name="T13" fmla="*/ 0 h 77"/>
                <a:gd name="T14" fmla="*/ 48 w 49"/>
                <a:gd name="T15" fmla="*/ 23 h 77"/>
                <a:gd name="T16" fmla="*/ 33 w 49"/>
                <a:gd name="T17" fmla="*/ 23 h 77"/>
                <a:gd name="T18" fmla="*/ 25 w 49"/>
                <a:gd name="T19" fmla="*/ 11 h 77"/>
                <a:gd name="T20" fmla="*/ 18 w 49"/>
                <a:gd name="T21" fmla="*/ 19 h 77"/>
                <a:gd name="T22" fmla="*/ 48 w 49"/>
                <a:gd name="T23" fmla="*/ 56 h 77"/>
                <a:gd name="T24" fmla="*/ 23 w 49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9" h="77">
                  <a:moveTo>
                    <a:pt x="23" y="77"/>
                  </a:moveTo>
                  <a:cubicBezTo>
                    <a:pt x="4" y="77"/>
                    <a:pt x="0" y="66"/>
                    <a:pt x="1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60"/>
                    <a:pt x="17" y="66"/>
                    <a:pt x="25" y="66"/>
                  </a:cubicBezTo>
                  <a:cubicBezTo>
                    <a:pt x="30" y="66"/>
                    <a:pt x="33" y="63"/>
                    <a:pt x="33" y="58"/>
                  </a:cubicBezTo>
                  <a:cubicBezTo>
                    <a:pt x="33" y="44"/>
                    <a:pt x="2" y="43"/>
                    <a:pt x="2" y="21"/>
                  </a:cubicBezTo>
                  <a:cubicBezTo>
                    <a:pt x="2" y="10"/>
                    <a:pt x="7" y="0"/>
                    <a:pt x="26" y="0"/>
                  </a:cubicBezTo>
                  <a:cubicBezTo>
                    <a:pt x="41" y="0"/>
                    <a:pt x="49" y="7"/>
                    <a:pt x="48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17"/>
                    <a:pt x="32" y="11"/>
                    <a:pt x="25" y="11"/>
                  </a:cubicBezTo>
                  <a:cubicBezTo>
                    <a:pt x="20" y="11"/>
                    <a:pt x="18" y="14"/>
                    <a:pt x="18" y="19"/>
                  </a:cubicBezTo>
                  <a:cubicBezTo>
                    <a:pt x="18" y="34"/>
                    <a:pt x="48" y="32"/>
                    <a:pt x="48" y="56"/>
                  </a:cubicBezTo>
                  <a:cubicBezTo>
                    <a:pt x="48" y="75"/>
                    <a:pt x="35" y="77"/>
                    <a:pt x="23" y="77"/>
                  </a:cubicBez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latinLnBrk="0" hangingPunct="1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F89EEB60-7E0E-6177-7CF1-E3B3F005D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680429" y="9610726"/>
              <a:ext cx="55562" cy="82550"/>
            </a:xfrm>
            <a:custGeom>
              <a:avLst/>
              <a:gdLst>
                <a:gd name="T0" fmla="*/ 0 w 52"/>
                <a:gd name="T1" fmla="*/ 0 h 75"/>
                <a:gd name="T2" fmla="*/ 26 w 52"/>
                <a:gd name="T3" fmla="*/ 0 h 75"/>
                <a:gd name="T4" fmla="*/ 50 w 52"/>
                <a:gd name="T5" fmla="*/ 37 h 75"/>
                <a:gd name="T6" fmla="*/ 25 w 52"/>
                <a:gd name="T7" fmla="*/ 75 h 75"/>
                <a:gd name="T8" fmla="*/ 0 w 52"/>
                <a:gd name="T9" fmla="*/ 75 h 75"/>
                <a:gd name="T10" fmla="*/ 0 w 52"/>
                <a:gd name="T11" fmla="*/ 0 h 75"/>
                <a:gd name="T12" fmla="*/ 16 w 52"/>
                <a:gd name="T13" fmla="*/ 63 h 75"/>
                <a:gd name="T14" fmla="*/ 23 w 52"/>
                <a:gd name="T15" fmla="*/ 63 h 75"/>
                <a:gd name="T16" fmla="*/ 34 w 52"/>
                <a:gd name="T17" fmla="*/ 38 h 75"/>
                <a:gd name="T18" fmla="*/ 24 w 52"/>
                <a:gd name="T19" fmla="*/ 12 h 75"/>
                <a:gd name="T20" fmla="*/ 16 w 52"/>
                <a:gd name="T21" fmla="*/ 12 h 75"/>
                <a:gd name="T22" fmla="*/ 16 w 52"/>
                <a:gd name="T23" fmla="*/ 6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5">
                  <a:moveTo>
                    <a:pt x="0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46" y="0"/>
                    <a:pt x="50" y="14"/>
                    <a:pt x="50" y="37"/>
                  </a:cubicBezTo>
                  <a:cubicBezTo>
                    <a:pt x="50" y="49"/>
                    <a:pt x="52" y="75"/>
                    <a:pt x="25" y="75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0"/>
                  </a:lnTo>
                  <a:close/>
                  <a:moveTo>
                    <a:pt x="16" y="63"/>
                  </a:moveTo>
                  <a:cubicBezTo>
                    <a:pt x="23" y="63"/>
                    <a:pt x="23" y="63"/>
                    <a:pt x="23" y="63"/>
                  </a:cubicBezTo>
                  <a:cubicBezTo>
                    <a:pt x="32" y="63"/>
                    <a:pt x="34" y="56"/>
                    <a:pt x="34" y="38"/>
                  </a:cubicBezTo>
                  <a:cubicBezTo>
                    <a:pt x="34" y="24"/>
                    <a:pt x="34" y="12"/>
                    <a:pt x="24" y="12"/>
                  </a:cubicBezTo>
                  <a:cubicBezTo>
                    <a:pt x="16" y="12"/>
                    <a:pt x="16" y="12"/>
                    <a:pt x="16" y="12"/>
                  </a:cubicBezTo>
                  <a:lnTo>
                    <a:pt x="16" y="63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latinLnBrk="0" hangingPunct="1"/>
              <a:endParaRPr lang="ko-KR" altLang="en-US">
                <a:ln>
                  <a:noFill/>
                </a:ln>
              </a:endParaRPr>
            </a:p>
          </p:txBody>
        </p:sp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057FE55E-FC2C-25B6-8FC1-76EDAEA3BF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743929" y="9610726"/>
              <a:ext cx="50800" cy="84138"/>
            </a:xfrm>
            <a:custGeom>
              <a:avLst/>
              <a:gdLst>
                <a:gd name="T0" fmla="*/ 23 w 48"/>
                <a:gd name="T1" fmla="*/ 77 h 77"/>
                <a:gd name="T2" fmla="*/ 1 w 48"/>
                <a:gd name="T3" fmla="*/ 53 h 77"/>
                <a:gd name="T4" fmla="*/ 16 w 48"/>
                <a:gd name="T5" fmla="*/ 53 h 77"/>
                <a:gd name="T6" fmla="*/ 25 w 48"/>
                <a:gd name="T7" fmla="*/ 66 h 77"/>
                <a:gd name="T8" fmla="*/ 33 w 48"/>
                <a:gd name="T9" fmla="*/ 58 h 77"/>
                <a:gd name="T10" fmla="*/ 2 w 48"/>
                <a:gd name="T11" fmla="*/ 21 h 77"/>
                <a:gd name="T12" fmla="*/ 26 w 48"/>
                <a:gd name="T13" fmla="*/ 0 h 77"/>
                <a:gd name="T14" fmla="*/ 47 w 48"/>
                <a:gd name="T15" fmla="*/ 23 h 77"/>
                <a:gd name="T16" fmla="*/ 32 w 48"/>
                <a:gd name="T17" fmla="*/ 23 h 77"/>
                <a:gd name="T18" fmla="*/ 25 w 48"/>
                <a:gd name="T19" fmla="*/ 11 h 77"/>
                <a:gd name="T20" fmla="*/ 17 w 48"/>
                <a:gd name="T21" fmla="*/ 19 h 77"/>
                <a:gd name="T22" fmla="*/ 48 w 48"/>
                <a:gd name="T23" fmla="*/ 56 h 77"/>
                <a:gd name="T24" fmla="*/ 23 w 48"/>
                <a:gd name="T2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" h="77">
                  <a:moveTo>
                    <a:pt x="23" y="77"/>
                  </a:moveTo>
                  <a:cubicBezTo>
                    <a:pt x="4" y="77"/>
                    <a:pt x="0" y="66"/>
                    <a:pt x="1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60"/>
                    <a:pt x="17" y="66"/>
                    <a:pt x="25" y="66"/>
                  </a:cubicBezTo>
                  <a:cubicBezTo>
                    <a:pt x="30" y="66"/>
                    <a:pt x="33" y="63"/>
                    <a:pt x="33" y="58"/>
                  </a:cubicBezTo>
                  <a:cubicBezTo>
                    <a:pt x="33" y="44"/>
                    <a:pt x="2" y="43"/>
                    <a:pt x="2" y="21"/>
                  </a:cubicBezTo>
                  <a:cubicBezTo>
                    <a:pt x="2" y="10"/>
                    <a:pt x="7" y="0"/>
                    <a:pt x="26" y="0"/>
                  </a:cubicBezTo>
                  <a:cubicBezTo>
                    <a:pt x="41" y="0"/>
                    <a:pt x="48" y="7"/>
                    <a:pt x="47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17"/>
                    <a:pt x="32" y="11"/>
                    <a:pt x="25" y="11"/>
                  </a:cubicBezTo>
                  <a:cubicBezTo>
                    <a:pt x="20" y="11"/>
                    <a:pt x="17" y="14"/>
                    <a:pt x="17" y="19"/>
                  </a:cubicBezTo>
                  <a:cubicBezTo>
                    <a:pt x="17" y="34"/>
                    <a:pt x="48" y="32"/>
                    <a:pt x="48" y="56"/>
                  </a:cubicBezTo>
                  <a:cubicBezTo>
                    <a:pt x="48" y="75"/>
                    <a:pt x="34" y="77"/>
                    <a:pt x="23" y="77"/>
                  </a:cubicBez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 latinLnBrk="0" hangingPunct="1"/>
              <a:endParaRPr lang="ko-KR" altLang="en-US">
                <a:ln>
                  <a:noFill/>
                </a:ln>
              </a:endParaRPr>
            </a:p>
          </p:txBody>
        </p:sp>
      </p:grpSp>
      <p:grpSp>
        <p:nvGrpSpPr>
          <p:cNvPr id="17" name="그룹 16"/>
          <p:cNvGrpSpPr/>
          <p:nvPr userDrawn="1"/>
        </p:nvGrpSpPr>
        <p:grpSpPr>
          <a:xfrm>
            <a:off x="453373" y="6550302"/>
            <a:ext cx="1520460" cy="162282"/>
            <a:chOff x="453373" y="6550302"/>
            <a:chExt cx="1520460" cy="162282"/>
          </a:xfrm>
        </p:grpSpPr>
        <p:sp>
          <p:nvSpPr>
            <p:cNvPr id="18" name="TextBox 17"/>
            <p:cNvSpPr txBox="1"/>
            <p:nvPr userDrawn="1"/>
          </p:nvSpPr>
          <p:spPr>
            <a:xfrm>
              <a:off x="1215612" y="6590663"/>
              <a:ext cx="758221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eaLnBrk="0" hangingPunct="0">
                <a:defRPr/>
              </a:pPr>
              <a:r>
                <a:rPr lang="ko-KR" altLang="en-US" sz="70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ㅣ계정계</a:t>
              </a:r>
              <a:r>
                <a:rPr lang="ko-KR" altLang="en-US" sz="7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 최신화 구축</a:t>
              </a:r>
            </a:p>
          </p:txBody>
        </p:sp>
        <p:pic>
          <p:nvPicPr>
            <p:cNvPr id="19" name="그림 18"/>
            <p:cNvPicPr>
              <a:picLocks noChangeAspect="1"/>
            </p:cNvPicPr>
            <p:nvPr userDrawn="1"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377"/>
            <a:stretch/>
          </p:blipFill>
          <p:spPr>
            <a:xfrm>
              <a:off x="453373" y="6550302"/>
              <a:ext cx="740427" cy="16228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00044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15" r:id="rId2"/>
    <p:sldLayoutId id="2147483807" r:id="rId3"/>
    <p:sldLayoutId id="2147483816" r:id="rId4"/>
    <p:sldLayoutId id="2147483808" r:id="rId5"/>
    <p:sldLayoutId id="2147483817" r:id="rId6"/>
    <p:sldLayoutId id="2147483809" r:id="rId7"/>
    <p:sldLayoutId id="2147483818" r:id="rId8"/>
    <p:sldLayoutId id="2147483810" r:id="rId9"/>
    <p:sldLayoutId id="2147483819" r:id="rId10"/>
    <p:sldLayoutId id="2147483811" r:id="rId11"/>
    <p:sldLayoutId id="2147483812" r:id="rId12"/>
    <p:sldLayoutId id="2147483822" r:id="rId13"/>
    <p:sldLayoutId id="2147483823" r:id="rId14"/>
    <p:sldLayoutId id="2147483813" r:id="rId15"/>
    <p:sldLayoutId id="2147483814" r:id="rId16"/>
    <p:sldLayoutId id="2147483820" r:id="rId17"/>
    <p:sldLayoutId id="2147483821" r:id="rId18"/>
  </p:sldLayoutIdLst>
  <p:txStyles>
    <p:titleStyle>
      <a:lvl1pPr algn="ctr" defTabSz="914348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0" indent="-342880" algn="l" defTabSz="914348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08" indent="-285734" algn="l" defTabSz="914348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34" indent="-228586" algn="l" defTabSz="914348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08" indent="-228586" algn="l" defTabSz="914348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82" indent="-228586" algn="l" defTabSz="914348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56" indent="-228586" algn="l" defTabSz="914348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0" indent="-228586" algn="l" defTabSz="914348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4" indent="-228586" algn="l" defTabSz="914348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8" indent="-228586" algn="l" defTabSz="914348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9143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9143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2" algn="l" defTabSz="9143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6" algn="l" defTabSz="9143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0" algn="l" defTabSz="9143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4" algn="l" defTabSz="9143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8" algn="l" defTabSz="9143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1" algn="l" defTabSz="9143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그룹 133"/>
          <p:cNvGrpSpPr/>
          <p:nvPr/>
        </p:nvGrpSpPr>
        <p:grpSpPr>
          <a:xfrm>
            <a:off x="415199" y="383253"/>
            <a:ext cx="4481035" cy="419085"/>
            <a:chOff x="415199" y="383253"/>
            <a:chExt cx="4481035" cy="419085"/>
          </a:xfrm>
        </p:grpSpPr>
        <p:sp>
          <p:nvSpPr>
            <p:cNvPr id="135" name="Rectangle 4"/>
            <p:cNvSpPr>
              <a:spLocks noChangeArrowheads="1"/>
            </p:cNvSpPr>
            <p:nvPr/>
          </p:nvSpPr>
          <p:spPr bwMode="auto">
            <a:xfrm>
              <a:off x="415199" y="383253"/>
              <a:ext cx="448103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217475" lvl="0" indent="-217475" defTabSz="957689" fontAlgn="t" latinLnBrk="0">
                <a:spcAft>
                  <a:spcPts val="200"/>
                </a:spcAft>
              </a:pP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3.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상세 구축방안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&gt; 3.1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기능  요구사항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 IT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운영관리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3.1.7.1 </a:t>
              </a:r>
              <a:r>
                <a:rPr lang="ko-KR" altLang="en-US" sz="900" spc="-30" dirty="0" err="1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통합로그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기반 모니터링 환경 구축</a:t>
              </a:r>
              <a:endParaRPr lang="en-US" altLang="ko-KR" sz="900" spc="-30" dirty="0">
                <a:solidFill>
                  <a:schemeClr val="bg1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6" name="Rectangle 4"/>
            <p:cNvSpPr>
              <a:spLocks noChangeArrowheads="1"/>
            </p:cNvSpPr>
            <p:nvPr/>
          </p:nvSpPr>
          <p:spPr bwMode="auto">
            <a:xfrm>
              <a:off x="415199" y="556117"/>
              <a:ext cx="2989793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1pPr>
              <a:lvl2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fontAlgn="t" latinLnBrk="0"/>
              <a:r>
                <a:rPr lang="en-US" altLang="ko-KR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3.1.7.1.1 </a:t>
              </a:r>
              <a:r>
                <a:rPr lang="ko-KR" altLang="en-US" sz="1600" spc="-30" dirty="0" err="1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통합로그</a:t>
              </a:r>
              <a:r>
                <a:rPr lang="ko-KR" altLang="en-US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 시스템 구성 방안</a:t>
              </a:r>
              <a:endParaRPr lang="en-US" altLang="ko-KR" sz="1600" spc="-3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415199" y="965974"/>
            <a:ext cx="120786" cy="115888"/>
            <a:chOff x="477838" y="1011238"/>
            <a:chExt cx="117476" cy="112712"/>
          </a:xfrm>
          <a:solidFill>
            <a:schemeClr val="bg1">
              <a:lumMod val="65000"/>
            </a:schemeClr>
          </a:solidFill>
        </p:grpSpPr>
        <p:sp>
          <p:nvSpPr>
            <p:cNvPr id="87" name="Freeform 10"/>
            <p:cNvSpPr>
              <a:spLocks/>
            </p:cNvSpPr>
            <p:nvPr/>
          </p:nvSpPr>
          <p:spPr bwMode="auto">
            <a:xfrm>
              <a:off x="498476" y="1022350"/>
              <a:ext cx="96838" cy="71437"/>
            </a:xfrm>
            <a:custGeom>
              <a:avLst/>
              <a:gdLst>
                <a:gd name="T0" fmla="*/ 22 w 61"/>
                <a:gd name="T1" fmla="*/ 45 h 45"/>
                <a:gd name="T2" fmla="*/ 0 w 61"/>
                <a:gd name="T3" fmla="*/ 23 h 45"/>
                <a:gd name="T4" fmla="*/ 7 w 61"/>
                <a:gd name="T5" fmla="*/ 17 h 45"/>
                <a:gd name="T6" fmla="*/ 22 w 61"/>
                <a:gd name="T7" fmla="*/ 32 h 45"/>
                <a:gd name="T8" fmla="*/ 54 w 61"/>
                <a:gd name="T9" fmla="*/ 0 h 45"/>
                <a:gd name="T10" fmla="*/ 61 w 61"/>
                <a:gd name="T11" fmla="*/ 7 h 45"/>
                <a:gd name="T12" fmla="*/ 22 w 61"/>
                <a:gd name="T1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">
                  <a:moveTo>
                    <a:pt x="22" y="45"/>
                  </a:moveTo>
                  <a:lnTo>
                    <a:pt x="0" y="23"/>
                  </a:lnTo>
                  <a:lnTo>
                    <a:pt x="7" y="17"/>
                  </a:lnTo>
                  <a:lnTo>
                    <a:pt x="22" y="32"/>
                  </a:lnTo>
                  <a:lnTo>
                    <a:pt x="54" y="0"/>
                  </a:lnTo>
                  <a:lnTo>
                    <a:pt x="61" y="7"/>
                  </a:lnTo>
                  <a:lnTo>
                    <a:pt x="22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atinLnBrk="0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88" name="Freeform 11"/>
            <p:cNvSpPr>
              <a:spLocks/>
            </p:cNvSpPr>
            <p:nvPr/>
          </p:nvSpPr>
          <p:spPr bwMode="auto">
            <a:xfrm>
              <a:off x="477838" y="1011238"/>
              <a:ext cx="112713" cy="112712"/>
            </a:xfrm>
            <a:custGeom>
              <a:avLst/>
              <a:gdLst>
                <a:gd name="T0" fmla="*/ 926 w 1040"/>
                <a:gd name="T1" fmla="*/ 500 h 1041"/>
                <a:gd name="T2" fmla="*/ 927 w 1040"/>
                <a:gd name="T3" fmla="*/ 521 h 1041"/>
                <a:gd name="T4" fmla="*/ 520 w 1040"/>
                <a:gd name="T5" fmla="*/ 928 h 1041"/>
                <a:gd name="T6" fmla="*/ 113 w 1040"/>
                <a:gd name="T7" fmla="*/ 521 h 1041"/>
                <a:gd name="T8" fmla="*/ 520 w 1040"/>
                <a:gd name="T9" fmla="*/ 114 h 1041"/>
                <a:gd name="T10" fmla="*/ 747 w 1040"/>
                <a:gd name="T11" fmla="*/ 183 h 1041"/>
                <a:gd name="T12" fmla="*/ 830 w 1040"/>
                <a:gd name="T13" fmla="*/ 103 h 1041"/>
                <a:gd name="T14" fmla="*/ 520 w 1040"/>
                <a:gd name="T15" fmla="*/ 1 h 1041"/>
                <a:gd name="T16" fmla="*/ 0 w 1040"/>
                <a:gd name="T17" fmla="*/ 521 h 1041"/>
                <a:gd name="T18" fmla="*/ 520 w 1040"/>
                <a:gd name="T19" fmla="*/ 1041 h 1041"/>
                <a:gd name="T20" fmla="*/ 1040 w 1040"/>
                <a:gd name="T21" fmla="*/ 520 h 1041"/>
                <a:gd name="T22" fmla="*/ 1027 w 1040"/>
                <a:gd name="T23" fmla="*/ 403 h 1041"/>
                <a:gd name="T24" fmla="*/ 926 w 1040"/>
                <a:gd name="T25" fmla="*/ 500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0" h="1041">
                  <a:moveTo>
                    <a:pt x="926" y="500"/>
                  </a:moveTo>
                  <a:cubicBezTo>
                    <a:pt x="927" y="506"/>
                    <a:pt x="927" y="513"/>
                    <a:pt x="927" y="521"/>
                  </a:cubicBezTo>
                  <a:cubicBezTo>
                    <a:pt x="927" y="745"/>
                    <a:pt x="745" y="927"/>
                    <a:pt x="520" y="928"/>
                  </a:cubicBezTo>
                  <a:cubicBezTo>
                    <a:pt x="295" y="928"/>
                    <a:pt x="113" y="746"/>
                    <a:pt x="113" y="521"/>
                  </a:cubicBezTo>
                  <a:cubicBezTo>
                    <a:pt x="113" y="296"/>
                    <a:pt x="295" y="114"/>
                    <a:pt x="520" y="114"/>
                  </a:cubicBezTo>
                  <a:cubicBezTo>
                    <a:pt x="604" y="114"/>
                    <a:pt x="682" y="139"/>
                    <a:pt x="747" y="183"/>
                  </a:cubicBezTo>
                  <a:cubicBezTo>
                    <a:pt x="830" y="103"/>
                    <a:pt x="830" y="103"/>
                    <a:pt x="830" y="103"/>
                  </a:cubicBezTo>
                  <a:cubicBezTo>
                    <a:pt x="743" y="39"/>
                    <a:pt x="636" y="0"/>
                    <a:pt x="520" y="1"/>
                  </a:cubicBezTo>
                  <a:cubicBezTo>
                    <a:pt x="233" y="1"/>
                    <a:pt x="0" y="234"/>
                    <a:pt x="0" y="521"/>
                  </a:cubicBezTo>
                  <a:cubicBezTo>
                    <a:pt x="0" y="808"/>
                    <a:pt x="233" y="1041"/>
                    <a:pt x="520" y="1041"/>
                  </a:cubicBezTo>
                  <a:cubicBezTo>
                    <a:pt x="807" y="1041"/>
                    <a:pt x="1040" y="808"/>
                    <a:pt x="1040" y="520"/>
                  </a:cubicBezTo>
                  <a:cubicBezTo>
                    <a:pt x="1040" y="480"/>
                    <a:pt x="1036" y="441"/>
                    <a:pt x="1027" y="403"/>
                  </a:cubicBezTo>
                  <a:lnTo>
                    <a:pt x="926" y="50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atinLnBrk="0"/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86" name="TextBox 9"/>
          <p:cNvSpPr txBox="1"/>
          <p:nvPr/>
        </p:nvSpPr>
        <p:spPr>
          <a:xfrm>
            <a:off x="577124" y="931585"/>
            <a:ext cx="7211590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1" latinLnBrk="0"/>
            <a:r>
              <a:rPr lang="ko-KR" altLang="en-US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이기종 금융 시스템의 로그를 </a:t>
            </a:r>
            <a:r>
              <a:rPr lang="ko-KR" altLang="en-US" sz="1200" spc="-30" dirty="0" err="1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저부하</a:t>
            </a:r>
            <a:r>
              <a:rPr lang="ko-KR" altLang="en-US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방식으로 수집</a:t>
            </a:r>
            <a:r>
              <a:rPr lang="en-US" altLang="ko-KR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·Kafka </a:t>
            </a:r>
            <a:r>
              <a:rPr lang="ko-KR" altLang="en-US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기반으로 안정 전송하여 </a:t>
            </a:r>
            <a:r>
              <a:rPr lang="en-US" altLang="ko-KR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Elasticsearch</a:t>
            </a:r>
            <a:r>
              <a:rPr lang="ko-KR" altLang="en-US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분산 저장</a:t>
            </a:r>
            <a:r>
              <a:rPr lang="en-US" altLang="ko-KR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검색합니다</a:t>
            </a:r>
            <a:r>
              <a:rPr lang="en-US" altLang="ko-KR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grpSp>
        <p:nvGrpSpPr>
          <p:cNvPr id="80" name="그룹 79"/>
          <p:cNvGrpSpPr/>
          <p:nvPr/>
        </p:nvGrpSpPr>
        <p:grpSpPr>
          <a:xfrm>
            <a:off x="415199" y="1140712"/>
            <a:ext cx="4088641" cy="184666"/>
            <a:chOff x="415199" y="1168869"/>
            <a:chExt cx="4088641" cy="184666"/>
          </a:xfrm>
        </p:grpSpPr>
        <p:grpSp>
          <p:nvGrpSpPr>
            <p:cNvPr id="81" name="그룹 80"/>
            <p:cNvGrpSpPr/>
            <p:nvPr/>
          </p:nvGrpSpPr>
          <p:grpSpPr>
            <a:xfrm>
              <a:off x="415199" y="1203258"/>
              <a:ext cx="120786" cy="115888"/>
              <a:chOff x="477838" y="1011238"/>
              <a:chExt cx="117476" cy="112712"/>
            </a:xfrm>
            <a:solidFill>
              <a:schemeClr val="bg1">
                <a:lumMod val="65000"/>
              </a:schemeClr>
            </a:solidFill>
          </p:grpSpPr>
          <p:sp>
            <p:nvSpPr>
              <p:cNvPr id="83" name="Freeform 10"/>
              <p:cNvSpPr>
                <a:spLocks/>
              </p:cNvSpPr>
              <p:nvPr/>
            </p:nvSpPr>
            <p:spPr bwMode="auto">
              <a:xfrm>
                <a:off x="498476" y="1022350"/>
                <a:ext cx="96838" cy="71437"/>
              </a:xfrm>
              <a:custGeom>
                <a:avLst/>
                <a:gdLst>
                  <a:gd name="T0" fmla="*/ 22 w 61"/>
                  <a:gd name="T1" fmla="*/ 45 h 45"/>
                  <a:gd name="T2" fmla="*/ 0 w 61"/>
                  <a:gd name="T3" fmla="*/ 23 h 45"/>
                  <a:gd name="T4" fmla="*/ 7 w 61"/>
                  <a:gd name="T5" fmla="*/ 17 h 45"/>
                  <a:gd name="T6" fmla="*/ 22 w 61"/>
                  <a:gd name="T7" fmla="*/ 32 h 45"/>
                  <a:gd name="T8" fmla="*/ 54 w 61"/>
                  <a:gd name="T9" fmla="*/ 0 h 45"/>
                  <a:gd name="T10" fmla="*/ 61 w 61"/>
                  <a:gd name="T11" fmla="*/ 7 h 45"/>
                  <a:gd name="T12" fmla="*/ 22 w 61"/>
                  <a:gd name="T13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45">
                    <a:moveTo>
                      <a:pt x="22" y="45"/>
                    </a:moveTo>
                    <a:lnTo>
                      <a:pt x="0" y="23"/>
                    </a:lnTo>
                    <a:lnTo>
                      <a:pt x="7" y="17"/>
                    </a:lnTo>
                    <a:lnTo>
                      <a:pt x="22" y="32"/>
                    </a:lnTo>
                    <a:lnTo>
                      <a:pt x="54" y="0"/>
                    </a:lnTo>
                    <a:lnTo>
                      <a:pt x="61" y="7"/>
                    </a:lnTo>
                    <a:lnTo>
                      <a:pt x="22" y="4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atinLnBrk="0"/>
                <a:endParaRPr lang="ko-KR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Freeform 11"/>
              <p:cNvSpPr>
                <a:spLocks/>
              </p:cNvSpPr>
              <p:nvPr/>
            </p:nvSpPr>
            <p:spPr bwMode="auto">
              <a:xfrm>
                <a:off x="477838" y="1011238"/>
                <a:ext cx="112713" cy="112712"/>
              </a:xfrm>
              <a:custGeom>
                <a:avLst/>
                <a:gdLst>
                  <a:gd name="T0" fmla="*/ 926 w 1040"/>
                  <a:gd name="T1" fmla="*/ 500 h 1041"/>
                  <a:gd name="T2" fmla="*/ 927 w 1040"/>
                  <a:gd name="T3" fmla="*/ 521 h 1041"/>
                  <a:gd name="T4" fmla="*/ 520 w 1040"/>
                  <a:gd name="T5" fmla="*/ 928 h 1041"/>
                  <a:gd name="T6" fmla="*/ 113 w 1040"/>
                  <a:gd name="T7" fmla="*/ 521 h 1041"/>
                  <a:gd name="T8" fmla="*/ 520 w 1040"/>
                  <a:gd name="T9" fmla="*/ 114 h 1041"/>
                  <a:gd name="T10" fmla="*/ 747 w 1040"/>
                  <a:gd name="T11" fmla="*/ 183 h 1041"/>
                  <a:gd name="T12" fmla="*/ 830 w 1040"/>
                  <a:gd name="T13" fmla="*/ 103 h 1041"/>
                  <a:gd name="T14" fmla="*/ 520 w 1040"/>
                  <a:gd name="T15" fmla="*/ 1 h 1041"/>
                  <a:gd name="T16" fmla="*/ 0 w 1040"/>
                  <a:gd name="T17" fmla="*/ 521 h 1041"/>
                  <a:gd name="T18" fmla="*/ 520 w 1040"/>
                  <a:gd name="T19" fmla="*/ 1041 h 1041"/>
                  <a:gd name="T20" fmla="*/ 1040 w 1040"/>
                  <a:gd name="T21" fmla="*/ 520 h 1041"/>
                  <a:gd name="T22" fmla="*/ 1027 w 1040"/>
                  <a:gd name="T23" fmla="*/ 403 h 1041"/>
                  <a:gd name="T24" fmla="*/ 926 w 1040"/>
                  <a:gd name="T25" fmla="*/ 500 h 10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40" h="1041">
                    <a:moveTo>
                      <a:pt x="926" y="500"/>
                    </a:moveTo>
                    <a:cubicBezTo>
                      <a:pt x="927" y="506"/>
                      <a:pt x="927" y="513"/>
                      <a:pt x="927" y="521"/>
                    </a:cubicBezTo>
                    <a:cubicBezTo>
                      <a:pt x="927" y="745"/>
                      <a:pt x="745" y="927"/>
                      <a:pt x="520" y="928"/>
                    </a:cubicBezTo>
                    <a:cubicBezTo>
                      <a:pt x="295" y="928"/>
                      <a:pt x="113" y="746"/>
                      <a:pt x="113" y="521"/>
                    </a:cubicBezTo>
                    <a:cubicBezTo>
                      <a:pt x="113" y="296"/>
                      <a:pt x="295" y="114"/>
                      <a:pt x="520" y="114"/>
                    </a:cubicBezTo>
                    <a:cubicBezTo>
                      <a:pt x="604" y="114"/>
                      <a:pt x="682" y="139"/>
                      <a:pt x="747" y="183"/>
                    </a:cubicBezTo>
                    <a:cubicBezTo>
                      <a:pt x="830" y="103"/>
                      <a:pt x="830" y="103"/>
                      <a:pt x="830" y="103"/>
                    </a:cubicBezTo>
                    <a:cubicBezTo>
                      <a:pt x="743" y="39"/>
                      <a:pt x="636" y="0"/>
                      <a:pt x="520" y="1"/>
                    </a:cubicBezTo>
                    <a:cubicBezTo>
                      <a:pt x="233" y="1"/>
                      <a:pt x="0" y="234"/>
                      <a:pt x="0" y="521"/>
                    </a:cubicBezTo>
                    <a:cubicBezTo>
                      <a:pt x="0" y="808"/>
                      <a:pt x="233" y="1041"/>
                      <a:pt x="520" y="1041"/>
                    </a:cubicBezTo>
                    <a:cubicBezTo>
                      <a:pt x="807" y="1041"/>
                      <a:pt x="1040" y="808"/>
                      <a:pt x="1040" y="520"/>
                    </a:cubicBezTo>
                    <a:cubicBezTo>
                      <a:pt x="1040" y="480"/>
                      <a:pt x="1036" y="441"/>
                      <a:pt x="1027" y="403"/>
                    </a:cubicBezTo>
                    <a:lnTo>
                      <a:pt x="926" y="50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atinLnBrk="0"/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2" name="TextBox 9"/>
            <p:cNvSpPr txBox="1"/>
            <p:nvPr/>
          </p:nvSpPr>
          <p:spPr>
            <a:xfrm>
              <a:off x="577124" y="1168869"/>
              <a:ext cx="392671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21" latinLnBrk="0"/>
              <a:r>
                <a:rPr lang="ko-KR" altLang="en-US" sz="1200" spc="-30" dirty="0"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업무</a:t>
              </a:r>
              <a:r>
                <a:rPr lang="en-US" altLang="ko-KR" sz="1200" spc="-30" dirty="0"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</a:t>
              </a:r>
              <a:r>
                <a:rPr lang="ko-KR" altLang="en-US" sz="1200" spc="-30" dirty="0"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서비스 흐름 중심의 실시간 통합 모니터링 환경을 제공합니다</a:t>
              </a:r>
              <a:r>
                <a:rPr lang="en-US" altLang="ko-KR" sz="1200" spc="-30" dirty="0"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.</a:t>
              </a:r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8005397" y="1261597"/>
            <a:ext cx="1485589" cy="187106"/>
            <a:chOff x="4899641" y="1714485"/>
            <a:chExt cx="1621709" cy="187106"/>
          </a:xfrm>
        </p:grpSpPr>
        <p:grpSp>
          <p:nvGrpSpPr>
            <p:cNvPr id="90" name="그룹 89"/>
            <p:cNvGrpSpPr/>
            <p:nvPr/>
          </p:nvGrpSpPr>
          <p:grpSpPr>
            <a:xfrm>
              <a:off x="4903555" y="1714485"/>
              <a:ext cx="1617795" cy="187106"/>
              <a:chOff x="4586156" y="1714485"/>
              <a:chExt cx="1617795" cy="187106"/>
            </a:xfrm>
          </p:grpSpPr>
          <p:sp>
            <p:nvSpPr>
              <p:cNvPr id="92" name="직사각형 91"/>
              <p:cNvSpPr/>
              <p:nvPr/>
            </p:nvSpPr>
            <p:spPr bwMode="gray">
              <a:xfrm>
                <a:off x="4586156" y="1714485"/>
                <a:ext cx="806183" cy="1871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요구사항 번호</a:t>
                </a:r>
              </a:p>
            </p:txBody>
          </p:sp>
          <p:sp>
            <p:nvSpPr>
              <p:cNvPr id="93" name="직사각형 92"/>
              <p:cNvSpPr/>
              <p:nvPr/>
            </p:nvSpPr>
            <p:spPr bwMode="gray">
              <a:xfrm>
                <a:off x="5392339" y="1714485"/>
                <a:ext cx="811612" cy="187106"/>
              </a:xfrm>
              <a:prstGeom prst="rect">
                <a:avLst/>
              </a:prstGeom>
              <a:solidFill>
                <a:srgbClr val="F5F5F6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SFR-IT-01</a:t>
                </a:r>
              </a:p>
            </p:txBody>
          </p:sp>
        </p:grpSp>
        <p:sp>
          <p:nvSpPr>
            <p:cNvPr id="91" name="자유형 90"/>
            <p:cNvSpPr/>
            <p:nvPr/>
          </p:nvSpPr>
          <p:spPr>
            <a:xfrm rot="10800000" flipV="1">
              <a:off x="4899641" y="1714485"/>
              <a:ext cx="1621708" cy="187105"/>
            </a:xfrm>
            <a:custGeom>
              <a:avLst/>
              <a:gdLst>
                <a:gd name="connsiteX0" fmla="*/ 0 w 2557462"/>
                <a:gd name="connsiteY0" fmla="*/ 320675 h 320675"/>
                <a:gd name="connsiteX1" fmla="*/ 0 w 2557462"/>
                <a:gd name="connsiteY1" fmla="*/ 0 h 320675"/>
                <a:gd name="connsiteX2" fmla="*/ 2557462 w 2557462"/>
                <a:gd name="connsiteY2" fmla="*/ 0 h 320675"/>
                <a:gd name="connsiteX3" fmla="*/ 2557462 w 2557462"/>
                <a:gd name="connsiteY3" fmla="*/ 320675 h 32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7462" h="320675">
                  <a:moveTo>
                    <a:pt x="0" y="320675"/>
                  </a:moveTo>
                  <a:lnTo>
                    <a:pt x="0" y="0"/>
                  </a:lnTo>
                  <a:lnTo>
                    <a:pt x="2557462" y="0"/>
                  </a:lnTo>
                  <a:lnTo>
                    <a:pt x="2557462" y="320675"/>
                  </a:lnTo>
                </a:path>
              </a:pathLst>
            </a:custGeom>
            <a:noFill/>
            <a:ln w="9525" cap="flat">
              <a:solidFill>
                <a:srgbClr val="C5C8CD"/>
              </a:solidFill>
              <a:prstDash val="solid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>
                <a:solidFill>
                  <a:prstClr val="black"/>
                </a:solidFill>
                <a:latin typeface="Calibri" panose="020F0502020204030204"/>
                <a:ea typeface="페이퍼로지 4 Regular" pitchFamily="2" charset="-127"/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416358" y="1694673"/>
            <a:ext cx="1538783" cy="200055"/>
            <a:chOff x="416358" y="1571870"/>
            <a:chExt cx="1538783" cy="200055"/>
          </a:xfrm>
        </p:grpSpPr>
        <p:sp>
          <p:nvSpPr>
            <p:cNvPr id="24" name="Text Box 79"/>
            <p:cNvSpPr txBox="1">
              <a:spLocks noChangeArrowheads="1"/>
            </p:cNvSpPr>
            <p:nvPr/>
          </p:nvSpPr>
          <p:spPr bwMode="gray">
            <a:xfrm>
              <a:off x="546101" y="1571870"/>
              <a:ext cx="1409040" cy="200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r>
                <a:rPr lang="ko-KR" altLang="en-US" sz="1300" dirty="0"/>
                <a:t>통합로그 시스템 구성</a:t>
              </a:r>
            </a:p>
          </p:txBody>
        </p:sp>
        <p:grpSp>
          <p:nvGrpSpPr>
            <p:cNvPr id="25" name="그룹 24"/>
            <p:cNvGrpSpPr/>
            <p:nvPr/>
          </p:nvGrpSpPr>
          <p:grpSpPr>
            <a:xfrm>
              <a:off x="416358" y="1591470"/>
              <a:ext cx="103211" cy="165425"/>
              <a:chOff x="-120217" y="1731639"/>
              <a:chExt cx="98259" cy="157488"/>
            </a:xfrm>
          </p:grpSpPr>
          <p:sp>
            <p:nvSpPr>
              <p:cNvPr id="26" name="자유형 25">
                <a:extLst>
                  <a:ext uri="{FF2B5EF4-FFF2-40B4-BE49-F238E27FC236}">
                    <a16:creationId xmlns:a16="http://schemas.microsoft.com/office/drawing/2014/main" id="{21C21511-1E6E-4246-B66C-015641606DD0}"/>
                  </a:ext>
                </a:extLst>
              </p:cNvPr>
              <p:cNvSpPr/>
              <p:nvPr/>
            </p:nvSpPr>
            <p:spPr>
              <a:xfrm rot="5400000">
                <a:off x="-110611" y="1722036"/>
                <a:ext cx="79048" cy="98257"/>
              </a:xfrm>
              <a:custGeom>
                <a:avLst/>
                <a:gdLst>
                  <a:gd name="connsiteX0" fmla="*/ 0 w 79048"/>
                  <a:gd name="connsiteY0" fmla="*/ 98257 h 98257"/>
                  <a:gd name="connsiteX1" fmla="*/ 15638 w 79048"/>
                  <a:gd name="connsiteY1" fmla="*/ 78743 h 98257"/>
                  <a:gd name="connsiteX2" fmla="*/ 78742 w 79048"/>
                  <a:gd name="connsiteY2" fmla="*/ 0 h 98257"/>
                  <a:gd name="connsiteX3" fmla="*/ 79048 w 79048"/>
                  <a:gd name="connsiteY3" fmla="*/ 382 h 98257"/>
                  <a:gd name="connsiteX4" fmla="*/ 79048 w 79048"/>
                  <a:gd name="connsiteY4" fmla="*/ 54925 h 98257"/>
                  <a:gd name="connsiteX5" fmla="*/ 78743 w 79048"/>
                  <a:gd name="connsiteY5" fmla="*/ 54544 h 98257"/>
                  <a:gd name="connsiteX6" fmla="*/ 43712 w 79048"/>
                  <a:gd name="connsiteY6" fmla="*/ 98257 h 98257"/>
                  <a:gd name="connsiteX7" fmla="*/ 0 w 79048"/>
                  <a:gd name="connsiteY7" fmla="*/ 98257 h 9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048" h="98257">
                    <a:moveTo>
                      <a:pt x="0" y="98257"/>
                    </a:moveTo>
                    <a:lnTo>
                      <a:pt x="15638" y="78743"/>
                    </a:lnTo>
                    <a:lnTo>
                      <a:pt x="78742" y="0"/>
                    </a:lnTo>
                    <a:lnTo>
                      <a:pt x="79048" y="382"/>
                    </a:lnTo>
                    <a:lnTo>
                      <a:pt x="79048" y="54925"/>
                    </a:lnTo>
                    <a:lnTo>
                      <a:pt x="78743" y="54544"/>
                    </a:lnTo>
                    <a:lnTo>
                      <a:pt x="43712" y="98257"/>
                    </a:lnTo>
                    <a:lnTo>
                      <a:pt x="0" y="98257"/>
                    </a:lnTo>
                    <a:close/>
                  </a:path>
                </a:pathLst>
              </a:custGeom>
              <a:solidFill>
                <a:srgbClr val="0158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7" name="자유형 26">
                <a:extLst>
                  <a:ext uri="{FF2B5EF4-FFF2-40B4-BE49-F238E27FC236}">
                    <a16:creationId xmlns:a16="http://schemas.microsoft.com/office/drawing/2014/main" id="{21C21511-1E6E-4246-B66C-015641606DD0}"/>
                  </a:ext>
                </a:extLst>
              </p:cNvPr>
              <p:cNvSpPr/>
              <p:nvPr/>
            </p:nvSpPr>
            <p:spPr>
              <a:xfrm rot="5400000">
                <a:off x="-132316" y="1743738"/>
                <a:ext cx="43714" cy="19515"/>
              </a:xfrm>
              <a:custGeom>
                <a:avLst/>
                <a:gdLst>
                  <a:gd name="connsiteX0" fmla="*/ 0 w 43714"/>
                  <a:gd name="connsiteY0" fmla="*/ 19515 h 19515"/>
                  <a:gd name="connsiteX1" fmla="*/ 15640 w 43714"/>
                  <a:gd name="connsiteY1" fmla="*/ 0 h 19515"/>
                  <a:gd name="connsiteX2" fmla="*/ 2 w 43714"/>
                  <a:gd name="connsiteY2" fmla="*/ 19514 h 19515"/>
                  <a:gd name="connsiteX3" fmla="*/ 43714 w 43714"/>
                  <a:gd name="connsiteY3" fmla="*/ 19514 h 19515"/>
                  <a:gd name="connsiteX4" fmla="*/ 43713 w 43714"/>
                  <a:gd name="connsiteY4" fmla="*/ 19515 h 19515"/>
                  <a:gd name="connsiteX5" fmla="*/ 0 w 43714"/>
                  <a:gd name="connsiteY5" fmla="*/ 19515 h 1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714" h="19515">
                    <a:moveTo>
                      <a:pt x="0" y="19515"/>
                    </a:moveTo>
                    <a:lnTo>
                      <a:pt x="15640" y="0"/>
                    </a:lnTo>
                    <a:lnTo>
                      <a:pt x="2" y="19514"/>
                    </a:lnTo>
                    <a:lnTo>
                      <a:pt x="43714" y="19514"/>
                    </a:lnTo>
                    <a:lnTo>
                      <a:pt x="43713" y="19515"/>
                    </a:lnTo>
                    <a:lnTo>
                      <a:pt x="0" y="1951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8" name="자유형 27">
                <a:extLst>
                  <a:ext uri="{FF2B5EF4-FFF2-40B4-BE49-F238E27FC236}">
                    <a16:creationId xmlns:a16="http://schemas.microsoft.com/office/drawing/2014/main" id="{21C21511-1E6E-4246-B66C-015641606DD0}"/>
                  </a:ext>
                </a:extLst>
              </p:cNvPr>
              <p:cNvSpPr/>
              <p:nvPr/>
            </p:nvSpPr>
            <p:spPr>
              <a:xfrm rot="5400000">
                <a:off x="-93035" y="1739611"/>
                <a:ext cx="63410" cy="78744"/>
              </a:xfrm>
              <a:custGeom>
                <a:avLst/>
                <a:gdLst>
                  <a:gd name="connsiteX0" fmla="*/ 0 w 63410"/>
                  <a:gd name="connsiteY0" fmla="*/ 78744 h 78744"/>
                  <a:gd name="connsiteX1" fmla="*/ 63104 w 63410"/>
                  <a:gd name="connsiteY1" fmla="*/ 0 h 78744"/>
                  <a:gd name="connsiteX2" fmla="*/ 63410 w 63410"/>
                  <a:gd name="connsiteY2" fmla="*/ 381 h 78744"/>
                  <a:gd name="connsiteX3" fmla="*/ 63410 w 63410"/>
                  <a:gd name="connsiteY3" fmla="*/ 383 h 78744"/>
                  <a:gd name="connsiteX4" fmla="*/ 63104 w 63410"/>
                  <a:gd name="connsiteY4" fmla="*/ 1 h 78744"/>
                  <a:gd name="connsiteX5" fmla="*/ 0 w 63410"/>
                  <a:gd name="connsiteY5" fmla="*/ 78744 h 7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10" h="78744">
                    <a:moveTo>
                      <a:pt x="0" y="78744"/>
                    </a:moveTo>
                    <a:lnTo>
                      <a:pt x="63104" y="0"/>
                    </a:lnTo>
                    <a:lnTo>
                      <a:pt x="63410" y="381"/>
                    </a:lnTo>
                    <a:lnTo>
                      <a:pt x="63410" y="383"/>
                    </a:lnTo>
                    <a:lnTo>
                      <a:pt x="63104" y="1"/>
                    </a:lnTo>
                    <a:lnTo>
                      <a:pt x="0" y="787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9" name="자유형 28">
                <a:extLst>
                  <a:ext uri="{FF2B5EF4-FFF2-40B4-BE49-F238E27FC236}">
                    <a16:creationId xmlns:a16="http://schemas.microsoft.com/office/drawing/2014/main" id="{21C21511-1E6E-4246-B66C-015641606DD0}"/>
                  </a:ext>
                </a:extLst>
              </p:cNvPr>
              <p:cNvSpPr/>
              <p:nvPr/>
            </p:nvSpPr>
            <p:spPr>
              <a:xfrm rot="5400000">
                <a:off x="-110497" y="1800971"/>
                <a:ext cx="78437" cy="97876"/>
              </a:xfrm>
              <a:custGeom>
                <a:avLst/>
                <a:gdLst>
                  <a:gd name="connsiteX0" fmla="*/ 0 w 78437"/>
                  <a:gd name="connsiteY0" fmla="*/ 54543 h 97876"/>
                  <a:gd name="connsiteX1" fmla="*/ 0 w 78437"/>
                  <a:gd name="connsiteY1" fmla="*/ 0 h 97876"/>
                  <a:gd name="connsiteX2" fmla="*/ 78437 w 78437"/>
                  <a:gd name="connsiteY2" fmla="*/ 97876 h 97876"/>
                  <a:gd name="connsiteX3" fmla="*/ 34726 w 78437"/>
                  <a:gd name="connsiteY3" fmla="*/ 97876 h 97876"/>
                  <a:gd name="connsiteX4" fmla="*/ 0 w 78437"/>
                  <a:gd name="connsiteY4" fmla="*/ 54543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37" h="97876">
                    <a:moveTo>
                      <a:pt x="0" y="54543"/>
                    </a:moveTo>
                    <a:lnTo>
                      <a:pt x="0" y="0"/>
                    </a:lnTo>
                    <a:lnTo>
                      <a:pt x="78437" y="97876"/>
                    </a:lnTo>
                    <a:lnTo>
                      <a:pt x="34726" y="97876"/>
                    </a:lnTo>
                    <a:lnTo>
                      <a:pt x="0" y="54543"/>
                    </a:lnTo>
                    <a:close/>
                  </a:path>
                </a:pathLst>
              </a:custGeom>
              <a:solidFill>
                <a:srgbClr val="0209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srgbClr val="01033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4" name="그룹 53"/>
          <p:cNvGrpSpPr/>
          <p:nvPr/>
        </p:nvGrpSpPr>
        <p:grpSpPr>
          <a:xfrm>
            <a:off x="6823591" y="1881188"/>
            <a:ext cx="2667209" cy="387350"/>
            <a:chOff x="6823591" y="1952625"/>
            <a:chExt cx="2667209" cy="387350"/>
          </a:xfrm>
        </p:grpSpPr>
        <p:sp>
          <p:nvSpPr>
            <p:cNvPr id="55" name="직사각형 54"/>
            <p:cNvSpPr/>
            <p:nvPr/>
          </p:nvSpPr>
          <p:spPr>
            <a:xfrm>
              <a:off x="7393368" y="2007800"/>
              <a:ext cx="1527662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dirty="0">
                  <a:solidFill>
                    <a:srgbClr val="02095A"/>
                  </a:solidFill>
                  <a:latin typeface="페이퍼로지 8 ExtraBold" pitchFamily="2" charset="-127"/>
                  <a:ea typeface="페이퍼로지 8 ExtraBold" pitchFamily="2" charset="-127"/>
                  <a:cs typeface="Arial" panose="020B0604020202020204" pitchFamily="34" charset="0"/>
                </a:rPr>
                <a:t>시스템 구성 상세</a:t>
              </a:r>
            </a:p>
          </p:txBody>
        </p:sp>
        <p:cxnSp>
          <p:nvCxnSpPr>
            <p:cNvPr id="56" name="직선 연결선 55"/>
            <p:cNvCxnSpPr/>
            <p:nvPr/>
          </p:nvCxnSpPr>
          <p:spPr>
            <a:xfrm>
              <a:off x="6823591" y="2339975"/>
              <a:ext cx="2667209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6823591" y="1952625"/>
              <a:ext cx="2667209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직선 연결선 57"/>
          <p:cNvCxnSpPr/>
          <p:nvPr/>
        </p:nvCxnSpPr>
        <p:spPr>
          <a:xfrm>
            <a:off x="6823591" y="6273316"/>
            <a:ext cx="2667209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6823591" y="3248980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6823591" y="4221088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6823591" y="5193196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2" name="그룹 61"/>
          <p:cNvGrpSpPr/>
          <p:nvPr/>
        </p:nvGrpSpPr>
        <p:grpSpPr>
          <a:xfrm>
            <a:off x="6831904" y="2398664"/>
            <a:ext cx="2655779" cy="759452"/>
            <a:chOff x="6831904" y="2398664"/>
            <a:chExt cx="2655779" cy="759452"/>
          </a:xfrm>
        </p:grpSpPr>
        <p:sp>
          <p:nvSpPr>
            <p:cNvPr id="63" name="Rectangle 25"/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53860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경량 에이전트 기반 증분 수집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다양한 입력 플러그인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표준화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민감정보 </a:t>
              </a: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마스킹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암호화</a:t>
              </a:r>
            </a:p>
          </p:txBody>
        </p:sp>
        <p:sp>
          <p:nvSpPr>
            <p:cNvPr id="64" name="Rectangle 25"/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로그 수집</a:t>
              </a: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1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6831904" y="3358443"/>
            <a:ext cx="2655779" cy="754633"/>
            <a:chOff x="6831904" y="2398664"/>
            <a:chExt cx="2655779" cy="754633"/>
          </a:xfrm>
        </p:grpSpPr>
        <p:sp>
          <p:nvSpPr>
            <p:cNvPr id="67" name="Rectangle 25"/>
            <p:cNvSpPr>
              <a:spLocks noChangeArrowheads="1"/>
            </p:cNvSpPr>
            <p:nvPr/>
          </p:nvSpPr>
          <p:spPr bwMode="auto">
            <a:xfrm flipH="1">
              <a:off x="7103169" y="2614688"/>
              <a:ext cx="2384514" cy="53860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Kafka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토픽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파티션 설계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압축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변환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전송구간 암호화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버퍼링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병렬 처리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재처리</a:t>
              </a:r>
            </a:p>
          </p:txBody>
        </p:sp>
        <p:sp>
          <p:nvSpPr>
            <p:cNvPr id="68" name="Rectangle 25"/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로그 전송</a:t>
              </a: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6831904" y="4350413"/>
            <a:ext cx="2655779" cy="759452"/>
            <a:chOff x="6831904" y="2398664"/>
            <a:chExt cx="2655779" cy="759452"/>
          </a:xfrm>
        </p:grpSpPr>
        <p:sp>
          <p:nvSpPr>
            <p:cNvPr id="71" name="Rectangle 25"/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53860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Elasticsearch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분산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·Replica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구성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ILM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기반 수평 확장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Snapshot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백업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선택적 복구</a:t>
              </a:r>
            </a:p>
          </p:txBody>
        </p:sp>
        <p:sp>
          <p:nvSpPr>
            <p:cNvPr id="72" name="Rectangle 25"/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로그 저장</a:t>
              </a: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3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6831904" y="5321504"/>
            <a:ext cx="2655779" cy="759452"/>
            <a:chOff x="6831904" y="2398664"/>
            <a:chExt cx="2655779" cy="759452"/>
          </a:xfrm>
        </p:grpSpPr>
        <p:sp>
          <p:nvSpPr>
            <p:cNvPr id="75" name="Rectangle 25"/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53860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저널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운영로그 </a:t>
              </a:r>
              <a:r>
                <a:rPr lang="en-US" altLang="ko-KR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Index·Mapping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최적화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대규모 고속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유연한 통합검색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실시간 모니터링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이상징후 탐지</a:t>
              </a:r>
            </a:p>
          </p:txBody>
        </p:sp>
        <p:sp>
          <p:nvSpPr>
            <p:cNvPr id="76" name="Rectangle 25"/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로그 검색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·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분석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4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" name="Group 27">
            <a:extLst>
              <a:ext uri="{FF2B5EF4-FFF2-40B4-BE49-F238E27FC236}">
                <a16:creationId xmlns:a16="http://schemas.microsoft.com/office/drawing/2014/main" id="{533CD866-B623-CFD3-DC21-8C82CE2086E9}"/>
              </a:ext>
            </a:extLst>
          </p:cNvPr>
          <p:cNvGrpSpPr/>
          <p:nvPr/>
        </p:nvGrpSpPr>
        <p:grpSpPr>
          <a:xfrm>
            <a:off x="391517" y="2013792"/>
            <a:ext cx="1409040" cy="3215408"/>
            <a:chOff x="412270" y="1888878"/>
            <a:chExt cx="544286" cy="446405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865F15E-A2E1-D887-10A3-10DEC7C34150}"/>
                </a:ext>
              </a:extLst>
            </p:cNvPr>
            <p:cNvSpPr/>
            <p:nvPr/>
          </p:nvSpPr>
          <p:spPr>
            <a:xfrm>
              <a:off x="433150" y="1888878"/>
              <a:ext cx="515418" cy="44640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158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62531" tIns="81264" rIns="162531" bIns="81264"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defTabSz="914377" latinLnBrk="0"/>
              <a:endParaRPr lang="ko-KR" altLang="en-US" sz="1050" dirty="0">
                <a:solidFill>
                  <a:srgbClr val="0158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" name="AutoShape 227">
              <a:extLst>
                <a:ext uri="{FF2B5EF4-FFF2-40B4-BE49-F238E27FC236}">
                  <a16:creationId xmlns:a16="http://schemas.microsoft.com/office/drawing/2014/main" id="{F5639736-EA0B-F40F-8A8D-2DF7808B318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2270" y="5803779"/>
              <a:ext cx="544286" cy="2243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en-US" altLang="ko-KR" sz="1050" spc="-30" dirty="0">
                  <a:solidFill>
                    <a:srgbClr val="0158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Kibana</a:t>
              </a: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C585665-C548-5FFC-ABDE-BC966C6F9035}"/>
                </a:ext>
              </a:extLst>
            </p:cNvPr>
            <p:cNvGrpSpPr/>
            <p:nvPr/>
          </p:nvGrpSpPr>
          <p:grpSpPr>
            <a:xfrm>
              <a:off x="480473" y="2752528"/>
              <a:ext cx="420770" cy="110305"/>
              <a:chOff x="480473" y="4290361"/>
              <a:chExt cx="420770" cy="110305"/>
            </a:xfrm>
          </p:grpSpPr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887C2A2B-D993-3FC7-DA45-484C4B9AC242}"/>
                  </a:ext>
                </a:extLst>
              </p:cNvPr>
              <p:cNvCxnSpPr/>
              <p:nvPr/>
            </p:nvCxnSpPr>
            <p:spPr>
              <a:xfrm>
                <a:off x="480473" y="4293096"/>
                <a:ext cx="420770" cy="0"/>
              </a:xfrm>
              <a:prstGeom prst="line">
                <a:avLst/>
              </a:prstGeom>
              <a:noFill/>
              <a:ln w="3175">
                <a:solidFill>
                  <a:srgbClr val="0158FF"/>
                </a:solidFill>
                <a:prstDash val="solid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CDD1D3FB-74A3-1485-27DE-8798FE91D40C}"/>
                  </a:ext>
                </a:extLst>
              </p:cNvPr>
              <p:cNvGrpSpPr/>
              <p:nvPr/>
            </p:nvGrpSpPr>
            <p:grpSpPr>
              <a:xfrm>
                <a:off x="608332" y="4290361"/>
                <a:ext cx="165054" cy="110305"/>
                <a:chOff x="867998" y="5859414"/>
                <a:chExt cx="331193" cy="180313"/>
              </a:xfrm>
            </p:grpSpPr>
            <p:sp>
              <p:nvSpPr>
                <p:cNvPr id="35" name="이등변 삼각형 34">
                  <a:extLst>
                    <a:ext uri="{FF2B5EF4-FFF2-40B4-BE49-F238E27FC236}">
                      <a16:creationId xmlns:a16="http://schemas.microsoft.com/office/drawing/2014/main" id="{3F0ABEEB-79C4-F579-501A-0CF94049F701}"/>
                    </a:ext>
                  </a:extLst>
                </p:cNvPr>
                <p:cNvSpPr/>
                <p:nvPr/>
              </p:nvSpPr>
              <p:spPr>
                <a:xfrm rot="10800000">
                  <a:off x="915454" y="5859414"/>
                  <a:ext cx="236280" cy="11434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/>
                </a:bodyPr>
                <a:lstStyle/>
                <a:p>
                  <a:pPr algn="ctr" latinLnBrk="0"/>
                  <a:endParaRPr lang="ko-KR" altLang="en-US" sz="200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36" name="자유형 56">
                  <a:extLst>
                    <a:ext uri="{FF2B5EF4-FFF2-40B4-BE49-F238E27FC236}">
                      <a16:creationId xmlns:a16="http://schemas.microsoft.com/office/drawing/2014/main" id="{0B837E07-0707-5797-C945-D5FEC3BA76ED}"/>
                    </a:ext>
                  </a:extLst>
                </p:cNvPr>
                <p:cNvSpPr/>
                <p:nvPr/>
              </p:nvSpPr>
              <p:spPr>
                <a:xfrm rot="10800000">
                  <a:off x="867998" y="5874662"/>
                  <a:ext cx="331193" cy="165065"/>
                </a:xfrm>
                <a:custGeom>
                  <a:avLst/>
                  <a:gdLst>
                    <a:gd name="connsiteX0" fmla="*/ 0 w 327308"/>
                    <a:gd name="connsiteY0" fmla="*/ 163130 h 163130"/>
                    <a:gd name="connsiteX1" fmla="*/ 163654 w 327308"/>
                    <a:gd name="connsiteY1" fmla="*/ 0 h 163130"/>
                    <a:gd name="connsiteX2" fmla="*/ 327308 w 327308"/>
                    <a:gd name="connsiteY2" fmla="*/ 163130 h 163130"/>
                    <a:gd name="connsiteX3" fmla="*/ 266789 w 327308"/>
                    <a:gd name="connsiteY3" fmla="*/ 163130 h 163130"/>
                    <a:gd name="connsiteX4" fmla="*/ 163654 w 327308"/>
                    <a:gd name="connsiteY4" fmla="*/ 60325 h 163130"/>
                    <a:gd name="connsiteX5" fmla="*/ 60519 w 327308"/>
                    <a:gd name="connsiteY5" fmla="*/ 163130 h 163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7308" h="163130">
                      <a:moveTo>
                        <a:pt x="0" y="163130"/>
                      </a:moveTo>
                      <a:lnTo>
                        <a:pt x="163654" y="0"/>
                      </a:lnTo>
                      <a:lnTo>
                        <a:pt x="327308" y="163130"/>
                      </a:lnTo>
                      <a:lnTo>
                        <a:pt x="266789" y="163130"/>
                      </a:lnTo>
                      <a:lnTo>
                        <a:pt x="163654" y="60325"/>
                      </a:lnTo>
                      <a:lnTo>
                        <a:pt x="60519" y="163130"/>
                      </a:lnTo>
                      <a:close/>
                    </a:path>
                  </a:pathLst>
                </a:custGeom>
                <a:solidFill>
                  <a:srgbClr val="0158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scene3d>
                    <a:camera prst="orthographicFront"/>
                    <a:lightRig rig="threePt" dir="t"/>
                  </a:scene3d>
                  <a:sp3d/>
                </a:bodyPr>
                <a:lstStyle/>
                <a:p>
                  <a:pPr algn="ctr" latinLnBrk="0"/>
                  <a:endParaRPr lang="ko-KR" altLang="en-US" sz="120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9B219E2-BCC5-4858-3296-0179222583D6}"/>
                </a:ext>
              </a:extLst>
            </p:cNvPr>
            <p:cNvGrpSpPr/>
            <p:nvPr/>
          </p:nvGrpSpPr>
          <p:grpSpPr>
            <a:xfrm>
              <a:off x="477780" y="3650335"/>
              <a:ext cx="420770" cy="110305"/>
              <a:chOff x="480473" y="4290361"/>
              <a:chExt cx="420770" cy="110305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EE070860-5196-1C2F-64BC-409FC30DDD8E}"/>
                  </a:ext>
                </a:extLst>
              </p:cNvPr>
              <p:cNvCxnSpPr/>
              <p:nvPr/>
            </p:nvCxnSpPr>
            <p:spPr>
              <a:xfrm>
                <a:off x="480473" y="4293096"/>
                <a:ext cx="420770" cy="0"/>
              </a:xfrm>
              <a:prstGeom prst="line">
                <a:avLst/>
              </a:prstGeom>
              <a:noFill/>
              <a:ln w="3175">
                <a:solidFill>
                  <a:srgbClr val="0158FF"/>
                </a:solidFill>
                <a:prstDash val="solid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D3835D6F-0E95-FCA1-C83D-428ED96764C5}"/>
                  </a:ext>
                </a:extLst>
              </p:cNvPr>
              <p:cNvGrpSpPr/>
              <p:nvPr/>
            </p:nvGrpSpPr>
            <p:grpSpPr>
              <a:xfrm>
                <a:off x="608332" y="4290361"/>
                <a:ext cx="165054" cy="110305"/>
                <a:chOff x="867998" y="5859414"/>
                <a:chExt cx="331193" cy="180313"/>
              </a:xfrm>
            </p:grpSpPr>
            <p:sp>
              <p:nvSpPr>
                <p:cNvPr id="31" name="이등변 삼각형 30">
                  <a:extLst>
                    <a:ext uri="{FF2B5EF4-FFF2-40B4-BE49-F238E27FC236}">
                      <a16:creationId xmlns:a16="http://schemas.microsoft.com/office/drawing/2014/main" id="{A587714B-DCF8-AB8B-7A52-1A485A700CCC}"/>
                    </a:ext>
                  </a:extLst>
                </p:cNvPr>
                <p:cNvSpPr/>
                <p:nvPr/>
              </p:nvSpPr>
              <p:spPr>
                <a:xfrm rot="10800000">
                  <a:off x="915454" y="5859414"/>
                  <a:ext cx="236280" cy="11434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/>
                </a:bodyPr>
                <a:lstStyle/>
                <a:p>
                  <a:pPr algn="ctr" latinLnBrk="0"/>
                  <a:endParaRPr lang="ko-KR" altLang="en-US" sz="200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32" name="자유형 56">
                  <a:extLst>
                    <a:ext uri="{FF2B5EF4-FFF2-40B4-BE49-F238E27FC236}">
                      <a16:creationId xmlns:a16="http://schemas.microsoft.com/office/drawing/2014/main" id="{A4D23F6F-CF02-987A-C8AA-2CD60AFEC9B6}"/>
                    </a:ext>
                  </a:extLst>
                </p:cNvPr>
                <p:cNvSpPr/>
                <p:nvPr/>
              </p:nvSpPr>
              <p:spPr>
                <a:xfrm rot="10800000">
                  <a:off x="867998" y="5874662"/>
                  <a:ext cx="331193" cy="165065"/>
                </a:xfrm>
                <a:custGeom>
                  <a:avLst/>
                  <a:gdLst>
                    <a:gd name="connsiteX0" fmla="*/ 0 w 327308"/>
                    <a:gd name="connsiteY0" fmla="*/ 163130 h 163130"/>
                    <a:gd name="connsiteX1" fmla="*/ 163654 w 327308"/>
                    <a:gd name="connsiteY1" fmla="*/ 0 h 163130"/>
                    <a:gd name="connsiteX2" fmla="*/ 327308 w 327308"/>
                    <a:gd name="connsiteY2" fmla="*/ 163130 h 163130"/>
                    <a:gd name="connsiteX3" fmla="*/ 266789 w 327308"/>
                    <a:gd name="connsiteY3" fmla="*/ 163130 h 163130"/>
                    <a:gd name="connsiteX4" fmla="*/ 163654 w 327308"/>
                    <a:gd name="connsiteY4" fmla="*/ 60325 h 163130"/>
                    <a:gd name="connsiteX5" fmla="*/ 60519 w 327308"/>
                    <a:gd name="connsiteY5" fmla="*/ 163130 h 163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7308" h="163130">
                      <a:moveTo>
                        <a:pt x="0" y="163130"/>
                      </a:moveTo>
                      <a:lnTo>
                        <a:pt x="163654" y="0"/>
                      </a:lnTo>
                      <a:lnTo>
                        <a:pt x="327308" y="163130"/>
                      </a:lnTo>
                      <a:lnTo>
                        <a:pt x="266789" y="163130"/>
                      </a:lnTo>
                      <a:lnTo>
                        <a:pt x="163654" y="60325"/>
                      </a:lnTo>
                      <a:lnTo>
                        <a:pt x="60519" y="163130"/>
                      </a:lnTo>
                      <a:close/>
                    </a:path>
                  </a:pathLst>
                </a:custGeom>
                <a:solidFill>
                  <a:srgbClr val="0158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scene3d>
                    <a:camera prst="orthographicFront"/>
                    <a:lightRig rig="threePt" dir="t"/>
                  </a:scene3d>
                  <a:sp3d/>
                </a:bodyPr>
                <a:lstStyle/>
                <a:p>
                  <a:pPr algn="ctr" latinLnBrk="0"/>
                  <a:endParaRPr lang="ko-KR" altLang="en-US" sz="120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8E3DA35-E9D3-A196-663A-5DF3BDA75DB2}"/>
                </a:ext>
              </a:extLst>
            </p:cNvPr>
            <p:cNvGrpSpPr/>
            <p:nvPr/>
          </p:nvGrpSpPr>
          <p:grpSpPr>
            <a:xfrm>
              <a:off x="488504" y="4550435"/>
              <a:ext cx="420770" cy="110305"/>
              <a:chOff x="480473" y="4290361"/>
              <a:chExt cx="420770" cy="110305"/>
            </a:xfrm>
          </p:grpSpPr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4F049E2C-4602-BEFC-128D-12D78EBE4B92}"/>
                  </a:ext>
                </a:extLst>
              </p:cNvPr>
              <p:cNvCxnSpPr/>
              <p:nvPr/>
            </p:nvCxnSpPr>
            <p:spPr>
              <a:xfrm>
                <a:off x="480473" y="4293096"/>
                <a:ext cx="420770" cy="0"/>
              </a:xfrm>
              <a:prstGeom prst="line">
                <a:avLst/>
              </a:prstGeom>
              <a:noFill/>
              <a:ln w="3175">
                <a:solidFill>
                  <a:srgbClr val="0158FF"/>
                </a:solidFill>
                <a:prstDash val="solid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AEA6A2BA-4A60-1961-BDF8-9E872307FBAF}"/>
                  </a:ext>
                </a:extLst>
              </p:cNvPr>
              <p:cNvGrpSpPr/>
              <p:nvPr/>
            </p:nvGrpSpPr>
            <p:grpSpPr>
              <a:xfrm>
                <a:off x="608332" y="4290361"/>
                <a:ext cx="165054" cy="110305"/>
                <a:chOff x="867998" y="5859414"/>
                <a:chExt cx="331193" cy="180313"/>
              </a:xfrm>
            </p:grpSpPr>
            <p:sp>
              <p:nvSpPr>
                <p:cNvPr id="19" name="이등변 삼각형 18">
                  <a:extLst>
                    <a:ext uri="{FF2B5EF4-FFF2-40B4-BE49-F238E27FC236}">
                      <a16:creationId xmlns:a16="http://schemas.microsoft.com/office/drawing/2014/main" id="{B488130A-40B1-09A7-6290-F4C12262F690}"/>
                    </a:ext>
                  </a:extLst>
                </p:cNvPr>
                <p:cNvSpPr/>
                <p:nvPr/>
              </p:nvSpPr>
              <p:spPr>
                <a:xfrm rot="10800000">
                  <a:off x="915454" y="5859414"/>
                  <a:ext cx="236280" cy="11434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/>
                </a:bodyPr>
                <a:lstStyle/>
                <a:p>
                  <a:pPr algn="ctr" latinLnBrk="0"/>
                  <a:endParaRPr lang="ko-KR" altLang="en-US" sz="200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20" name="자유형 56">
                  <a:extLst>
                    <a:ext uri="{FF2B5EF4-FFF2-40B4-BE49-F238E27FC236}">
                      <a16:creationId xmlns:a16="http://schemas.microsoft.com/office/drawing/2014/main" id="{AAF6605C-6DFA-0DDA-928B-FDB9C0DA2F9C}"/>
                    </a:ext>
                  </a:extLst>
                </p:cNvPr>
                <p:cNvSpPr/>
                <p:nvPr/>
              </p:nvSpPr>
              <p:spPr>
                <a:xfrm rot="10800000">
                  <a:off x="867998" y="5874662"/>
                  <a:ext cx="331193" cy="165065"/>
                </a:xfrm>
                <a:custGeom>
                  <a:avLst/>
                  <a:gdLst>
                    <a:gd name="connsiteX0" fmla="*/ 0 w 327308"/>
                    <a:gd name="connsiteY0" fmla="*/ 163130 h 163130"/>
                    <a:gd name="connsiteX1" fmla="*/ 163654 w 327308"/>
                    <a:gd name="connsiteY1" fmla="*/ 0 h 163130"/>
                    <a:gd name="connsiteX2" fmla="*/ 327308 w 327308"/>
                    <a:gd name="connsiteY2" fmla="*/ 163130 h 163130"/>
                    <a:gd name="connsiteX3" fmla="*/ 266789 w 327308"/>
                    <a:gd name="connsiteY3" fmla="*/ 163130 h 163130"/>
                    <a:gd name="connsiteX4" fmla="*/ 163654 w 327308"/>
                    <a:gd name="connsiteY4" fmla="*/ 60325 h 163130"/>
                    <a:gd name="connsiteX5" fmla="*/ 60519 w 327308"/>
                    <a:gd name="connsiteY5" fmla="*/ 163130 h 163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7308" h="163130">
                      <a:moveTo>
                        <a:pt x="0" y="163130"/>
                      </a:moveTo>
                      <a:lnTo>
                        <a:pt x="163654" y="0"/>
                      </a:lnTo>
                      <a:lnTo>
                        <a:pt x="327308" y="163130"/>
                      </a:lnTo>
                      <a:lnTo>
                        <a:pt x="266789" y="163130"/>
                      </a:lnTo>
                      <a:lnTo>
                        <a:pt x="163654" y="60325"/>
                      </a:lnTo>
                      <a:lnTo>
                        <a:pt x="60519" y="163130"/>
                      </a:lnTo>
                      <a:close/>
                    </a:path>
                  </a:pathLst>
                </a:custGeom>
                <a:solidFill>
                  <a:srgbClr val="0158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scene3d>
                    <a:camera prst="orthographicFront"/>
                    <a:lightRig rig="threePt" dir="t"/>
                  </a:scene3d>
                  <a:sp3d/>
                </a:bodyPr>
                <a:lstStyle/>
                <a:p>
                  <a:pPr algn="ctr" latinLnBrk="0"/>
                  <a:endParaRPr lang="ko-KR" altLang="en-US" sz="120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779AF8D-71F7-8BFA-BA12-8FA4C6CA80F8}"/>
                </a:ext>
              </a:extLst>
            </p:cNvPr>
            <p:cNvGrpSpPr/>
            <p:nvPr/>
          </p:nvGrpSpPr>
          <p:grpSpPr>
            <a:xfrm>
              <a:off x="488504" y="5450535"/>
              <a:ext cx="420770" cy="110305"/>
              <a:chOff x="480473" y="4290361"/>
              <a:chExt cx="420770" cy="110305"/>
            </a:xfrm>
          </p:grpSpPr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E22B6BD4-8266-3C8E-87F8-1F476F9017F7}"/>
                  </a:ext>
                </a:extLst>
              </p:cNvPr>
              <p:cNvCxnSpPr/>
              <p:nvPr/>
            </p:nvCxnSpPr>
            <p:spPr>
              <a:xfrm>
                <a:off x="480473" y="4293096"/>
                <a:ext cx="420770" cy="0"/>
              </a:xfrm>
              <a:prstGeom prst="line">
                <a:avLst/>
              </a:prstGeom>
              <a:noFill/>
              <a:ln w="3175">
                <a:solidFill>
                  <a:srgbClr val="0158FF"/>
                </a:solidFill>
                <a:prstDash val="solid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F378431A-0674-CED7-2457-12869CD96BF6}"/>
                  </a:ext>
                </a:extLst>
              </p:cNvPr>
              <p:cNvGrpSpPr/>
              <p:nvPr/>
            </p:nvGrpSpPr>
            <p:grpSpPr>
              <a:xfrm>
                <a:off x="608332" y="4290361"/>
                <a:ext cx="165054" cy="110305"/>
                <a:chOff x="867998" y="5859414"/>
                <a:chExt cx="331193" cy="180313"/>
              </a:xfrm>
            </p:grpSpPr>
            <p:sp>
              <p:nvSpPr>
                <p:cNvPr id="15" name="이등변 삼각형 14">
                  <a:extLst>
                    <a:ext uri="{FF2B5EF4-FFF2-40B4-BE49-F238E27FC236}">
                      <a16:creationId xmlns:a16="http://schemas.microsoft.com/office/drawing/2014/main" id="{7456E197-A5DC-99E3-6EC7-F62A67AC4630}"/>
                    </a:ext>
                  </a:extLst>
                </p:cNvPr>
                <p:cNvSpPr/>
                <p:nvPr/>
              </p:nvSpPr>
              <p:spPr>
                <a:xfrm rot="10800000">
                  <a:off x="915454" y="5859414"/>
                  <a:ext cx="236280" cy="114347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/>
                </a:bodyPr>
                <a:lstStyle/>
                <a:p>
                  <a:pPr algn="ctr" latinLnBrk="0"/>
                  <a:endParaRPr lang="ko-KR" altLang="en-US" sz="200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16" name="자유형 56">
                  <a:extLst>
                    <a:ext uri="{FF2B5EF4-FFF2-40B4-BE49-F238E27FC236}">
                      <a16:creationId xmlns:a16="http://schemas.microsoft.com/office/drawing/2014/main" id="{6183152F-009D-6AC8-A3D8-60707D4CFCF4}"/>
                    </a:ext>
                  </a:extLst>
                </p:cNvPr>
                <p:cNvSpPr/>
                <p:nvPr/>
              </p:nvSpPr>
              <p:spPr>
                <a:xfrm rot="10800000">
                  <a:off x="867998" y="5874662"/>
                  <a:ext cx="331193" cy="165065"/>
                </a:xfrm>
                <a:custGeom>
                  <a:avLst/>
                  <a:gdLst>
                    <a:gd name="connsiteX0" fmla="*/ 0 w 327308"/>
                    <a:gd name="connsiteY0" fmla="*/ 163130 h 163130"/>
                    <a:gd name="connsiteX1" fmla="*/ 163654 w 327308"/>
                    <a:gd name="connsiteY1" fmla="*/ 0 h 163130"/>
                    <a:gd name="connsiteX2" fmla="*/ 327308 w 327308"/>
                    <a:gd name="connsiteY2" fmla="*/ 163130 h 163130"/>
                    <a:gd name="connsiteX3" fmla="*/ 266789 w 327308"/>
                    <a:gd name="connsiteY3" fmla="*/ 163130 h 163130"/>
                    <a:gd name="connsiteX4" fmla="*/ 163654 w 327308"/>
                    <a:gd name="connsiteY4" fmla="*/ 60325 h 163130"/>
                    <a:gd name="connsiteX5" fmla="*/ 60519 w 327308"/>
                    <a:gd name="connsiteY5" fmla="*/ 163130 h 163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7308" h="163130">
                      <a:moveTo>
                        <a:pt x="0" y="163130"/>
                      </a:moveTo>
                      <a:lnTo>
                        <a:pt x="163654" y="0"/>
                      </a:lnTo>
                      <a:lnTo>
                        <a:pt x="327308" y="163130"/>
                      </a:lnTo>
                      <a:lnTo>
                        <a:pt x="266789" y="163130"/>
                      </a:lnTo>
                      <a:lnTo>
                        <a:pt x="163654" y="60325"/>
                      </a:lnTo>
                      <a:lnTo>
                        <a:pt x="60519" y="163130"/>
                      </a:lnTo>
                      <a:close/>
                    </a:path>
                  </a:pathLst>
                </a:custGeom>
                <a:solidFill>
                  <a:srgbClr val="0158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scene3d>
                    <a:camera prst="orthographicFront"/>
                    <a:lightRig rig="threePt" dir="t"/>
                  </a:scene3d>
                  <a:sp3d/>
                </a:bodyPr>
                <a:lstStyle/>
                <a:p>
                  <a:pPr algn="ctr" latinLnBrk="0"/>
                  <a:endParaRPr lang="ko-KR" altLang="en-US" sz="1200">
                    <a:solidFill>
                      <a:prstClr val="white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9" name="AutoShape 227">
              <a:extLst>
                <a:ext uri="{FF2B5EF4-FFF2-40B4-BE49-F238E27FC236}">
                  <a16:creationId xmlns:a16="http://schemas.microsoft.com/office/drawing/2014/main" id="{B02CC784-F94F-BB8F-B11B-296E9CADC8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2270" y="2228375"/>
              <a:ext cx="544286" cy="2243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ko-KR" altLang="en-US" sz="1050" spc="-30" dirty="0">
                  <a:solidFill>
                    <a:srgbClr val="0158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운영 시스템</a:t>
              </a:r>
              <a:endParaRPr lang="en-US" altLang="ko-KR" sz="1050" spc="-30" dirty="0">
                <a:solidFill>
                  <a:srgbClr val="0158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0" name="AutoShape 227">
              <a:extLst>
                <a:ext uri="{FF2B5EF4-FFF2-40B4-BE49-F238E27FC236}">
                  <a16:creationId xmlns:a16="http://schemas.microsoft.com/office/drawing/2014/main" id="{342808A8-8672-848B-C250-183ED494BFB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2270" y="3122225"/>
              <a:ext cx="544286" cy="2243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en-US" altLang="ko-KR" sz="1050" spc="-30" dirty="0">
                  <a:solidFill>
                    <a:srgbClr val="0158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Elastic Agent</a:t>
              </a:r>
            </a:p>
          </p:txBody>
        </p:sp>
        <p:sp>
          <p:nvSpPr>
            <p:cNvPr id="11" name="AutoShape 227">
              <a:extLst>
                <a:ext uri="{FF2B5EF4-FFF2-40B4-BE49-F238E27FC236}">
                  <a16:creationId xmlns:a16="http://schemas.microsoft.com/office/drawing/2014/main" id="{9AC26468-A2E2-1577-8044-9AD0BE9950D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2270" y="4016077"/>
              <a:ext cx="544286" cy="2243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en-US" altLang="ko-KR" sz="1050" spc="-30" dirty="0">
                  <a:solidFill>
                    <a:srgbClr val="0158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Kafka</a:t>
              </a:r>
            </a:p>
          </p:txBody>
        </p:sp>
        <p:sp>
          <p:nvSpPr>
            <p:cNvPr id="12" name="AutoShape 227">
              <a:extLst>
                <a:ext uri="{FF2B5EF4-FFF2-40B4-BE49-F238E27FC236}">
                  <a16:creationId xmlns:a16="http://schemas.microsoft.com/office/drawing/2014/main" id="{40D46793-958B-1DB7-F85B-079430E60C5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2270" y="4909927"/>
              <a:ext cx="544286" cy="2243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en-US" altLang="ko-KR" sz="1050" spc="-30" dirty="0">
                  <a:solidFill>
                    <a:srgbClr val="0158FF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Elasticsearch</a:t>
              </a:r>
            </a:p>
          </p:txBody>
        </p:sp>
      </p:grpSp>
      <p:grpSp>
        <p:nvGrpSpPr>
          <p:cNvPr id="37" name="Group 26">
            <a:extLst>
              <a:ext uri="{FF2B5EF4-FFF2-40B4-BE49-F238E27FC236}">
                <a16:creationId xmlns:a16="http://schemas.microsoft.com/office/drawing/2014/main" id="{7A72F28A-A44A-9D27-641A-2E48ECACBA17}"/>
              </a:ext>
            </a:extLst>
          </p:cNvPr>
          <p:cNvGrpSpPr/>
          <p:nvPr/>
        </p:nvGrpSpPr>
        <p:grpSpPr>
          <a:xfrm>
            <a:off x="1842310" y="2013792"/>
            <a:ext cx="4479115" cy="3215408"/>
            <a:chOff x="987713" y="1880828"/>
            <a:chExt cx="3001623" cy="444858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D9A9244E-2FB7-9E8C-BB3A-51109B15836B}"/>
                </a:ext>
              </a:extLst>
            </p:cNvPr>
            <p:cNvSpPr/>
            <p:nvPr/>
          </p:nvSpPr>
          <p:spPr>
            <a:xfrm>
              <a:off x="987713" y="2774476"/>
              <a:ext cx="2993179" cy="87399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80053E8-4C77-9CA9-22F9-FBF08593E3C3}"/>
                </a:ext>
              </a:extLst>
            </p:cNvPr>
            <p:cNvSpPr/>
            <p:nvPr/>
          </p:nvSpPr>
          <p:spPr>
            <a:xfrm>
              <a:off x="987713" y="3668124"/>
              <a:ext cx="2993179" cy="873993"/>
            </a:xfrm>
            <a:prstGeom prst="rect">
              <a:avLst/>
            </a:prstGeom>
            <a:solidFill>
              <a:srgbClr val="EFF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21A0971-ECBC-AE73-A252-11B120CCADC0}"/>
                </a:ext>
              </a:extLst>
            </p:cNvPr>
            <p:cNvSpPr/>
            <p:nvPr/>
          </p:nvSpPr>
          <p:spPr>
            <a:xfrm>
              <a:off x="987713" y="4561772"/>
              <a:ext cx="2993179" cy="87399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BEA1E92-AA7F-AC2D-8B68-E836CA969C2A}"/>
                </a:ext>
              </a:extLst>
            </p:cNvPr>
            <p:cNvSpPr/>
            <p:nvPr/>
          </p:nvSpPr>
          <p:spPr>
            <a:xfrm>
              <a:off x="987713" y="5455421"/>
              <a:ext cx="2993179" cy="873993"/>
            </a:xfrm>
            <a:prstGeom prst="rect">
              <a:avLst/>
            </a:prstGeom>
            <a:solidFill>
              <a:srgbClr val="EFF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2F0D77C-6FDC-401F-59FD-EBDFFCD0DF35}"/>
                </a:ext>
              </a:extLst>
            </p:cNvPr>
            <p:cNvSpPr/>
            <p:nvPr/>
          </p:nvSpPr>
          <p:spPr>
            <a:xfrm>
              <a:off x="996157" y="1880828"/>
              <a:ext cx="2993179" cy="873993"/>
            </a:xfrm>
            <a:prstGeom prst="rect">
              <a:avLst/>
            </a:prstGeom>
            <a:solidFill>
              <a:srgbClr val="EFF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43" name="AutoShape 227">
              <a:extLst>
                <a:ext uri="{FF2B5EF4-FFF2-40B4-BE49-F238E27FC236}">
                  <a16:creationId xmlns:a16="http://schemas.microsoft.com/office/drawing/2014/main" id="{FF28A281-C9FF-9944-88E3-DB72E37F52C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00571" y="2084398"/>
              <a:ext cx="1643153" cy="23419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주요 시스템 연계</a:t>
              </a:r>
            </a:p>
          </p:txBody>
        </p:sp>
        <p:sp>
          <p:nvSpPr>
            <p:cNvPr id="44" name="AutoShape 227">
              <a:extLst>
                <a:ext uri="{FF2B5EF4-FFF2-40B4-BE49-F238E27FC236}">
                  <a16:creationId xmlns:a16="http://schemas.microsoft.com/office/drawing/2014/main" id="{6899435E-2AD1-6B36-6454-59BA23A3EC9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00571" y="2957428"/>
              <a:ext cx="1643153" cy="23419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수집 계층</a:t>
              </a:r>
            </a:p>
          </p:txBody>
        </p:sp>
        <p:sp>
          <p:nvSpPr>
            <p:cNvPr id="45" name="AutoShape 227">
              <a:extLst>
                <a:ext uri="{FF2B5EF4-FFF2-40B4-BE49-F238E27FC236}">
                  <a16:creationId xmlns:a16="http://schemas.microsoft.com/office/drawing/2014/main" id="{10839C20-A54D-A493-3D2C-D4745E6088E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00571" y="3823507"/>
              <a:ext cx="1643153" cy="23419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전송 계층</a:t>
              </a:r>
            </a:p>
          </p:txBody>
        </p:sp>
        <p:sp>
          <p:nvSpPr>
            <p:cNvPr id="46" name="AutoShape 227">
              <a:extLst>
                <a:ext uri="{FF2B5EF4-FFF2-40B4-BE49-F238E27FC236}">
                  <a16:creationId xmlns:a16="http://schemas.microsoft.com/office/drawing/2014/main" id="{C3ED77FF-3B62-5E10-AE3E-9DC33B0E4BE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00571" y="4721899"/>
              <a:ext cx="1643153" cy="23419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저장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검색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계층</a:t>
              </a:r>
            </a:p>
          </p:txBody>
        </p:sp>
        <p:sp>
          <p:nvSpPr>
            <p:cNvPr id="47" name="AutoShape 227">
              <a:extLst>
                <a:ext uri="{FF2B5EF4-FFF2-40B4-BE49-F238E27FC236}">
                  <a16:creationId xmlns:a16="http://schemas.microsoft.com/office/drawing/2014/main" id="{34D025CF-8675-DD23-6B01-C1037CFAE2C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00571" y="5653947"/>
              <a:ext cx="1643153" cy="23419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분석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시각화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계층</a:t>
              </a:r>
            </a:p>
          </p:txBody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3F75D783-3157-5BF9-9E1C-C09D4ACEB54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03310" y="2324687"/>
              <a:ext cx="2625553" cy="212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Control-M ·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온라인거래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E2E · </a:t>
              </a: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계정계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채널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형상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영향도</a:t>
              </a:r>
            </a:p>
          </p:txBody>
        </p:sp>
        <p:sp>
          <p:nvSpPr>
            <p:cNvPr id="49" name="Rectangle 25">
              <a:extLst>
                <a:ext uri="{FF2B5EF4-FFF2-40B4-BE49-F238E27FC236}">
                  <a16:creationId xmlns:a16="http://schemas.microsoft.com/office/drawing/2014/main" id="{FFF227BB-3B30-7B07-85D4-CA745D1D086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03310" y="3212101"/>
              <a:ext cx="2481537" cy="212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경량 에이전트 증분 수집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표준화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민감정보 보호</a:t>
              </a:r>
            </a:p>
          </p:txBody>
        </p:sp>
        <p:sp>
          <p:nvSpPr>
            <p:cNvPr id="50" name="Rectangle 25">
              <a:extLst>
                <a:ext uri="{FF2B5EF4-FFF2-40B4-BE49-F238E27FC236}">
                  <a16:creationId xmlns:a16="http://schemas.microsoft.com/office/drawing/2014/main" id="{6BB349FC-4B2E-72C2-3858-36350BCD3F6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03309" y="4092567"/>
              <a:ext cx="2725006" cy="212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토픽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파티션 설계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압축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암호화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 </a:t>
              </a: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버퍼링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병렬 처리</a:t>
              </a:r>
            </a:p>
          </p:txBody>
        </p:sp>
        <p:sp>
          <p:nvSpPr>
            <p:cNvPr id="51" name="Rectangle 25">
              <a:extLst>
                <a:ext uri="{FF2B5EF4-FFF2-40B4-BE49-F238E27FC236}">
                  <a16:creationId xmlns:a16="http://schemas.microsoft.com/office/drawing/2014/main" id="{F9D39246-5B28-0B6B-6CBB-42A4F75B3B7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03308" y="5005344"/>
              <a:ext cx="2725007" cy="212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분산 클러스터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복제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 Index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설계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 Snapshot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백업</a:t>
              </a:r>
            </a:p>
          </p:txBody>
        </p:sp>
        <p:sp>
          <p:nvSpPr>
            <p:cNvPr id="52" name="Rectangle 25">
              <a:extLst>
                <a:ext uri="{FF2B5EF4-FFF2-40B4-BE49-F238E27FC236}">
                  <a16:creationId xmlns:a16="http://schemas.microsoft.com/office/drawing/2014/main" id="{77C3AC0A-765A-5D6D-8F15-BF94B1BFDF2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03310" y="5951778"/>
              <a:ext cx="2481537" cy="212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서비스 흐름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실시간 이상징후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맞춤형 대시보드</a:t>
              </a:r>
            </a:p>
          </p:txBody>
        </p:sp>
      </p:grpSp>
      <p:sp>
        <p:nvSpPr>
          <p:cNvPr id="111" name="Rectangle 87">
            <a:extLst>
              <a:ext uri="{FF2B5EF4-FFF2-40B4-BE49-F238E27FC236}">
                <a16:creationId xmlns:a16="http://schemas.microsoft.com/office/drawing/2014/main" id="{68102584-A4D7-5FB6-F5B7-4602D51EECDC}"/>
              </a:ext>
            </a:extLst>
          </p:cNvPr>
          <p:cNvSpPr>
            <a:spLocks noChangeArrowheads="1"/>
          </p:cNvSpPr>
          <p:nvPr/>
        </p:nvSpPr>
        <p:spPr bwMode="gray">
          <a:xfrm>
            <a:off x="512650" y="5505886"/>
            <a:ext cx="294953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300" dirty="0">
                <a:solidFill>
                  <a:srgbClr val="0158FF"/>
                </a:solidFill>
                <a:latin typeface="페이퍼로지 8 ExtraBold" pitchFamily="2" charset="-127"/>
                <a:ea typeface="페이퍼로지 8 ExtraBold" pitchFamily="2" charset="-127"/>
                <a:cs typeface="Arial" panose="020B0604020202020204" pitchFamily="34" charset="0"/>
              </a:rPr>
              <a:t>설계</a:t>
            </a:r>
            <a:endParaRPr lang="en-US" altLang="ko-KR" sz="1300" dirty="0">
              <a:solidFill>
                <a:srgbClr val="0158FF"/>
              </a:solidFill>
              <a:latin typeface="페이퍼로지 8 ExtraBold" pitchFamily="2" charset="-127"/>
              <a:ea typeface="페이퍼로지 8 ExtraBold" pitchFamily="2" charset="-127"/>
              <a:cs typeface="Arial" panose="020B0604020202020204" pitchFamily="34" charset="0"/>
            </a:endParaRPr>
          </a:p>
          <a:p>
            <a:pPr algn="ctr" latinLnBrk="0"/>
            <a:r>
              <a:rPr lang="ko-KR" altLang="en-US" sz="1300" dirty="0">
                <a:solidFill>
                  <a:srgbClr val="0158FF"/>
                </a:solidFill>
                <a:latin typeface="페이퍼로지 8 ExtraBold" pitchFamily="2" charset="-127"/>
                <a:ea typeface="페이퍼로지 8 ExtraBold" pitchFamily="2" charset="-127"/>
                <a:cs typeface="Arial" panose="020B0604020202020204" pitchFamily="34" charset="0"/>
              </a:rPr>
              <a:t>원칙</a:t>
            </a:r>
          </a:p>
        </p:txBody>
      </p:sp>
      <p:grpSp>
        <p:nvGrpSpPr>
          <p:cNvPr id="112" name="그룹 134">
            <a:extLst>
              <a:ext uri="{FF2B5EF4-FFF2-40B4-BE49-F238E27FC236}">
                <a16:creationId xmlns:a16="http://schemas.microsoft.com/office/drawing/2014/main" id="{BB3EB79E-F049-3CB3-2722-8CE45CFA23EA}"/>
              </a:ext>
            </a:extLst>
          </p:cNvPr>
          <p:cNvGrpSpPr/>
          <p:nvPr/>
        </p:nvGrpSpPr>
        <p:grpSpPr>
          <a:xfrm>
            <a:off x="992560" y="5403210"/>
            <a:ext cx="1282267" cy="792000"/>
            <a:chOff x="894451" y="5373216"/>
            <a:chExt cx="1970317" cy="792000"/>
          </a:xfrm>
        </p:grpSpPr>
        <p:sp>
          <p:nvSpPr>
            <p:cNvPr id="113" name="직사각형 116">
              <a:extLst>
                <a:ext uri="{FF2B5EF4-FFF2-40B4-BE49-F238E27FC236}">
                  <a16:creationId xmlns:a16="http://schemas.microsoft.com/office/drawing/2014/main" id="{A4E202E4-6A2A-5B23-72CE-EFE87CD1A3D2}"/>
                </a:ext>
              </a:extLst>
            </p:cNvPr>
            <p:cNvSpPr/>
            <p:nvPr/>
          </p:nvSpPr>
          <p:spPr bwMode="gray">
            <a:xfrm>
              <a:off x="894451" y="5373216"/>
              <a:ext cx="1970317" cy="792000"/>
            </a:xfrm>
            <a:prstGeom prst="rect">
              <a:avLst/>
            </a:prstGeom>
            <a:solidFill>
              <a:srgbClr val="EFF4FF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4" name="Text Box 79">
              <a:extLst>
                <a:ext uri="{FF2B5EF4-FFF2-40B4-BE49-F238E27FC236}">
                  <a16:creationId xmlns:a16="http://schemas.microsoft.com/office/drawing/2014/main" id="{5FEAA17D-15EF-B566-9B28-40167CD0A85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99148" y="5473527"/>
              <a:ext cx="1363912" cy="200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algn="ctr"/>
              <a:r>
                <a:rPr lang="ko-KR" altLang="en-US" sz="1300" dirty="0"/>
                <a:t>안정성</a:t>
              </a:r>
              <a:endParaRPr lang="en-US" altLang="ko-KR" sz="1300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9C8B879-B531-D886-04D0-441903B0D44C}"/>
                </a:ext>
              </a:extLst>
            </p:cNvPr>
            <p:cNvSpPr txBox="1"/>
            <p:nvPr/>
          </p:nvSpPr>
          <p:spPr>
            <a:xfrm>
              <a:off x="1041807" y="5760975"/>
              <a:ext cx="1678944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  <a:defRPr sz="1000" spc="-1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defRPr>
              </a:lvl1pPr>
            </a:lstStyle>
            <a:p>
              <a:pPr marL="0" indent="0" algn="ctr">
                <a:buNone/>
              </a:pPr>
              <a:r>
                <a:rPr lang="ko-KR" altLang="en-US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버퍼링</a:t>
              </a:r>
              <a:r>
                <a:rPr lang="en-US" altLang="ko-KR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·</a:t>
              </a:r>
              <a:r>
                <a:rPr lang="ko-KR" altLang="en-US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복제</a:t>
              </a:r>
              <a:r>
                <a:rPr lang="en-US" altLang="ko-KR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·</a:t>
              </a:r>
              <a:r>
                <a:rPr lang="ko-KR" altLang="en-US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백업</a:t>
              </a:r>
            </a:p>
          </p:txBody>
        </p:sp>
      </p:grpSp>
      <p:grpSp>
        <p:nvGrpSpPr>
          <p:cNvPr id="116" name="그룹 135">
            <a:extLst>
              <a:ext uri="{FF2B5EF4-FFF2-40B4-BE49-F238E27FC236}">
                <a16:creationId xmlns:a16="http://schemas.microsoft.com/office/drawing/2014/main" id="{D909D753-5F2D-0A5A-B977-C736FAF61486}"/>
              </a:ext>
            </a:extLst>
          </p:cNvPr>
          <p:cNvGrpSpPr/>
          <p:nvPr/>
        </p:nvGrpSpPr>
        <p:grpSpPr>
          <a:xfrm>
            <a:off x="2328385" y="5403210"/>
            <a:ext cx="1282267" cy="792000"/>
            <a:chOff x="894451" y="5373216"/>
            <a:chExt cx="1970317" cy="792000"/>
          </a:xfrm>
        </p:grpSpPr>
        <p:sp>
          <p:nvSpPr>
            <p:cNvPr id="117" name="직사각형 136">
              <a:extLst>
                <a:ext uri="{FF2B5EF4-FFF2-40B4-BE49-F238E27FC236}">
                  <a16:creationId xmlns:a16="http://schemas.microsoft.com/office/drawing/2014/main" id="{DED8D83E-CA4F-C55D-06E0-A2A4578653B6}"/>
                </a:ext>
              </a:extLst>
            </p:cNvPr>
            <p:cNvSpPr/>
            <p:nvPr/>
          </p:nvSpPr>
          <p:spPr bwMode="gray">
            <a:xfrm>
              <a:off x="894451" y="5373216"/>
              <a:ext cx="1970317" cy="792000"/>
            </a:xfrm>
            <a:prstGeom prst="rect">
              <a:avLst/>
            </a:prstGeom>
            <a:solidFill>
              <a:srgbClr val="EFF4FF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8" name="Text Box 79">
              <a:extLst>
                <a:ext uri="{FF2B5EF4-FFF2-40B4-BE49-F238E27FC236}">
                  <a16:creationId xmlns:a16="http://schemas.microsoft.com/office/drawing/2014/main" id="{CC0B196C-57F8-CE0E-AA9E-256A2852808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99148" y="5473527"/>
              <a:ext cx="1363912" cy="200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algn="ctr"/>
              <a:r>
                <a:rPr lang="ko-KR" altLang="en-US" sz="1300" dirty="0"/>
                <a:t>확장성</a:t>
              </a:r>
              <a:endParaRPr lang="en-US" altLang="ko-KR" sz="1300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B007AD5-35D3-9012-54BC-9B22FE31C0CB}"/>
                </a:ext>
              </a:extLst>
            </p:cNvPr>
            <p:cNvSpPr txBox="1"/>
            <p:nvPr/>
          </p:nvSpPr>
          <p:spPr>
            <a:xfrm>
              <a:off x="1035527" y="5765398"/>
              <a:ext cx="1678944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  <a:defRPr sz="1000" spc="-1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defRPr>
              </a:lvl1pPr>
            </a:lstStyle>
            <a:p>
              <a:pPr marL="0" indent="0" algn="ctr">
                <a:buNone/>
              </a:pPr>
              <a:r>
                <a:rPr lang="ko-KR" altLang="en-US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계층별 수평확장</a:t>
              </a:r>
            </a:p>
          </p:txBody>
        </p:sp>
      </p:grpSp>
      <p:grpSp>
        <p:nvGrpSpPr>
          <p:cNvPr id="120" name="그룹 139">
            <a:extLst>
              <a:ext uri="{FF2B5EF4-FFF2-40B4-BE49-F238E27FC236}">
                <a16:creationId xmlns:a16="http://schemas.microsoft.com/office/drawing/2014/main" id="{3F6F9AA3-654D-98CD-7CE1-93E24D88FF08}"/>
              </a:ext>
            </a:extLst>
          </p:cNvPr>
          <p:cNvGrpSpPr/>
          <p:nvPr/>
        </p:nvGrpSpPr>
        <p:grpSpPr>
          <a:xfrm>
            <a:off x="3664210" y="5403210"/>
            <a:ext cx="1282267" cy="792000"/>
            <a:chOff x="894451" y="5373216"/>
            <a:chExt cx="1970317" cy="792000"/>
          </a:xfrm>
        </p:grpSpPr>
        <p:sp>
          <p:nvSpPr>
            <p:cNvPr id="121" name="직사각형 140">
              <a:extLst>
                <a:ext uri="{FF2B5EF4-FFF2-40B4-BE49-F238E27FC236}">
                  <a16:creationId xmlns:a16="http://schemas.microsoft.com/office/drawing/2014/main" id="{7231CD04-6D18-2BD0-EA42-F665BE6862A8}"/>
                </a:ext>
              </a:extLst>
            </p:cNvPr>
            <p:cNvSpPr/>
            <p:nvPr/>
          </p:nvSpPr>
          <p:spPr bwMode="gray">
            <a:xfrm>
              <a:off x="894451" y="5373216"/>
              <a:ext cx="1970317" cy="792000"/>
            </a:xfrm>
            <a:prstGeom prst="rect">
              <a:avLst/>
            </a:prstGeom>
            <a:solidFill>
              <a:srgbClr val="EFF4FF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22" name="Text Box 79">
              <a:extLst>
                <a:ext uri="{FF2B5EF4-FFF2-40B4-BE49-F238E27FC236}">
                  <a16:creationId xmlns:a16="http://schemas.microsoft.com/office/drawing/2014/main" id="{9B3FD3B8-29F3-E93B-4270-1BE73200995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99148" y="5473527"/>
              <a:ext cx="1363912" cy="200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algn="ctr"/>
              <a:r>
                <a:rPr lang="ko-KR" altLang="en-US" sz="1300" dirty="0"/>
                <a:t>보안성</a:t>
              </a:r>
              <a:endParaRPr lang="en-US" altLang="ko-KR" sz="13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42F82DA-E516-75A9-B627-445D3AE0A85F}"/>
                </a:ext>
              </a:extLst>
            </p:cNvPr>
            <p:cNvSpPr txBox="1"/>
            <p:nvPr/>
          </p:nvSpPr>
          <p:spPr>
            <a:xfrm>
              <a:off x="1041807" y="5760975"/>
              <a:ext cx="167894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  <a:defRPr sz="1000" spc="-1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defRPr>
              </a:lvl1pPr>
            </a:lstStyle>
            <a:p>
              <a:pPr marL="0" indent="0" algn="ctr">
                <a:buNone/>
              </a:pPr>
              <a:r>
                <a:rPr lang="ko-KR" altLang="en-US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마스킹</a:t>
              </a:r>
              <a:r>
                <a:rPr lang="en-US" altLang="ko-KR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·</a:t>
              </a:r>
              <a:r>
                <a:rPr lang="ko-KR" altLang="en-US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암호화</a:t>
              </a:r>
              <a:r>
                <a:rPr lang="en-US" altLang="ko-KR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·</a:t>
              </a:r>
              <a:r>
                <a:rPr lang="ko-KR" altLang="en-US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접근통제</a:t>
              </a:r>
            </a:p>
          </p:txBody>
        </p:sp>
      </p:grpSp>
      <p:grpSp>
        <p:nvGrpSpPr>
          <p:cNvPr id="124" name="그룹 143">
            <a:extLst>
              <a:ext uri="{FF2B5EF4-FFF2-40B4-BE49-F238E27FC236}">
                <a16:creationId xmlns:a16="http://schemas.microsoft.com/office/drawing/2014/main" id="{490FBA89-6DA6-30AA-4D83-0F965CF35E60}"/>
              </a:ext>
            </a:extLst>
          </p:cNvPr>
          <p:cNvGrpSpPr/>
          <p:nvPr/>
        </p:nvGrpSpPr>
        <p:grpSpPr>
          <a:xfrm>
            <a:off x="5011499" y="5403210"/>
            <a:ext cx="1282267" cy="792000"/>
            <a:chOff x="894451" y="5373216"/>
            <a:chExt cx="1970317" cy="792000"/>
          </a:xfrm>
        </p:grpSpPr>
        <p:sp>
          <p:nvSpPr>
            <p:cNvPr id="125" name="직사각형 144">
              <a:extLst>
                <a:ext uri="{FF2B5EF4-FFF2-40B4-BE49-F238E27FC236}">
                  <a16:creationId xmlns:a16="http://schemas.microsoft.com/office/drawing/2014/main" id="{6A5CA84C-B8B4-A481-7B97-8625BB1C0B96}"/>
                </a:ext>
              </a:extLst>
            </p:cNvPr>
            <p:cNvSpPr/>
            <p:nvPr/>
          </p:nvSpPr>
          <p:spPr bwMode="gray">
            <a:xfrm>
              <a:off x="894451" y="5373216"/>
              <a:ext cx="1970317" cy="792000"/>
            </a:xfrm>
            <a:prstGeom prst="rect">
              <a:avLst/>
            </a:prstGeom>
            <a:solidFill>
              <a:srgbClr val="EFF4FF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26" name="Text Box 79">
              <a:extLst>
                <a:ext uri="{FF2B5EF4-FFF2-40B4-BE49-F238E27FC236}">
                  <a16:creationId xmlns:a16="http://schemas.microsoft.com/office/drawing/2014/main" id="{9445E15B-C466-3BBD-61F6-BABEEB059F4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99148" y="5473527"/>
              <a:ext cx="1363912" cy="200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algn="ctr"/>
              <a:r>
                <a:rPr lang="ko-KR" altLang="en-US" sz="1300" dirty="0" err="1"/>
                <a:t>운영성</a:t>
              </a:r>
              <a:endParaRPr lang="en-US" altLang="ko-KR" sz="1300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7535EED8-8095-411F-0238-B71E750954FB}"/>
                </a:ext>
              </a:extLst>
            </p:cNvPr>
            <p:cNvSpPr txBox="1"/>
            <p:nvPr/>
          </p:nvSpPr>
          <p:spPr>
            <a:xfrm>
              <a:off x="1041807" y="5755525"/>
              <a:ext cx="167894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  <a:defRPr sz="1000" spc="-1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defRPr>
              </a:lvl1pPr>
            </a:lstStyle>
            <a:p>
              <a:pPr marL="0" indent="0" algn="ctr">
                <a:buNone/>
              </a:pPr>
              <a:r>
                <a:rPr lang="ko-KR" altLang="en-US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정책 중앙관리</a:t>
              </a:r>
              <a:r>
                <a:rPr lang="en-US" altLang="ko-KR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·</a:t>
              </a:r>
              <a:r>
                <a:rPr lang="ko-KR" altLang="en-US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모니터링</a:t>
              </a:r>
            </a:p>
          </p:txBody>
        </p:sp>
      </p:grpSp>
      <p:sp>
        <p:nvSpPr>
          <p:cNvPr id="128" name="직사각형 1">
            <a:extLst>
              <a:ext uri="{FF2B5EF4-FFF2-40B4-BE49-F238E27FC236}">
                <a16:creationId xmlns:a16="http://schemas.microsoft.com/office/drawing/2014/main" id="{495F06EF-7F0D-7BE8-223E-AFB2E1C34DF9}"/>
              </a:ext>
            </a:extLst>
          </p:cNvPr>
          <p:cNvSpPr/>
          <p:nvPr/>
        </p:nvSpPr>
        <p:spPr>
          <a:xfrm>
            <a:off x="414898" y="5405575"/>
            <a:ext cx="5906528" cy="792000"/>
          </a:xfrm>
          <a:custGeom>
            <a:avLst/>
            <a:gdLst>
              <a:gd name="connsiteX0" fmla="*/ 0 w 3263900"/>
              <a:gd name="connsiteY0" fmla="*/ 0 h 719667"/>
              <a:gd name="connsiteX1" fmla="*/ 3263900 w 3263900"/>
              <a:gd name="connsiteY1" fmla="*/ 0 h 719667"/>
              <a:gd name="connsiteX2" fmla="*/ 3263900 w 3263900"/>
              <a:gd name="connsiteY2" fmla="*/ 719667 h 719667"/>
              <a:gd name="connsiteX3" fmla="*/ 0 w 3263900"/>
              <a:gd name="connsiteY3" fmla="*/ 719667 h 719667"/>
              <a:gd name="connsiteX4" fmla="*/ 0 w 3263900"/>
              <a:gd name="connsiteY4" fmla="*/ 0 h 719667"/>
              <a:gd name="connsiteX0" fmla="*/ 0 w 3263900"/>
              <a:gd name="connsiteY0" fmla="*/ 0 h 719667"/>
              <a:gd name="connsiteX1" fmla="*/ 3263900 w 3263900"/>
              <a:gd name="connsiteY1" fmla="*/ 0 h 719667"/>
              <a:gd name="connsiteX2" fmla="*/ 3263900 w 3263900"/>
              <a:gd name="connsiteY2" fmla="*/ 719667 h 719667"/>
              <a:gd name="connsiteX3" fmla="*/ 3060700 w 3263900"/>
              <a:gd name="connsiteY3" fmla="*/ 715434 h 719667"/>
              <a:gd name="connsiteX4" fmla="*/ 0 w 3263900"/>
              <a:gd name="connsiteY4" fmla="*/ 719667 h 719667"/>
              <a:gd name="connsiteX5" fmla="*/ 0 w 3263900"/>
              <a:gd name="connsiteY5" fmla="*/ 0 h 719667"/>
              <a:gd name="connsiteX0" fmla="*/ 3060700 w 3263900"/>
              <a:gd name="connsiteY0" fmla="*/ 715434 h 806874"/>
              <a:gd name="connsiteX1" fmla="*/ 0 w 3263900"/>
              <a:gd name="connsiteY1" fmla="*/ 719667 h 806874"/>
              <a:gd name="connsiteX2" fmla="*/ 0 w 3263900"/>
              <a:gd name="connsiteY2" fmla="*/ 0 h 806874"/>
              <a:gd name="connsiteX3" fmla="*/ 3263900 w 3263900"/>
              <a:gd name="connsiteY3" fmla="*/ 0 h 806874"/>
              <a:gd name="connsiteX4" fmla="*/ 3263900 w 3263900"/>
              <a:gd name="connsiteY4" fmla="*/ 719667 h 806874"/>
              <a:gd name="connsiteX5" fmla="*/ 3152140 w 3263900"/>
              <a:gd name="connsiteY5" fmla="*/ 806874 h 806874"/>
              <a:gd name="connsiteX0" fmla="*/ 0 w 3263900"/>
              <a:gd name="connsiteY0" fmla="*/ 719667 h 806874"/>
              <a:gd name="connsiteX1" fmla="*/ 0 w 3263900"/>
              <a:gd name="connsiteY1" fmla="*/ 0 h 806874"/>
              <a:gd name="connsiteX2" fmla="*/ 3263900 w 3263900"/>
              <a:gd name="connsiteY2" fmla="*/ 0 h 806874"/>
              <a:gd name="connsiteX3" fmla="*/ 3263900 w 3263900"/>
              <a:gd name="connsiteY3" fmla="*/ 719667 h 806874"/>
              <a:gd name="connsiteX4" fmla="*/ 3152140 w 3263900"/>
              <a:gd name="connsiteY4" fmla="*/ 806874 h 806874"/>
              <a:gd name="connsiteX0" fmla="*/ 0 w 3263900"/>
              <a:gd name="connsiteY0" fmla="*/ 719667 h 719667"/>
              <a:gd name="connsiteX1" fmla="*/ 0 w 3263900"/>
              <a:gd name="connsiteY1" fmla="*/ 0 h 719667"/>
              <a:gd name="connsiteX2" fmla="*/ 3263900 w 3263900"/>
              <a:gd name="connsiteY2" fmla="*/ 0 h 719667"/>
              <a:gd name="connsiteX3" fmla="*/ 3263900 w 3263900"/>
              <a:gd name="connsiteY3" fmla="*/ 719667 h 719667"/>
              <a:gd name="connsiteX0" fmla="*/ 0 w 3263900"/>
              <a:gd name="connsiteY0" fmla="*/ 719667 h 719667"/>
              <a:gd name="connsiteX1" fmla="*/ 0 w 3263900"/>
              <a:gd name="connsiteY1" fmla="*/ 0 h 719667"/>
              <a:gd name="connsiteX2" fmla="*/ 3263900 w 3263900"/>
              <a:gd name="connsiteY2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63900" h="719667">
                <a:moveTo>
                  <a:pt x="0" y="719667"/>
                </a:moveTo>
                <a:lnTo>
                  <a:pt x="0" y="0"/>
                </a:lnTo>
                <a:lnTo>
                  <a:pt x="3263900" y="0"/>
                </a:lnTo>
              </a:path>
            </a:pathLst>
          </a:custGeom>
          <a:ln w="9525">
            <a:solidFill>
              <a:srgbClr val="0158FF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endParaRPr lang="ko-KR" alt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576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그룹 133"/>
          <p:cNvGrpSpPr/>
          <p:nvPr/>
        </p:nvGrpSpPr>
        <p:grpSpPr>
          <a:xfrm>
            <a:off x="415199" y="383253"/>
            <a:ext cx="4481035" cy="419085"/>
            <a:chOff x="415199" y="383253"/>
            <a:chExt cx="4481035" cy="419085"/>
          </a:xfrm>
        </p:grpSpPr>
        <p:sp>
          <p:nvSpPr>
            <p:cNvPr id="135" name="Rectangle 4"/>
            <p:cNvSpPr>
              <a:spLocks noChangeArrowheads="1"/>
            </p:cNvSpPr>
            <p:nvPr/>
          </p:nvSpPr>
          <p:spPr bwMode="auto">
            <a:xfrm>
              <a:off x="415199" y="383253"/>
              <a:ext cx="448103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217475" lvl="0" indent="-217475" defTabSz="957689" fontAlgn="t" latinLnBrk="0">
                <a:spcAft>
                  <a:spcPts val="200"/>
                </a:spcAft>
              </a:pP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3.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상세 구축방안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&gt; 3.1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기능  요구사항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 IT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운영관리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3.1.7.1 </a:t>
              </a:r>
              <a:r>
                <a:rPr lang="ko-KR" altLang="en-US" sz="900" spc="-30" dirty="0" err="1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통합로그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기반 모니터링 환경 구축</a:t>
              </a:r>
              <a:endParaRPr lang="en-US" altLang="ko-KR" sz="900" spc="-30" dirty="0">
                <a:solidFill>
                  <a:schemeClr val="bg1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6" name="Rectangle 4"/>
            <p:cNvSpPr>
              <a:spLocks noChangeArrowheads="1"/>
            </p:cNvSpPr>
            <p:nvPr/>
          </p:nvSpPr>
          <p:spPr bwMode="auto">
            <a:xfrm>
              <a:off x="415199" y="556117"/>
              <a:ext cx="2457917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1pPr>
              <a:lvl2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fontAlgn="t" latinLnBrk="0"/>
              <a:r>
                <a:rPr lang="en-US" altLang="ko-KR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3.1.7.1.2 </a:t>
              </a:r>
              <a:r>
                <a:rPr lang="ko-KR" altLang="en-US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로그 수집 기능 제공</a:t>
              </a:r>
              <a:endParaRPr lang="en-US" altLang="ko-KR" sz="1600" spc="-3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86" name="TextBox 9"/>
          <p:cNvSpPr txBox="1"/>
          <p:nvPr/>
        </p:nvSpPr>
        <p:spPr>
          <a:xfrm>
            <a:off x="577124" y="931585"/>
            <a:ext cx="8418330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1" latinLnBrk="0"/>
            <a:r>
              <a:rPr lang="ko-KR" altLang="en-US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경량 수집 에이전트와 다양한 입력 플러그인을 활용하여 업무시스템의 부하를 최소화하고</a:t>
            </a:r>
            <a:r>
              <a:rPr lang="en-US" altLang="ko-KR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이기종 로그를 표준화된 형태로 안전하게 수집합니다</a:t>
            </a:r>
            <a:r>
              <a:rPr lang="en-US" altLang="ko-KR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grpSp>
        <p:nvGrpSpPr>
          <p:cNvPr id="89" name="그룹 88"/>
          <p:cNvGrpSpPr/>
          <p:nvPr/>
        </p:nvGrpSpPr>
        <p:grpSpPr>
          <a:xfrm>
            <a:off x="8005397" y="1261597"/>
            <a:ext cx="1485589" cy="187106"/>
            <a:chOff x="4899641" y="1714485"/>
            <a:chExt cx="1621709" cy="187106"/>
          </a:xfrm>
        </p:grpSpPr>
        <p:grpSp>
          <p:nvGrpSpPr>
            <p:cNvPr id="90" name="그룹 89"/>
            <p:cNvGrpSpPr/>
            <p:nvPr/>
          </p:nvGrpSpPr>
          <p:grpSpPr>
            <a:xfrm>
              <a:off x="4903555" y="1714485"/>
              <a:ext cx="1617795" cy="187106"/>
              <a:chOff x="4586156" y="1714485"/>
              <a:chExt cx="1617795" cy="187106"/>
            </a:xfrm>
          </p:grpSpPr>
          <p:sp>
            <p:nvSpPr>
              <p:cNvPr id="92" name="직사각형 91"/>
              <p:cNvSpPr/>
              <p:nvPr/>
            </p:nvSpPr>
            <p:spPr bwMode="gray">
              <a:xfrm>
                <a:off x="4586156" y="1714485"/>
                <a:ext cx="806183" cy="1871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요구사항 번호</a:t>
                </a:r>
              </a:p>
            </p:txBody>
          </p:sp>
          <p:sp>
            <p:nvSpPr>
              <p:cNvPr id="93" name="직사각형 92"/>
              <p:cNvSpPr/>
              <p:nvPr/>
            </p:nvSpPr>
            <p:spPr bwMode="gray">
              <a:xfrm>
                <a:off x="5392339" y="1714485"/>
                <a:ext cx="811612" cy="187106"/>
              </a:xfrm>
              <a:prstGeom prst="rect">
                <a:avLst/>
              </a:prstGeom>
              <a:solidFill>
                <a:srgbClr val="F5F5F6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SFR-IT-01</a:t>
                </a:r>
              </a:p>
            </p:txBody>
          </p:sp>
        </p:grpSp>
        <p:sp>
          <p:nvSpPr>
            <p:cNvPr id="91" name="자유형 90"/>
            <p:cNvSpPr/>
            <p:nvPr/>
          </p:nvSpPr>
          <p:spPr>
            <a:xfrm rot="10800000" flipV="1">
              <a:off x="4899641" y="1714485"/>
              <a:ext cx="1621708" cy="187105"/>
            </a:xfrm>
            <a:custGeom>
              <a:avLst/>
              <a:gdLst>
                <a:gd name="connsiteX0" fmla="*/ 0 w 2557462"/>
                <a:gd name="connsiteY0" fmla="*/ 320675 h 320675"/>
                <a:gd name="connsiteX1" fmla="*/ 0 w 2557462"/>
                <a:gd name="connsiteY1" fmla="*/ 0 h 320675"/>
                <a:gd name="connsiteX2" fmla="*/ 2557462 w 2557462"/>
                <a:gd name="connsiteY2" fmla="*/ 0 h 320675"/>
                <a:gd name="connsiteX3" fmla="*/ 2557462 w 2557462"/>
                <a:gd name="connsiteY3" fmla="*/ 320675 h 32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7462" h="320675">
                  <a:moveTo>
                    <a:pt x="0" y="320675"/>
                  </a:moveTo>
                  <a:lnTo>
                    <a:pt x="0" y="0"/>
                  </a:lnTo>
                  <a:lnTo>
                    <a:pt x="2557462" y="0"/>
                  </a:lnTo>
                  <a:lnTo>
                    <a:pt x="2557462" y="320675"/>
                  </a:lnTo>
                </a:path>
              </a:pathLst>
            </a:custGeom>
            <a:noFill/>
            <a:ln w="9525" cap="flat">
              <a:solidFill>
                <a:srgbClr val="C5C8CD"/>
              </a:solidFill>
              <a:prstDash val="solid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>
                <a:solidFill>
                  <a:prstClr val="black"/>
                </a:solidFill>
                <a:latin typeface="Calibri" panose="020F0502020204030204"/>
                <a:ea typeface="페이퍼로지 4 Regular" pitchFamily="2" charset="-127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5A006777-11B2-5930-4549-EF0346B9B473}"/>
              </a:ext>
            </a:extLst>
          </p:cNvPr>
          <p:cNvGrpSpPr/>
          <p:nvPr/>
        </p:nvGrpSpPr>
        <p:grpSpPr>
          <a:xfrm>
            <a:off x="6816075" y="1977705"/>
            <a:ext cx="2667209" cy="387350"/>
            <a:chOff x="6823591" y="1952625"/>
            <a:chExt cx="2667209" cy="387350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3B153DBE-235C-1DDD-8726-6053E9BAEF0A}"/>
                </a:ext>
              </a:extLst>
            </p:cNvPr>
            <p:cNvSpPr/>
            <p:nvPr/>
          </p:nvSpPr>
          <p:spPr>
            <a:xfrm>
              <a:off x="7495157" y="2007800"/>
              <a:ext cx="1324080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dirty="0">
                  <a:solidFill>
                    <a:srgbClr val="02095A"/>
                  </a:solidFill>
                  <a:latin typeface="페이퍼로지 8 ExtraBold" pitchFamily="2" charset="-127"/>
                  <a:ea typeface="페이퍼로지 8 ExtraBold" pitchFamily="2" charset="-127"/>
                  <a:cs typeface="Arial" panose="020B0604020202020204" pitchFamily="34" charset="0"/>
                </a:rPr>
                <a:t>기능 상세 내역</a:t>
              </a:r>
            </a:p>
          </p:txBody>
        </p: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CF6240FC-85DE-0C95-5020-12019500D92B}"/>
                </a:ext>
              </a:extLst>
            </p:cNvPr>
            <p:cNvCxnSpPr/>
            <p:nvPr/>
          </p:nvCxnSpPr>
          <p:spPr>
            <a:xfrm>
              <a:off x="6823591" y="2339975"/>
              <a:ext cx="2667209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133D1FEA-1145-20A5-2843-E57B72E4A3F5}"/>
                </a:ext>
              </a:extLst>
            </p:cNvPr>
            <p:cNvCxnSpPr/>
            <p:nvPr/>
          </p:nvCxnSpPr>
          <p:spPr>
            <a:xfrm>
              <a:off x="6823591" y="1952625"/>
              <a:ext cx="2667209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5152C77-D472-1DCF-4C77-D3AACC9FE9EB}"/>
              </a:ext>
            </a:extLst>
          </p:cNvPr>
          <p:cNvCxnSpPr/>
          <p:nvPr/>
        </p:nvCxnSpPr>
        <p:spPr>
          <a:xfrm>
            <a:off x="6816075" y="6081801"/>
            <a:ext cx="2667209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44548861-67E3-4A81-2B76-23EF910C3703}"/>
              </a:ext>
            </a:extLst>
          </p:cNvPr>
          <p:cNvCxnSpPr/>
          <p:nvPr/>
        </p:nvCxnSpPr>
        <p:spPr>
          <a:xfrm>
            <a:off x="6816075" y="3237485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0B8E8513-6A40-C60A-56A2-A9F08AEE871A}"/>
              </a:ext>
            </a:extLst>
          </p:cNvPr>
          <p:cNvCxnSpPr/>
          <p:nvPr/>
        </p:nvCxnSpPr>
        <p:spPr>
          <a:xfrm>
            <a:off x="6816075" y="4184625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2E95B6CA-6DC0-9221-A3F4-B03444C2C925}"/>
              </a:ext>
            </a:extLst>
          </p:cNvPr>
          <p:cNvCxnSpPr/>
          <p:nvPr/>
        </p:nvCxnSpPr>
        <p:spPr>
          <a:xfrm>
            <a:off x="6816075" y="5121891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426083E8-FFB9-41B9-9AEA-394AD98EBE44}"/>
              </a:ext>
            </a:extLst>
          </p:cNvPr>
          <p:cNvGrpSpPr/>
          <p:nvPr/>
        </p:nvGrpSpPr>
        <p:grpSpPr>
          <a:xfrm>
            <a:off x="6824388" y="2553409"/>
            <a:ext cx="2655779" cy="567092"/>
            <a:chOff x="6831904" y="2398664"/>
            <a:chExt cx="2655779" cy="567092"/>
          </a:xfrm>
        </p:grpSpPr>
        <p:sp>
          <p:nvSpPr>
            <p:cNvPr id="97" name="Rectangle 25">
              <a:extLst>
                <a:ext uri="{FF2B5EF4-FFF2-40B4-BE49-F238E27FC236}">
                  <a16:creationId xmlns:a16="http://schemas.microsoft.com/office/drawing/2014/main" id="{58823AA2-E04D-D795-7819-D0038BE0BFB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34624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경량 에이전트 및 증분 수집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CPU·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메모리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네트워크 사용량 제어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98" name="Rectangle 25">
              <a:extLst>
                <a:ext uri="{FF2B5EF4-FFF2-40B4-BE49-F238E27FC236}">
                  <a16:creationId xmlns:a16="http://schemas.microsoft.com/office/drawing/2014/main" id="{B1E3F402-1899-FD54-EC6F-94A31CECEB2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저부하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·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안정적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수집</a:t>
              </a: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DA62B091-451F-2230-726B-09E9CB82CE8D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1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A631C161-924A-EE3D-8F24-B08E91E62AB5}"/>
              </a:ext>
            </a:extLst>
          </p:cNvPr>
          <p:cNvGrpSpPr/>
          <p:nvPr/>
        </p:nvGrpSpPr>
        <p:grpSpPr>
          <a:xfrm>
            <a:off x="6824388" y="3417505"/>
            <a:ext cx="2655778" cy="528620"/>
            <a:chOff x="6831904" y="2398664"/>
            <a:chExt cx="2655778" cy="528620"/>
          </a:xfrm>
        </p:grpSpPr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0A6D6B64-1E90-23F1-AF14-AB87CDA92E8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278323" cy="307777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다양한 로그 형식과 입력 플러그인을 지원하여 신규 대상 확장</a:t>
              </a:r>
            </a:p>
          </p:txBody>
        </p:sp>
        <p:sp>
          <p:nvSpPr>
            <p:cNvPr id="102" name="Rectangle 25">
              <a:extLst>
                <a:ext uri="{FF2B5EF4-FFF2-40B4-BE49-F238E27FC236}">
                  <a16:creationId xmlns:a16="http://schemas.microsoft.com/office/drawing/2014/main" id="{9DAC8A7B-704D-F174-56E1-0183DBC9F26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다양한 입력 지원</a:t>
              </a: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8DE5C4DF-3E7C-BF46-1190-D1147D60E047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7494348F-71F8-F6B5-782C-9707D2AB8018}"/>
              </a:ext>
            </a:extLst>
          </p:cNvPr>
          <p:cNvGrpSpPr/>
          <p:nvPr/>
        </p:nvGrpSpPr>
        <p:grpSpPr>
          <a:xfrm>
            <a:off x="6824388" y="4401053"/>
            <a:ext cx="2655779" cy="528620"/>
            <a:chOff x="6831904" y="2398664"/>
            <a:chExt cx="2655779" cy="528620"/>
          </a:xfrm>
        </p:grpSpPr>
        <p:sp>
          <p:nvSpPr>
            <p:cNvPr id="105" name="Rectangle 25">
              <a:extLst>
                <a:ext uri="{FF2B5EF4-FFF2-40B4-BE49-F238E27FC236}">
                  <a16:creationId xmlns:a16="http://schemas.microsoft.com/office/drawing/2014/main" id="{61E84A40-73A8-45CB-14AF-B1B5D522DEE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307777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시스템별 로그 표준화 및 거래 추적 식별정보 유지</a:t>
              </a:r>
            </a:p>
          </p:txBody>
        </p:sp>
        <p:sp>
          <p:nvSpPr>
            <p:cNvPr id="106" name="Rectangle 25">
              <a:extLst>
                <a:ext uri="{FF2B5EF4-FFF2-40B4-BE49-F238E27FC236}">
                  <a16:creationId xmlns:a16="http://schemas.microsoft.com/office/drawing/2014/main" id="{E1DD20E7-B06A-A944-9EEF-0E9D837AE52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거래 추적 기반 확보</a:t>
              </a: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E420E9C-697C-CD40-BED6-E1A7922BF11C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3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3BBE48E1-EA92-3C61-8CF2-D44DEDFB8E33}"/>
              </a:ext>
            </a:extLst>
          </p:cNvPr>
          <p:cNvGrpSpPr/>
          <p:nvPr/>
        </p:nvGrpSpPr>
        <p:grpSpPr>
          <a:xfrm>
            <a:off x="6824388" y="5306978"/>
            <a:ext cx="2655779" cy="567092"/>
            <a:chOff x="6831904" y="2398664"/>
            <a:chExt cx="2655779" cy="567092"/>
          </a:xfrm>
        </p:grpSpPr>
        <p:sp>
          <p:nvSpPr>
            <p:cNvPr id="109" name="Rectangle 25">
              <a:extLst>
                <a:ext uri="{FF2B5EF4-FFF2-40B4-BE49-F238E27FC236}">
                  <a16:creationId xmlns:a16="http://schemas.microsoft.com/office/drawing/2014/main" id="{8F562541-FC1C-3E84-61B4-6604358E777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34624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정형 필드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비정형 패턴 기반 탐지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마스킹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삭제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암호화 및 적용 이력 관리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10" name="Rectangle 25">
              <a:extLst>
                <a:ext uri="{FF2B5EF4-FFF2-40B4-BE49-F238E27FC236}">
                  <a16:creationId xmlns:a16="http://schemas.microsoft.com/office/drawing/2014/main" id="{894E7E80-69B6-DA3C-735D-483C4284B7E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수집 단계 정보보호</a:t>
              </a: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117F4D8A-67CA-CE29-69D4-E14FE975E940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4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113" name="AutoShape 227">
            <a:extLst>
              <a:ext uri="{FF2B5EF4-FFF2-40B4-BE49-F238E27FC236}">
                <a16:creationId xmlns:a16="http://schemas.microsoft.com/office/drawing/2014/main" id="{87C445E6-ECA9-F387-1123-E69A5B7EDE4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5199" y="2033886"/>
            <a:ext cx="1426658" cy="252000"/>
          </a:xfrm>
          <a:prstGeom prst="rect">
            <a:avLst/>
          </a:prstGeom>
          <a:solidFill>
            <a:srgbClr val="8DAC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다양한 로그 소스</a:t>
            </a:r>
          </a:p>
        </p:txBody>
      </p:sp>
      <p:sp>
        <p:nvSpPr>
          <p:cNvPr id="114" name="AutoShape 227">
            <a:extLst>
              <a:ext uri="{FF2B5EF4-FFF2-40B4-BE49-F238E27FC236}">
                <a16:creationId xmlns:a16="http://schemas.microsoft.com/office/drawing/2014/main" id="{738B3B54-1A81-CBEB-8D3A-90E78EA56FA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09611" y="2033886"/>
            <a:ext cx="1426658" cy="252000"/>
          </a:xfrm>
          <a:prstGeom prst="rect">
            <a:avLst/>
          </a:prstGeom>
          <a:solidFill>
            <a:srgbClr val="041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민감정보 보호</a:t>
            </a:r>
          </a:p>
        </p:txBody>
      </p:sp>
      <p:sp>
        <p:nvSpPr>
          <p:cNvPr id="115" name="AutoShape 227">
            <a:extLst>
              <a:ext uri="{FF2B5EF4-FFF2-40B4-BE49-F238E27FC236}">
                <a16:creationId xmlns:a16="http://schemas.microsoft.com/office/drawing/2014/main" id="{3EAD353A-AB19-87F8-D121-1430719B27F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11474" y="2033886"/>
            <a:ext cx="1426658" cy="252000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200" dirty="0" err="1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전처리</a:t>
            </a:r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및 표준화</a:t>
            </a:r>
          </a:p>
        </p:txBody>
      </p:sp>
      <p:sp>
        <p:nvSpPr>
          <p:cNvPr id="116" name="AutoShape 227">
            <a:extLst>
              <a:ext uri="{FF2B5EF4-FFF2-40B4-BE49-F238E27FC236}">
                <a16:creationId xmlns:a16="http://schemas.microsoft.com/office/drawing/2014/main" id="{4AECA258-0387-EF97-D4D1-A69C2269AB0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13336" y="2033886"/>
            <a:ext cx="1426658" cy="252000"/>
          </a:xfrm>
          <a:prstGeom prst="rect">
            <a:avLst/>
          </a:prstGeom>
          <a:solidFill>
            <a:srgbClr val="4779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200" dirty="0" err="1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저부하</a:t>
            </a:r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로그 수집</a:t>
            </a: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2C18D4F9-F3FD-028A-AEAA-FE89DEB22D69}"/>
              </a:ext>
            </a:extLst>
          </p:cNvPr>
          <p:cNvGrpSpPr/>
          <p:nvPr/>
        </p:nvGrpSpPr>
        <p:grpSpPr>
          <a:xfrm>
            <a:off x="1792261" y="2070166"/>
            <a:ext cx="187956" cy="187956"/>
            <a:chOff x="7123189" y="3530491"/>
            <a:chExt cx="201600" cy="201600"/>
          </a:xfrm>
        </p:grpSpPr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A6A22D6C-8B32-944D-2181-DC5337E3FBF0}"/>
                </a:ext>
              </a:extLst>
            </p:cNvPr>
            <p:cNvSpPr/>
            <p:nvPr/>
          </p:nvSpPr>
          <p:spPr>
            <a:xfrm rot="16200000">
              <a:off x="7123189" y="3530491"/>
              <a:ext cx="201600" cy="201600"/>
            </a:xfrm>
            <a:prstGeom prst="ellipse">
              <a:avLst/>
            </a:prstGeom>
            <a:solidFill>
              <a:srgbClr val="FFFFFF"/>
            </a:solidFill>
            <a:ln w="12700">
              <a:noFill/>
              <a:prstDash val="solid"/>
              <a:round/>
              <a:headEnd/>
              <a:tailEnd/>
            </a:ln>
          </p:spPr>
          <p:txBody>
            <a:bodyPr vert="horz" wrap="square" lIns="91421" tIns="45711" rIns="91421" bIns="45711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2" name="Freeform 8">
              <a:extLst>
                <a:ext uri="{FF2B5EF4-FFF2-40B4-BE49-F238E27FC236}">
                  <a16:creationId xmlns:a16="http://schemas.microsoft.com/office/drawing/2014/main" id="{4B9EC1F5-EBBA-64FE-EEE3-5923E4E3165E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7174300" y="3581603"/>
              <a:ext cx="99376" cy="99377"/>
            </a:xfrm>
            <a:custGeom>
              <a:avLst/>
              <a:gdLst>
                <a:gd name="T0" fmla="*/ 222 w 263"/>
                <a:gd name="T1" fmla="*/ 264 h 264"/>
                <a:gd name="T2" fmla="*/ 231 w 263"/>
                <a:gd name="T3" fmla="*/ 263 h 264"/>
                <a:gd name="T4" fmla="*/ 245 w 263"/>
                <a:gd name="T5" fmla="*/ 257 h 264"/>
                <a:gd name="T6" fmla="*/ 256 w 263"/>
                <a:gd name="T7" fmla="*/ 246 h 264"/>
                <a:gd name="T8" fmla="*/ 262 w 263"/>
                <a:gd name="T9" fmla="*/ 232 h 264"/>
                <a:gd name="T10" fmla="*/ 263 w 263"/>
                <a:gd name="T11" fmla="*/ 52 h 264"/>
                <a:gd name="T12" fmla="*/ 262 w 263"/>
                <a:gd name="T13" fmla="*/ 43 h 264"/>
                <a:gd name="T14" fmla="*/ 256 w 263"/>
                <a:gd name="T15" fmla="*/ 29 h 264"/>
                <a:gd name="T16" fmla="*/ 245 w 263"/>
                <a:gd name="T17" fmla="*/ 18 h 264"/>
                <a:gd name="T18" fmla="*/ 231 w 263"/>
                <a:gd name="T19" fmla="*/ 13 h 264"/>
                <a:gd name="T20" fmla="*/ 222 w 263"/>
                <a:gd name="T21" fmla="*/ 11 h 264"/>
                <a:gd name="T22" fmla="*/ 207 w 263"/>
                <a:gd name="T23" fmla="*/ 15 h 264"/>
                <a:gd name="T24" fmla="*/ 194 w 263"/>
                <a:gd name="T25" fmla="*/ 24 h 264"/>
                <a:gd name="T26" fmla="*/ 189 w 263"/>
                <a:gd name="T27" fmla="*/ 29 h 264"/>
                <a:gd name="T28" fmla="*/ 183 w 263"/>
                <a:gd name="T29" fmla="*/ 43 h 264"/>
                <a:gd name="T30" fmla="*/ 183 w 263"/>
                <a:gd name="T31" fmla="*/ 52 h 264"/>
                <a:gd name="T32" fmla="*/ 69 w 263"/>
                <a:gd name="T33" fmla="*/ 13 h 264"/>
                <a:gd name="T34" fmla="*/ 62 w 263"/>
                <a:gd name="T35" fmla="*/ 7 h 264"/>
                <a:gd name="T36" fmla="*/ 48 w 263"/>
                <a:gd name="T37" fmla="*/ 1 h 264"/>
                <a:gd name="T38" fmla="*/ 33 w 263"/>
                <a:gd name="T39" fmla="*/ 1 h 264"/>
                <a:gd name="T40" fmla="*/ 19 w 263"/>
                <a:gd name="T41" fmla="*/ 7 h 264"/>
                <a:gd name="T42" fmla="*/ 12 w 263"/>
                <a:gd name="T43" fmla="*/ 13 h 264"/>
                <a:gd name="T44" fmla="*/ 3 w 263"/>
                <a:gd name="T45" fmla="*/ 25 h 264"/>
                <a:gd name="T46" fmla="*/ 0 w 263"/>
                <a:gd name="T47" fmla="*/ 41 h 264"/>
                <a:gd name="T48" fmla="*/ 3 w 263"/>
                <a:gd name="T49" fmla="*/ 56 h 264"/>
                <a:gd name="T50" fmla="*/ 12 w 263"/>
                <a:gd name="T51" fmla="*/ 69 h 264"/>
                <a:gd name="T52" fmla="*/ 51 w 263"/>
                <a:gd name="T53" fmla="*/ 183 h 264"/>
                <a:gd name="T54" fmla="*/ 44 w 263"/>
                <a:gd name="T55" fmla="*/ 184 h 264"/>
                <a:gd name="T56" fmla="*/ 29 w 263"/>
                <a:gd name="T57" fmla="*/ 190 h 264"/>
                <a:gd name="T58" fmla="*/ 19 w 263"/>
                <a:gd name="T59" fmla="*/ 201 h 264"/>
                <a:gd name="T60" fmla="*/ 12 w 263"/>
                <a:gd name="T61" fmla="*/ 215 h 264"/>
                <a:gd name="T62" fmla="*/ 12 w 263"/>
                <a:gd name="T63" fmla="*/ 223 h 264"/>
                <a:gd name="T64" fmla="*/ 15 w 263"/>
                <a:gd name="T65" fmla="*/ 239 h 264"/>
                <a:gd name="T66" fmla="*/ 23 w 263"/>
                <a:gd name="T67" fmla="*/ 251 h 264"/>
                <a:gd name="T68" fmla="*/ 36 w 263"/>
                <a:gd name="T69" fmla="*/ 261 h 264"/>
                <a:gd name="T70" fmla="*/ 51 w 263"/>
                <a:gd name="T71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3" h="264">
                  <a:moveTo>
                    <a:pt x="51" y="264"/>
                  </a:moveTo>
                  <a:lnTo>
                    <a:pt x="222" y="264"/>
                  </a:lnTo>
                  <a:lnTo>
                    <a:pt x="222" y="264"/>
                  </a:lnTo>
                  <a:lnTo>
                    <a:pt x="231" y="263"/>
                  </a:lnTo>
                  <a:lnTo>
                    <a:pt x="238" y="261"/>
                  </a:lnTo>
                  <a:lnTo>
                    <a:pt x="245" y="257"/>
                  </a:lnTo>
                  <a:lnTo>
                    <a:pt x="252" y="251"/>
                  </a:lnTo>
                  <a:lnTo>
                    <a:pt x="256" y="246"/>
                  </a:lnTo>
                  <a:lnTo>
                    <a:pt x="260" y="239"/>
                  </a:lnTo>
                  <a:lnTo>
                    <a:pt x="262" y="232"/>
                  </a:lnTo>
                  <a:lnTo>
                    <a:pt x="263" y="223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2" y="43"/>
                  </a:lnTo>
                  <a:lnTo>
                    <a:pt x="260" y="36"/>
                  </a:lnTo>
                  <a:lnTo>
                    <a:pt x="256" y="29"/>
                  </a:lnTo>
                  <a:lnTo>
                    <a:pt x="252" y="24"/>
                  </a:lnTo>
                  <a:lnTo>
                    <a:pt x="245" y="18"/>
                  </a:lnTo>
                  <a:lnTo>
                    <a:pt x="238" y="15"/>
                  </a:lnTo>
                  <a:lnTo>
                    <a:pt x="231" y="13"/>
                  </a:lnTo>
                  <a:lnTo>
                    <a:pt x="222" y="11"/>
                  </a:lnTo>
                  <a:lnTo>
                    <a:pt x="222" y="11"/>
                  </a:lnTo>
                  <a:lnTo>
                    <a:pt x="214" y="13"/>
                  </a:lnTo>
                  <a:lnTo>
                    <a:pt x="207" y="15"/>
                  </a:lnTo>
                  <a:lnTo>
                    <a:pt x="200" y="18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89" y="29"/>
                  </a:lnTo>
                  <a:lnTo>
                    <a:pt x="186" y="36"/>
                  </a:lnTo>
                  <a:lnTo>
                    <a:pt x="183" y="43"/>
                  </a:lnTo>
                  <a:lnTo>
                    <a:pt x="183" y="52"/>
                  </a:lnTo>
                  <a:lnTo>
                    <a:pt x="183" y="52"/>
                  </a:lnTo>
                  <a:lnTo>
                    <a:pt x="183" y="126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2" y="7"/>
                  </a:lnTo>
                  <a:lnTo>
                    <a:pt x="55" y="3"/>
                  </a:lnTo>
                  <a:lnTo>
                    <a:pt x="48" y="1"/>
                  </a:lnTo>
                  <a:lnTo>
                    <a:pt x="40" y="0"/>
                  </a:lnTo>
                  <a:lnTo>
                    <a:pt x="33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5"/>
                  </a:lnTo>
                  <a:lnTo>
                    <a:pt x="0" y="34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3" y="56"/>
                  </a:lnTo>
                  <a:lnTo>
                    <a:pt x="6" y="63"/>
                  </a:lnTo>
                  <a:lnTo>
                    <a:pt x="12" y="69"/>
                  </a:lnTo>
                  <a:lnTo>
                    <a:pt x="126" y="183"/>
                  </a:lnTo>
                  <a:lnTo>
                    <a:pt x="51" y="183"/>
                  </a:lnTo>
                  <a:lnTo>
                    <a:pt x="51" y="183"/>
                  </a:lnTo>
                  <a:lnTo>
                    <a:pt x="44" y="184"/>
                  </a:lnTo>
                  <a:lnTo>
                    <a:pt x="36" y="185"/>
                  </a:lnTo>
                  <a:lnTo>
                    <a:pt x="29" y="190"/>
                  </a:lnTo>
                  <a:lnTo>
                    <a:pt x="23" y="195"/>
                  </a:lnTo>
                  <a:lnTo>
                    <a:pt x="19" y="201"/>
                  </a:lnTo>
                  <a:lnTo>
                    <a:pt x="15" y="208"/>
                  </a:lnTo>
                  <a:lnTo>
                    <a:pt x="12" y="215"/>
                  </a:lnTo>
                  <a:lnTo>
                    <a:pt x="12" y="223"/>
                  </a:lnTo>
                  <a:lnTo>
                    <a:pt x="12" y="223"/>
                  </a:lnTo>
                  <a:lnTo>
                    <a:pt x="12" y="232"/>
                  </a:lnTo>
                  <a:lnTo>
                    <a:pt x="15" y="239"/>
                  </a:lnTo>
                  <a:lnTo>
                    <a:pt x="19" y="246"/>
                  </a:lnTo>
                  <a:lnTo>
                    <a:pt x="23" y="251"/>
                  </a:lnTo>
                  <a:lnTo>
                    <a:pt x="29" y="257"/>
                  </a:lnTo>
                  <a:lnTo>
                    <a:pt x="36" y="261"/>
                  </a:lnTo>
                  <a:lnTo>
                    <a:pt x="44" y="263"/>
                  </a:lnTo>
                  <a:lnTo>
                    <a:pt x="51" y="264"/>
                  </a:lnTo>
                  <a:lnTo>
                    <a:pt x="51" y="26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/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DA7343FF-6CF9-A889-9FF5-BCA01E8EFFC0}"/>
              </a:ext>
            </a:extLst>
          </p:cNvPr>
          <p:cNvGrpSpPr/>
          <p:nvPr/>
        </p:nvGrpSpPr>
        <p:grpSpPr>
          <a:xfrm>
            <a:off x="3291743" y="2070166"/>
            <a:ext cx="187956" cy="187956"/>
            <a:chOff x="7123189" y="3530491"/>
            <a:chExt cx="201600" cy="201600"/>
          </a:xfrm>
        </p:grpSpPr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CEB22B29-2F76-F5E1-C762-E29112AB5026}"/>
                </a:ext>
              </a:extLst>
            </p:cNvPr>
            <p:cNvSpPr/>
            <p:nvPr/>
          </p:nvSpPr>
          <p:spPr>
            <a:xfrm rot="16200000">
              <a:off x="7123189" y="3530491"/>
              <a:ext cx="201600" cy="201600"/>
            </a:xfrm>
            <a:prstGeom prst="ellipse">
              <a:avLst/>
            </a:prstGeom>
            <a:solidFill>
              <a:srgbClr val="FFFFFF"/>
            </a:solidFill>
            <a:ln w="12700">
              <a:noFill/>
              <a:prstDash val="solid"/>
              <a:round/>
              <a:headEnd/>
              <a:tailEnd/>
            </a:ln>
          </p:spPr>
          <p:txBody>
            <a:bodyPr vert="horz" wrap="square" lIns="91421" tIns="45711" rIns="91421" bIns="45711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8" name="Freeform 8">
              <a:extLst>
                <a:ext uri="{FF2B5EF4-FFF2-40B4-BE49-F238E27FC236}">
                  <a16:creationId xmlns:a16="http://schemas.microsoft.com/office/drawing/2014/main" id="{84011260-C755-7EA7-A288-F99495ED1BC1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7174300" y="3581603"/>
              <a:ext cx="99376" cy="99377"/>
            </a:xfrm>
            <a:custGeom>
              <a:avLst/>
              <a:gdLst>
                <a:gd name="T0" fmla="*/ 222 w 263"/>
                <a:gd name="T1" fmla="*/ 264 h 264"/>
                <a:gd name="T2" fmla="*/ 231 w 263"/>
                <a:gd name="T3" fmla="*/ 263 h 264"/>
                <a:gd name="T4" fmla="*/ 245 w 263"/>
                <a:gd name="T5" fmla="*/ 257 h 264"/>
                <a:gd name="T6" fmla="*/ 256 w 263"/>
                <a:gd name="T7" fmla="*/ 246 h 264"/>
                <a:gd name="T8" fmla="*/ 262 w 263"/>
                <a:gd name="T9" fmla="*/ 232 h 264"/>
                <a:gd name="T10" fmla="*/ 263 w 263"/>
                <a:gd name="T11" fmla="*/ 52 h 264"/>
                <a:gd name="T12" fmla="*/ 262 w 263"/>
                <a:gd name="T13" fmla="*/ 43 h 264"/>
                <a:gd name="T14" fmla="*/ 256 w 263"/>
                <a:gd name="T15" fmla="*/ 29 h 264"/>
                <a:gd name="T16" fmla="*/ 245 w 263"/>
                <a:gd name="T17" fmla="*/ 18 h 264"/>
                <a:gd name="T18" fmla="*/ 231 w 263"/>
                <a:gd name="T19" fmla="*/ 13 h 264"/>
                <a:gd name="T20" fmla="*/ 222 w 263"/>
                <a:gd name="T21" fmla="*/ 11 h 264"/>
                <a:gd name="T22" fmla="*/ 207 w 263"/>
                <a:gd name="T23" fmla="*/ 15 h 264"/>
                <a:gd name="T24" fmla="*/ 194 w 263"/>
                <a:gd name="T25" fmla="*/ 24 h 264"/>
                <a:gd name="T26" fmla="*/ 189 w 263"/>
                <a:gd name="T27" fmla="*/ 29 h 264"/>
                <a:gd name="T28" fmla="*/ 183 w 263"/>
                <a:gd name="T29" fmla="*/ 43 h 264"/>
                <a:gd name="T30" fmla="*/ 183 w 263"/>
                <a:gd name="T31" fmla="*/ 52 h 264"/>
                <a:gd name="T32" fmla="*/ 69 w 263"/>
                <a:gd name="T33" fmla="*/ 13 h 264"/>
                <a:gd name="T34" fmla="*/ 62 w 263"/>
                <a:gd name="T35" fmla="*/ 7 h 264"/>
                <a:gd name="T36" fmla="*/ 48 w 263"/>
                <a:gd name="T37" fmla="*/ 1 h 264"/>
                <a:gd name="T38" fmla="*/ 33 w 263"/>
                <a:gd name="T39" fmla="*/ 1 h 264"/>
                <a:gd name="T40" fmla="*/ 19 w 263"/>
                <a:gd name="T41" fmla="*/ 7 h 264"/>
                <a:gd name="T42" fmla="*/ 12 w 263"/>
                <a:gd name="T43" fmla="*/ 13 h 264"/>
                <a:gd name="T44" fmla="*/ 3 w 263"/>
                <a:gd name="T45" fmla="*/ 25 h 264"/>
                <a:gd name="T46" fmla="*/ 0 w 263"/>
                <a:gd name="T47" fmla="*/ 41 h 264"/>
                <a:gd name="T48" fmla="*/ 3 w 263"/>
                <a:gd name="T49" fmla="*/ 56 h 264"/>
                <a:gd name="T50" fmla="*/ 12 w 263"/>
                <a:gd name="T51" fmla="*/ 69 h 264"/>
                <a:gd name="T52" fmla="*/ 51 w 263"/>
                <a:gd name="T53" fmla="*/ 183 h 264"/>
                <a:gd name="T54" fmla="*/ 44 w 263"/>
                <a:gd name="T55" fmla="*/ 184 h 264"/>
                <a:gd name="T56" fmla="*/ 29 w 263"/>
                <a:gd name="T57" fmla="*/ 190 h 264"/>
                <a:gd name="T58" fmla="*/ 19 w 263"/>
                <a:gd name="T59" fmla="*/ 201 h 264"/>
                <a:gd name="T60" fmla="*/ 12 w 263"/>
                <a:gd name="T61" fmla="*/ 215 h 264"/>
                <a:gd name="T62" fmla="*/ 12 w 263"/>
                <a:gd name="T63" fmla="*/ 223 h 264"/>
                <a:gd name="T64" fmla="*/ 15 w 263"/>
                <a:gd name="T65" fmla="*/ 239 h 264"/>
                <a:gd name="T66" fmla="*/ 23 w 263"/>
                <a:gd name="T67" fmla="*/ 251 h 264"/>
                <a:gd name="T68" fmla="*/ 36 w 263"/>
                <a:gd name="T69" fmla="*/ 261 h 264"/>
                <a:gd name="T70" fmla="*/ 51 w 263"/>
                <a:gd name="T71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3" h="264">
                  <a:moveTo>
                    <a:pt x="51" y="264"/>
                  </a:moveTo>
                  <a:lnTo>
                    <a:pt x="222" y="264"/>
                  </a:lnTo>
                  <a:lnTo>
                    <a:pt x="222" y="264"/>
                  </a:lnTo>
                  <a:lnTo>
                    <a:pt x="231" y="263"/>
                  </a:lnTo>
                  <a:lnTo>
                    <a:pt x="238" y="261"/>
                  </a:lnTo>
                  <a:lnTo>
                    <a:pt x="245" y="257"/>
                  </a:lnTo>
                  <a:lnTo>
                    <a:pt x="252" y="251"/>
                  </a:lnTo>
                  <a:lnTo>
                    <a:pt x="256" y="246"/>
                  </a:lnTo>
                  <a:lnTo>
                    <a:pt x="260" y="239"/>
                  </a:lnTo>
                  <a:lnTo>
                    <a:pt x="262" y="232"/>
                  </a:lnTo>
                  <a:lnTo>
                    <a:pt x="263" y="223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2" y="43"/>
                  </a:lnTo>
                  <a:lnTo>
                    <a:pt x="260" y="36"/>
                  </a:lnTo>
                  <a:lnTo>
                    <a:pt x="256" y="29"/>
                  </a:lnTo>
                  <a:lnTo>
                    <a:pt x="252" y="24"/>
                  </a:lnTo>
                  <a:lnTo>
                    <a:pt x="245" y="18"/>
                  </a:lnTo>
                  <a:lnTo>
                    <a:pt x="238" y="15"/>
                  </a:lnTo>
                  <a:lnTo>
                    <a:pt x="231" y="13"/>
                  </a:lnTo>
                  <a:lnTo>
                    <a:pt x="222" y="11"/>
                  </a:lnTo>
                  <a:lnTo>
                    <a:pt x="222" y="11"/>
                  </a:lnTo>
                  <a:lnTo>
                    <a:pt x="214" y="13"/>
                  </a:lnTo>
                  <a:lnTo>
                    <a:pt x="207" y="15"/>
                  </a:lnTo>
                  <a:lnTo>
                    <a:pt x="200" y="18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89" y="29"/>
                  </a:lnTo>
                  <a:lnTo>
                    <a:pt x="186" y="36"/>
                  </a:lnTo>
                  <a:lnTo>
                    <a:pt x="183" y="43"/>
                  </a:lnTo>
                  <a:lnTo>
                    <a:pt x="183" y="52"/>
                  </a:lnTo>
                  <a:lnTo>
                    <a:pt x="183" y="52"/>
                  </a:lnTo>
                  <a:lnTo>
                    <a:pt x="183" y="126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2" y="7"/>
                  </a:lnTo>
                  <a:lnTo>
                    <a:pt x="55" y="3"/>
                  </a:lnTo>
                  <a:lnTo>
                    <a:pt x="48" y="1"/>
                  </a:lnTo>
                  <a:lnTo>
                    <a:pt x="40" y="0"/>
                  </a:lnTo>
                  <a:lnTo>
                    <a:pt x="33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5"/>
                  </a:lnTo>
                  <a:lnTo>
                    <a:pt x="0" y="34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3" y="56"/>
                  </a:lnTo>
                  <a:lnTo>
                    <a:pt x="6" y="63"/>
                  </a:lnTo>
                  <a:lnTo>
                    <a:pt x="12" y="69"/>
                  </a:lnTo>
                  <a:lnTo>
                    <a:pt x="126" y="183"/>
                  </a:lnTo>
                  <a:lnTo>
                    <a:pt x="51" y="183"/>
                  </a:lnTo>
                  <a:lnTo>
                    <a:pt x="51" y="183"/>
                  </a:lnTo>
                  <a:lnTo>
                    <a:pt x="44" y="184"/>
                  </a:lnTo>
                  <a:lnTo>
                    <a:pt x="36" y="185"/>
                  </a:lnTo>
                  <a:lnTo>
                    <a:pt x="29" y="190"/>
                  </a:lnTo>
                  <a:lnTo>
                    <a:pt x="23" y="195"/>
                  </a:lnTo>
                  <a:lnTo>
                    <a:pt x="19" y="201"/>
                  </a:lnTo>
                  <a:lnTo>
                    <a:pt x="15" y="208"/>
                  </a:lnTo>
                  <a:lnTo>
                    <a:pt x="12" y="215"/>
                  </a:lnTo>
                  <a:lnTo>
                    <a:pt x="12" y="223"/>
                  </a:lnTo>
                  <a:lnTo>
                    <a:pt x="12" y="223"/>
                  </a:lnTo>
                  <a:lnTo>
                    <a:pt x="12" y="232"/>
                  </a:lnTo>
                  <a:lnTo>
                    <a:pt x="15" y="239"/>
                  </a:lnTo>
                  <a:lnTo>
                    <a:pt x="19" y="246"/>
                  </a:lnTo>
                  <a:lnTo>
                    <a:pt x="23" y="251"/>
                  </a:lnTo>
                  <a:lnTo>
                    <a:pt x="29" y="257"/>
                  </a:lnTo>
                  <a:lnTo>
                    <a:pt x="36" y="261"/>
                  </a:lnTo>
                  <a:lnTo>
                    <a:pt x="44" y="263"/>
                  </a:lnTo>
                  <a:lnTo>
                    <a:pt x="51" y="264"/>
                  </a:lnTo>
                  <a:lnTo>
                    <a:pt x="51" y="26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/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98D01A26-9225-B6C2-BD13-8255F949C1C6}"/>
              </a:ext>
            </a:extLst>
          </p:cNvPr>
          <p:cNvGrpSpPr/>
          <p:nvPr/>
        </p:nvGrpSpPr>
        <p:grpSpPr>
          <a:xfrm>
            <a:off x="4779888" y="2065908"/>
            <a:ext cx="187956" cy="187956"/>
            <a:chOff x="7123189" y="3530491"/>
            <a:chExt cx="201600" cy="201600"/>
          </a:xfrm>
        </p:grpSpPr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46006BB4-6B29-DEA1-6A14-01DFB6A9A803}"/>
                </a:ext>
              </a:extLst>
            </p:cNvPr>
            <p:cNvSpPr/>
            <p:nvPr/>
          </p:nvSpPr>
          <p:spPr>
            <a:xfrm rot="16200000">
              <a:off x="7123189" y="3530491"/>
              <a:ext cx="201600" cy="201600"/>
            </a:xfrm>
            <a:prstGeom prst="ellipse">
              <a:avLst/>
            </a:prstGeom>
            <a:solidFill>
              <a:srgbClr val="FFFFFF"/>
            </a:solidFill>
            <a:ln w="12700">
              <a:noFill/>
              <a:prstDash val="solid"/>
              <a:round/>
              <a:headEnd/>
              <a:tailEnd/>
            </a:ln>
          </p:spPr>
          <p:txBody>
            <a:bodyPr vert="horz" wrap="square" lIns="91421" tIns="45711" rIns="91421" bIns="45711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1" name="Freeform 8">
              <a:extLst>
                <a:ext uri="{FF2B5EF4-FFF2-40B4-BE49-F238E27FC236}">
                  <a16:creationId xmlns:a16="http://schemas.microsoft.com/office/drawing/2014/main" id="{12328A07-3651-D575-B81F-C5FFCBE82C7C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7174300" y="3581603"/>
              <a:ext cx="99376" cy="99377"/>
            </a:xfrm>
            <a:custGeom>
              <a:avLst/>
              <a:gdLst>
                <a:gd name="T0" fmla="*/ 222 w 263"/>
                <a:gd name="T1" fmla="*/ 264 h 264"/>
                <a:gd name="T2" fmla="*/ 231 w 263"/>
                <a:gd name="T3" fmla="*/ 263 h 264"/>
                <a:gd name="T4" fmla="*/ 245 w 263"/>
                <a:gd name="T5" fmla="*/ 257 h 264"/>
                <a:gd name="T6" fmla="*/ 256 w 263"/>
                <a:gd name="T7" fmla="*/ 246 h 264"/>
                <a:gd name="T8" fmla="*/ 262 w 263"/>
                <a:gd name="T9" fmla="*/ 232 h 264"/>
                <a:gd name="T10" fmla="*/ 263 w 263"/>
                <a:gd name="T11" fmla="*/ 52 h 264"/>
                <a:gd name="T12" fmla="*/ 262 w 263"/>
                <a:gd name="T13" fmla="*/ 43 h 264"/>
                <a:gd name="T14" fmla="*/ 256 w 263"/>
                <a:gd name="T15" fmla="*/ 29 h 264"/>
                <a:gd name="T16" fmla="*/ 245 w 263"/>
                <a:gd name="T17" fmla="*/ 18 h 264"/>
                <a:gd name="T18" fmla="*/ 231 w 263"/>
                <a:gd name="T19" fmla="*/ 13 h 264"/>
                <a:gd name="T20" fmla="*/ 222 w 263"/>
                <a:gd name="T21" fmla="*/ 11 h 264"/>
                <a:gd name="T22" fmla="*/ 207 w 263"/>
                <a:gd name="T23" fmla="*/ 15 h 264"/>
                <a:gd name="T24" fmla="*/ 194 w 263"/>
                <a:gd name="T25" fmla="*/ 24 h 264"/>
                <a:gd name="T26" fmla="*/ 189 w 263"/>
                <a:gd name="T27" fmla="*/ 29 h 264"/>
                <a:gd name="T28" fmla="*/ 183 w 263"/>
                <a:gd name="T29" fmla="*/ 43 h 264"/>
                <a:gd name="T30" fmla="*/ 183 w 263"/>
                <a:gd name="T31" fmla="*/ 52 h 264"/>
                <a:gd name="T32" fmla="*/ 69 w 263"/>
                <a:gd name="T33" fmla="*/ 13 h 264"/>
                <a:gd name="T34" fmla="*/ 62 w 263"/>
                <a:gd name="T35" fmla="*/ 7 h 264"/>
                <a:gd name="T36" fmla="*/ 48 w 263"/>
                <a:gd name="T37" fmla="*/ 1 h 264"/>
                <a:gd name="T38" fmla="*/ 33 w 263"/>
                <a:gd name="T39" fmla="*/ 1 h 264"/>
                <a:gd name="T40" fmla="*/ 19 w 263"/>
                <a:gd name="T41" fmla="*/ 7 h 264"/>
                <a:gd name="T42" fmla="*/ 12 w 263"/>
                <a:gd name="T43" fmla="*/ 13 h 264"/>
                <a:gd name="T44" fmla="*/ 3 w 263"/>
                <a:gd name="T45" fmla="*/ 25 h 264"/>
                <a:gd name="T46" fmla="*/ 0 w 263"/>
                <a:gd name="T47" fmla="*/ 41 h 264"/>
                <a:gd name="T48" fmla="*/ 3 w 263"/>
                <a:gd name="T49" fmla="*/ 56 h 264"/>
                <a:gd name="T50" fmla="*/ 12 w 263"/>
                <a:gd name="T51" fmla="*/ 69 h 264"/>
                <a:gd name="T52" fmla="*/ 51 w 263"/>
                <a:gd name="T53" fmla="*/ 183 h 264"/>
                <a:gd name="T54" fmla="*/ 44 w 263"/>
                <a:gd name="T55" fmla="*/ 184 h 264"/>
                <a:gd name="T56" fmla="*/ 29 w 263"/>
                <a:gd name="T57" fmla="*/ 190 h 264"/>
                <a:gd name="T58" fmla="*/ 19 w 263"/>
                <a:gd name="T59" fmla="*/ 201 h 264"/>
                <a:gd name="T60" fmla="*/ 12 w 263"/>
                <a:gd name="T61" fmla="*/ 215 h 264"/>
                <a:gd name="T62" fmla="*/ 12 w 263"/>
                <a:gd name="T63" fmla="*/ 223 h 264"/>
                <a:gd name="T64" fmla="*/ 15 w 263"/>
                <a:gd name="T65" fmla="*/ 239 h 264"/>
                <a:gd name="T66" fmla="*/ 23 w 263"/>
                <a:gd name="T67" fmla="*/ 251 h 264"/>
                <a:gd name="T68" fmla="*/ 36 w 263"/>
                <a:gd name="T69" fmla="*/ 261 h 264"/>
                <a:gd name="T70" fmla="*/ 51 w 263"/>
                <a:gd name="T71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3" h="264">
                  <a:moveTo>
                    <a:pt x="51" y="264"/>
                  </a:moveTo>
                  <a:lnTo>
                    <a:pt x="222" y="264"/>
                  </a:lnTo>
                  <a:lnTo>
                    <a:pt x="222" y="264"/>
                  </a:lnTo>
                  <a:lnTo>
                    <a:pt x="231" y="263"/>
                  </a:lnTo>
                  <a:lnTo>
                    <a:pt x="238" y="261"/>
                  </a:lnTo>
                  <a:lnTo>
                    <a:pt x="245" y="257"/>
                  </a:lnTo>
                  <a:lnTo>
                    <a:pt x="252" y="251"/>
                  </a:lnTo>
                  <a:lnTo>
                    <a:pt x="256" y="246"/>
                  </a:lnTo>
                  <a:lnTo>
                    <a:pt x="260" y="239"/>
                  </a:lnTo>
                  <a:lnTo>
                    <a:pt x="262" y="232"/>
                  </a:lnTo>
                  <a:lnTo>
                    <a:pt x="263" y="223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2" y="43"/>
                  </a:lnTo>
                  <a:lnTo>
                    <a:pt x="260" y="36"/>
                  </a:lnTo>
                  <a:lnTo>
                    <a:pt x="256" y="29"/>
                  </a:lnTo>
                  <a:lnTo>
                    <a:pt x="252" y="24"/>
                  </a:lnTo>
                  <a:lnTo>
                    <a:pt x="245" y="18"/>
                  </a:lnTo>
                  <a:lnTo>
                    <a:pt x="238" y="15"/>
                  </a:lnTo>
                  <a:lnTo>
                    <a:pt x="231" y="13"/>
                  </a:lnTo>
                  <a:lnTo>
                    <a:pt x="222" y="11"/>
                  </a:lnTo>
                  <a:lnTo>
                    <a:pt x="222" y="11"/>
                  </a:lnTo>
                  <a:lnTo>
                    <a:pt x="214" y="13"/>
                  </a:lnTo>
                  <a:lnTo>
                    <a:pt x="207" y="15"/>
                  </a:lnTo>
                  <a:lnTo>
                    <a:pt x="200" y="18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89" y="29"/>
                  </a:lnTo>
                  <a:lnTo>
                    <a:pt x="186" y="36"/>
                  </a:lnTo>
                  <a:lnTo>
                    <a:pt x="183" y="43"/>
                  </a:lnTo>
                  <a:lnTo>
                    <a:pt x="183" y="52"/>
                  </a:lnTo>
                  <a:lnTo>
                    <a:pt x="183" y="52"/>
                  </a:lnTo>
                  <a:lnTo>
                    <a:pt x="183" y="126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2" y="7"/>
                  </a:lnTo>
                  <a:lnTo>
                    <a:pt x="55" y="3"/>
                  </a:lnTo>
                  <a:lnTo>
                    <a:pt x="48" y="1"/>
                  </a:lnTo>
                  <a:lnTo>
                    <a:pt x="40" y="0"/>
                  </a:lnTo>
                  <a:lnTo>
                    <a:pt x="33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5"/>
                  </a:lnTo>
                  <a:lnTo>
                    <a:pt x="0" y="34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3" y="56"/>
                  </a:lnTo>
                  <a:lnTo>
                    <a:pt x="6" y="63"/>
                  </a:lnTo>
                  <a:lnTo>
                    <a:pt x="12" y="69"/>
                  </a:lnTo>
                  <a:lnTo>
                    <a:pt x="126" y="183"/>
                  </a:lnTo>
                  <a:lnTo>
                    <a:pt x="51" y="183"/>
                  </a:lnTo>
                  <a:lnTo>
                    <a:pt x="51" y="183"/>
                  </a:lnTo>
                  <a:lnTo>
                    <a:pt x="44" y="184"/>
                  </a:lnTo>
                  <a:lnTo>
                    <a:pt x="36" y="185"/>
                  </a:lnTo>
                  <a:lnTo>
                    <a:pt x="29" y="190"/>
                  </a:lnTo>
                  <a:lnTo>
                    <a:pt x="23" y="195"/>
                  </a:lnTo>
                  <a:lnTo>
                    <a:pt x="19" y="201"/>
                  </a:lnTo>
                  <a:lnTo>
                    <a:pt x="15" y="208"/>
                  </a:lnTo>
                  <a:lnTo>
                    <a:pt x="12" y="215"/>
                  </a:lnTo>
                  <a:lnTo>
                    <a:pt x="12" y="223"/>
                  </a:lnTo>
                  <a:lnTo>
                    <a:pt x="12" y="223"/>
                  </a:lnTo>
                  <a:lnTo>
                    <a:pt x="12" y="232"/>
                  </a:lnTo>
                  <a:lnTo>
                    <a:pt x="15" y="239"/>
                  </a:lnTo>
                  <a:lnTo>
                    <a:pt x="19" y="246"/>
                  </a:lnTo>
                  <a:lnTo>
                    <a:pt x="23" y="251"/>
                  </a:lnTo>
                  <a:lnTo>
                    <a:pt x="29" y="257"/>
                  </a:lnTo>
                  <a:lnTo>
                    <a:pt x="36" y="261"/>
                  </a:lnTo>
                  <a:lnTo>
                    <a:pt x="44" y="263"/>
                  </a:lnTo>
                  <a:lnTo>
                    <a:pt x="51" y="264"/>
                  </a:lnTo>
                  <a:lnTo>
                    <a:pt x="51" y="26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/>
            </a:p>
          </p:txBody>
        </p:sp>
      </p:grpSp>
      <p:sp>
        <p:nvSpPr>
          <p:cNvPr id="144" name="Rectangle 25">
            <a:extLst>
              <a:ext uri="{FF2B5EF4-FFF2-40B4-BE49-F238E27FC236}">
                <a16:creationId xmlns:a16="http://schemas.microsoft.com/office/drawing/2014/main" id="{3986E68A-5CFF-3CFD-4ACE-B761011E56A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36418" y="2371961"/>
            <a:ext cx="1426657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파일 로그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 Syslog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시스템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애플리케이션 로그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금융거래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인터페이스 로그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배치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스케줄 로그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다양한 문자 인코딩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멀티라인 처리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입력 플러그인 기반 </a:t>
            </a:r>
            <a:b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</a:b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신규 소스 확장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45" name="Rectangle 25">
            <a:extLst>
              <a:ext uri="{FF2B5EF4-FFF2-40B4-BE49-F238E27FC236}">
                <a16:creationId xmlns:a16="http://schemas.microsoft.com/office/drawing/2014/main" id="{995F00C5-1B14-EA54-772C-BAAA63D7AB4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43069" y="2371961"/>
            <a:ext cx="1426657" cy="1885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경량 에이전트 기반 증분 수집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CPU·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메모리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네트워크 사용량 제어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거래 집중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마감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배치 시간대별 수집량 조절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수집 중단 지점 이어받기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로컬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버퍼링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수집 상태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지연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누락 모니터링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46" name="Rectangle 25">
            <a:extLst>
              <a:ext uri="{FF2B5EF4-FFF2-40B4-BE49-F238E27FC236}">
                <a16:creationId xmlns:a16="http://schemas.microsoft.com/office/drawing/2014/main" id="{2F5D854E-1C6C-6845-2037-E347EABC40D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11475" y="2365743"/>
            <a:ext cx="1426657" cy="1885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로그 파싱 및 형식 정규화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발생시각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시스템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업무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b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</a:b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채널 공통 필드 부여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거래번호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전문번호 등 추적 식별정보 유지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문자 인코딩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멀티라인 오류 처리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불필요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중복 데이터 필터링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로그 발생시각과 수집시각 구분</a:t>
            </a:r>
          </a:p>
        </p:txBody>
      </p:sp>
      <p:sp>
        <p:nvSpPr>
          <p:cNvPr id="147" name="Rectangle 25">
            <a:extLst>
              <a:ext uri="{FF2B5EF4-FFF2-40B4-BE49-F238E27FC236}">
                <a16:creationId xmlns:a16="http://schemas.microsoft.com/office/drawing/2014/main" id="{727C2174-CFA9-9CEE-35FB-D7669B24D24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953000" y="2354437"/>
            <a:ext cx="1375942" cy="1346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정형 필드 및 비정형 </a:t>
            </a:r>
            <a:b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</a:b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패턴 기반 탐지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정보 유형별 마스킹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b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</a:b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삭제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암호화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추적 식별정보는 해시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b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</a:b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대체값으로 유지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보호정책 버전과 적용 이력 관리</a:t>
            </a: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7AE4F720-B6B6-3783-760B-326D09FB7A00}"/>
              </a:ext>
            </a:extLst>
          </p:cNvPr>
          <p:cNvSpPr/>
          <p:nvPr/>
        </p:nvSpPr>
        <p:spPr>
          <a:xfrm>
            <a:off x="422716" y="4960382"/>
            <a:ext cx="1452750" cy="72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latinLnBrk="0"/>
            <a:endParaRPr lang="ko-KR" altLang="en-US" sz="1100" spc="-20" dirty="0">
              <a:solidFill>
                <a:schemeClr val="tx1">
                  <a:lumMod val="75000"/>
                  <a:lumOff val="2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AD09744C-63E6-711B-3866-16913C41C76F}"/>
              </a:ext>
            </a:extLst>
          </p:cNvPr>
          <p:cNvSpPr/>
          <p:nvPr/>
        </p:nvSpPr>
        <p:spPr>
          <a:xfrm>
            <a:off x="1907632" y="4960382"/>
            <a:ext cx="1452750" cy="72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latinLnBrk="0"/>
            <a:endParaRPr lang="ko-KR" altLang="en-US" sz="1100" spc="-20" dirty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B3C4270F-F0BF-697B-F7FB-DFCBE2A0E8C0}"/>
              </a:ext>
            </a:extLst>
          </p:cNvPr>
          <p:cNvSpPr/>
          <p:nvPr/>
        </p:nvSpPr>
        <p:spPr>
          <a:xfrm>
            <a:off x="3392549" y="4960382"/>
            <a:ext cx="1452750" cy="72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latinLnBrk="0"/>
            <a:endParaRPr lang="ko-KR" altLang="en-US" sz="1100" spc="-20" dirty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F3DBDAA1-1418-A3E8-6C25-A6361796C21D}"/>
              </a:ext>
            </a:extLst>
          </p:cNvPr>
          <p:cNvSpPr/>
          <p:nvPr/>
        </p:nvSpPr>
        <p:spPr>
          <a:xfrm>
            <a:off x="4877466" y="4960382"/>
            <a:ext cx="1401472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latinLnBrk="0"/>
            <a:endParaRPr lang="ko-KR" altLang="en-US" sz="1100" spc="-20" dirty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1" name="이등변 삼각형 190">
            <a:extLst>
              <a:ext uri="{FF2B5EF4-FFF2-40B4-BE49-F238E27FC236}">
                <a16:creationId xmlns:a16="http://schemas.microsoft.com/office/drawing/2014/main" id="{FD9DA66E-6336-29C7-FBF0-E411EEBBFDB0}"/>
              </a:ext>
            </a:extLst>
          </p:cNvPr>
          <p:cNvSpPr/>
          <p:nvPr/>
        </p:nvSpPr>
        <p:spPr>
          <a:xfrm rot="5400000">
            <a:off x="6210225" y="4961416"/>
            <a:ext cx="167501" cy="6993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latinLnBrk="0"/>
            <a:endParaRPr lang="ko-KR" altLang="en-US" sz="1100" spc="-2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9C895F14-999B-DAE9-5CDA-7BFD199E6E69}"/>
              </a:ext>
            </a:extLst>
          </p:cNvPr>
          <p:cNvSpPr/>
          <p:nvPr/>
        </p:nvSpPr>
        <p:spPr>
          <a:xfrm>
            <a:off x="644799" y="4678058"/>
            <a:ext cx="1008585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2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신규 로그 발생</a:t>
            </a: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FBF0B22D-60D0-36FA-F6FE-86926CED8E13}"/>
              </a:ext>
            </a:extLst>
          </p:cNvPr>
          <p:cNvSpPr/>
          <p:nvPr/>
        </p:nvSpPr>
        <p:spPr>
          <a:xfrm>
            <a:off x="2072680" y="4678058"/>
            <a:ext cx="104831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2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Elastic Agent</a:t>
            </a:r>
            <a:endParaRPr lang="ko-KR" altLang="en-US" sz="1200" spc="-2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7A10037C-28A1-B4CA-E606-66F479BA44AB}"/>
              </a:ext>
            </a:extLst>
          </p:cNvPr>
          <p:cNvSpPr/>
          <p:nvPr/>
        </p:nvSpPr>
        <p:spPr>
          <a:xfrm>
            <a:off x="3545410" y="4678058"/>
            <a:ext cx="119156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2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로컬</a:t>
            </a:r>
            <a:r>
              <a:rPr lang="en-US" altLang="ko-KR" sz="12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2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큐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02809D6-A3C8-B2CB-6DF0-1FB7EDC8CB45}"/>
              </a:ext>
            </a:extLst>
          </p:cNvPr>
          <p:cNvSpPr/>
          <p:nvPr/>
        </p:nvSpPr>
        <p:spPr>
          <a:xfrm>
            <a:off x="5054045" y="4678058"/>
            <a:ext cx="104831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2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전송 계층</a:t>
            </a:r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67131FD2-4A15-1073-A1C4-8A18D3D45073}"/>
              </a:ext>
            </a:extLst>
          </p:cNvPr>
          <p:cNvGrpSpPr/>
          <p:nvPr/>
        </p:nvGrpSpPr>
        <p:grpSpPr>
          <a:xfrm>
            <a:off x="1059031" y="4922162"/>
            <a:ext cx="136436" cy="136024"/>
            <a:chOff x="1412370" y="5950720"/>
            <a:chExt cx="136436" cy="136024"/>
          </a:xfrm>
        </p:grpSpPr>
        <p:sp>
          <p:nvSpPr>
            <p:cNvPr id="210" name="타원 209">
              <a:extLst>
                <a:ext uri="{FF2B5EF4-FFF2-40B4-BE49-F238E27FC236}">
                  <a16:creationId xmlns:a16="http://schemas.microsoft.com/office/drawing/2014/main" id="{6461422E-CC5A-92B9-5EA5-35318D131836}"/>
                </a:ext>
              </a:extLst>
            </p:cNvPr>
            <p:cNvSpPr/>
            <p:nvPr/>
          </p:nvSpPr>
          <p:spPr>
            <a:xfrm>
              <a:off x="1412370" y="5950720"/>
              <a:ext cx="136436" cy="13602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996" tIns="17996" rIns="17996" bIns="17996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621902" latinLnBrk="0">
                <a:buSzPct val="80000"/>
              </a:pPr>
              <a:endParaRPr lang="ko-KR" altLang="en-US" sz="1000" kern="0" spc="-20" dirty="0" err="1"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BFF52E22-DF0E-9061-F8A2-AF501AD3A88C}"/>
                </a:ext>
              </a:extLst>
            </p:cNvPr>
            <p:cNvSpPr/>
            <p:nvPr/>
          </p:nvSpPr>
          <p:spPr>
            <a:xfrm>
              <a:off x="1439993" y="5978259"/>
              <a:ext cx="81192" cy="8094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endParaRPr lang="ko-KR" altLang="en-US" sz="1100" spc="-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D5F9ED39-E015-420F-9E34-E96F0EE51C33}"/>
              </a:ext>
            </a:extLst>
          </p:cNvPr>
          <p:cNvGrpSpPr/>
          <p:nvPr/>
        </p:nvGrpSpPr>
        <p:grpSpPr>
          <a:xfrm>
            <a:off x="2553923" y="4922162"/>
            <a:ext cx="136436" cy="136024"/>
            <a:chOff x="1412370" y="5950720"/>
            <a:chExt cx="136436" cy="136024"/>
          </a:xfrm>
        </p:grpSpPr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2BEADA42-3AA8-57C0-2379-B93BBC1720BE}"/>
                </a:ext>
              </a:extLst>
            </p:cNvPr>
            <p:cNvSpPr/>
            <p:nvPr/>
          </p:nvSpPr>
          <p:spPr>
            <a:xfrm>
              <a:off x="1412370" y="5950720"/>
              <a:ext cx="136436" cy="13602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996" tIns="17996" rIns="17996" bIns="17996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621902" latinLnBrk="0">
                <a:buSzPct val="80000"/>
              </a:pPr>
              <a:endParaRPr lang="ko-KR" altLang="en-US" sz="1000" kern="0" spc="-20" dirty="0" err="1"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14" name="타원 213">
              <a:extLst>
                <a:ext uri="{FF2B5EF4-FFF2-40B4-BE49-F238E27FC236}">
                  <a16:creationId xmlns:a16="http://schemas.microsoft.com/office/drawing/2014/main" id="{21F73E66-30E3-6ECB-B509-3C4E031959BA}"/>
                </a:ext>
              </a:extLst>
            </p:cNvPr>
            <p:cNvSpPr/>
            <p:nvPr/>
          </p:nvSpPr>
          <p:spPr>
            <a:xfrm>
              <a:off x="1439993" y="5978259"/>
              <a:ext cx="81192" cy="80947"/>
            </a:xfrm>
            <a:prstGeom prst="ellipse">
              <a:avLst/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endParaRPr lang="ko-KR" altLang="en-US" sz="1100" spc="-20" dirty="0" err="1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FEA8082D-7239-F03F-3B85-583130FB4ED5}"/>
              </a:ext>
            </a:extLst>
          </p:cNvPr>
          <p:cNvGrpSpPr/>
          <p:nvPr/>
        </p:nvGrpSpPr>
        <p:grpSpPr>
          <a:xfrm>
            <a:off x="4048815" y="4922162"/>
            <a:ext cx="136436" cy="136024"/>
            <a:chOff x="1412370" y="5950720"/>
            <a:chExt cx="136436" cy="136024"/>
          </a:xfrm>
        </p:grpSpPr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98553F9E-41FB-17B3-7427-13A227200AA0}"/>
                </a:ext>
              </a:extLst>
            </p:cNvPr>
            <p:cNvSpPr/>
            <p:nvPr/>
          </p:nvSpPr>
          <p:spPr>
            <a:xfrm>
              <a:off x="1412370" y="5950720"/>
              <a:ext cx="136436" cy="13602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9292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996" tIns="17996" rIns="17996" bIns="17996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621902" latinLnBrk="0">
                <a:buSzPct val="80000"/>
              </a:pPr>
              <a:endParaRPr lang="ko-KR" altLang="en-US" sz="1000" kern="0" spc="-20" dirty="0" err="1"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A9FAF5A8-2524-E1B4-9570-35F6E4AA4D32}"/>
                </a:ext>
              </a:extLst>
            </p:cNvPr>
            <p:cNvSpPr/>
            <p:nvPr/>
          </p:nvSpPr>
          <p:spPr>
            <a:xfrm>
              <a:off x="1439993" y="5978259"/>
              <a:ext cx="81192" cy="80947"/>
            </a:xfrm>
            <a:prstGeom prst="ellipse">
              <a:avLst/>
            </a:prstGeom>
            <a:solidFill>
              <a:srgbClr val="9292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endParaRPr lang="ko-KR" altLang="en-US" sz="1100" spc="-20" dirty="0" err="1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8CAFBD04-C9C9-F8F3-BB5E-009089F0F3FE}"/>
              </a:ext>
            </a:extLst>
          </p:cNvPr>
          <p:cNvGrpSpPr/>
          <p:nvPr/>
        </p:nvGrpSpPr>
        <p:grpSpPr>
          <a:xfrm>
            <a:off x="5543707" y="4922162"/>
            <a:ext cx="136436" cy="136024"/>
            <a:chOff x="1412370" y="5950720"/>
            <a:chExt cx="136436" cy="136024"/>
          </a:xfrm>
        </p:grpSpPr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054D56D1-2A50-2AE8-5298-EA289B64522F}"/>
                </a:ext>
              </a:extLst>
            </p:cNvPr>
            <p:cNvSpPr/>
            <p:nvPr/>
          </p:nvSpPr>
          <p:spPr>
            <a:xfrm>
              <a:off x="1412370" y="5950720"/>
              <a:ext cx="136436" cy="13602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996" tIns="17996" rIns="17996" bIns="17996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621902" latinLnBrk="0">
                <a:buSzPct val="80000"/>
              </a:pPr>
              <a:endParaRPr lang="ko-KR" altLang="en-US" sz="1000" kern="0" spc="-20" dirty="0" err="1">
                <a:gradFill>
                  <a:gsLst>
                    <a:gs pos="0">
                      <a:srgbClr val="2C2C2C"/>
                    </a:gs>
                    <a:gs pos="51000">
                      <a:srgbClr val="2C2C2C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43C58520-2368-9395-0E4E-CE4526731495}"/>
                </a:ext>
              </a:extLst>
            </p:cNvPr>
            <p:cNvSpPr/>
            <p:nvPr/>
          </p:nvSpPr>
          <p:spPr>
            <a:xfrm>
              <a:off x="1439993" y="5978259"/>
              <a:ext cx="81192" cy="8094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endParaRPr lang="ko-KR" altLang="en-US" sz="1100" spc="-20" dirty="0" err="1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221" name="Rectangle 25">
            <a:extLst>
              <a:ext uri="{FF2B5EF4-FFF2-40B4-BE49-F238E27FC236}">
                <a16:creationId xmlns:a16="http://schemas.microsoft.com/office/drawing/2014/main" id="{E7485173-E780-FB8C-CA15-7401C4583B4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35762" y="5128306"/>
            <a:ext cx="142665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신규 로그 발생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222" name="Rectangle 25">
            <a:extLst>
              <a:ext uri="{FF2B5EF4-FFF2-40B4-BE49-F238E27FC236}">
                <a16:creationId xmlns:a16="http://schemas.microsoft.com/office/drawing/2014/main" id="{460DD473-3B60-E543-FCA1-85E6259CE05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24603" y="5128306"/>
            <a:ext cx="142665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변경분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 감지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증분 수집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223" name="Rectangle 25">
            <a:extLst>
              <a:ext uri="{FF2B5EF4-FFF2-40B4-BE49-F238E27FC236}">
                <a16:creationId xmlns:a16="http://schemas.microsoft.com/office/drawing/2014/main" id="{41CB58D7-B70F-E019-F4DE-19FD780AC42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13444" y="5128306"/>
            <a:ext cx="142665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일시 장애 시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버퍼링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224" name="Rectangle 25">
            <a:extLst>
              <a:ext uri="{FF2B5EF4-FFF2-40B4-BE49-F238E27FC236}">
                <a16:creationId xmlns:a16="http://schemas.microsoft.com/office/drawing/2014/main" id="{2C3771C2-5EB7-0E8A-0198-08E6CFD6E96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902285" y="5128306"/>
            <a:ext cx="142665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재연결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 후 이어서 전송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5CC5AF3D-B10E-4F4B-BD92-DEE526757D60}"/>
              </a:ext>
            </a:extLst>
          </p:cNvPr>
          <p:cNvGrpSpPr/>
          <p:nvPr/>
        </p:nvGrpSpPr>
        <p:grpSpPr>
          <a:xfrm>
            <a:off x="412553" y="5369675"/>
            <a:ext cx="1462913" cy="975562"/>
            <a:chOff x="412553" y="5382430"/>
            <a:chExt cx="1462913" cy="975562"/>
          </a:xfrm>
        </p:grpSpPr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08A9D4FE-7D74-F1A5-F166-9234E5511304}"/>
                </a:ext>
              </a:extLst>
            </p:cNvPr>
            <p:cNvSpPr/>
            <p:nvPr/>
          </p:nvSpPr>
          <p:spPr>
            <a:xfrm>
              <a:off x="412553" y="5432794"/>
              <a:ext cx="1462913" cy="925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298C2D20-2B4D-5E73-48A7-B4611C40A418}"/>
                </a:ext>
              </a:extLst>
            </p:cNvPr>
            <p:cNvSpPr/>
            <p:nvPr/>
          </p:nvSpPr>
          <p:spPr>
            <a:xfrm>
              <a:off x="412553" y="5382430"/>
              <a:ext cx="1462913" cy="252000"/>
            </a:xfrm>
            <a:prstGeom prst="rect">
              <a:avLst/>
            </a:prstGeom>
            <a:solidFill>
              <a:srgbClr val="0209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ko-KR" altLang="en-US" sz="1200" dirty="0" err="1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변경분</a:t>
              </a:r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 감지</a:t>
              </a:r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716A3C9B-3DFB-E8E9-024C-B202822EB2DC}"/>
              </a:ext>
            </a:extLst>
          </p:cNvPr>
          <p:cNvGrpSpPr/>
          <p:nvPr/>
        </p:nvGrpSpPr>
        <p:grpSpPr>
          <a:xfrm>
            <a:off x="1893909" y="5369675"/>
            <a:ext cx="1462913" cy="975561"/>
            <a:chOff x="2163230" y="5369675"/>
            <a:chExt cx="1462913" cy="975561"/>
          </a:xfrm>
        </p:grpSpPr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73656F9C-62E5-2E8F-862A-98ACA72EDE1D}"/>
                </a:ext>
              </a:extLst>
            </p:cNvPr>
            <p:cNvSpPr/>
            <p:nvPr/>
          </p:nvSpPr>
          <p:spPr>
            <a:xfrm>
              <a:off x="2163230" y="5421598"/>
              <a:ext cx="1462913" cy="923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BC2D5593-FECF-1251-AF47-CFD87E8F7242}"/>
                </a:ext>
              </a:extLst>
            </p:cNvPr>
            <p:cNvSpPr/>
            <p:nvPr/>
          </p:nvSpPr>
          <p:spPr>
            <a:xfrm>
              <a:off x="2163230" y="5369675"/>
              <a:ext cx="1462913" cy="259800"/>
            </a:xfrm>
            <a:prstGeom prst="rect">
              <a:avLst/>
            </a:prstGeom>
            <a:solidFill>
              <a:srgbClr val="0209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자원 제어</a:t>
              </a: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0837EF59-9D23-4E2F-43DB-DE099D276268}"/>
              </a:ext>
            </a:extLst>
          </p:cNvPr>
          <p:cNvGrpSpPr/>
          <p:nvPr/>
        </p:nvGrpSpPr>
        <p:grpSpPr>
          <a:xfrm>
            <a:off x="3375265" y="5369673"/>
            <a:ext cx="1462913" cy="975563"/>
            <a:chOff x="4236387" y="5466006"/>
            <a:chExt cx="1462913" cy="946273"/>
          </a:xfrm>
        </p:grpSpPr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6D7D883F-286D-B31B-6F0F-F77E7AD1E263}"/>
                </a:ext>
              </a:extLst>
            </p:cNvPr>
            <p:cNvSpPr/>
            <p:nvPr/>
          </p:nvSpPr>
          <p:spPr>
            <a:xfrm>
              <a:off x="4236387" y="5516370"/>
              <a:ext cx="1462913" cy="8959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CD107E51-8EAD-7055-6CDF-99777659851A}"/>
                </a:ext>
              </a:extLst>
            </p:cNvPr>
            <p:cNvSpPr/>
            <p:nvPr/>
          </p:nvSpPr>
          <p:spPr>
            <a:xfrm>
              <a:off x="4236387" y="5466006"/>
              <a:ext cx="1462913" cy="252000"/>
            </a:xfrm>
            <a:prstGeom prst="rect">
              <a:avLst/>
            </a:prstGeom>
            <a:solidFill>
              <a:srgbClr val="0209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로컬 </a:t>
              </a:r>
              <a:r>
                <a:rPr lang="ko-KR" altLang="en-US" sz="1200" dirty="0" err="1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버퍼링</a:t>
              </a:r>
              <a:endPara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33" name="그룹 232">
            <a:extLst>
              <a:ext uri="{FF2B5EF4-FFF2-40B4-BE49-F238E27FC236}">
                <a16:creationId xmlns:a16="http://schemas.microsoft.com/office/drawing/2014/main" id="{565999BE-801D-330F-C20D-3367EE0A0928}"/>
              </a:ext>
            </a:extLst>
          </p:cNvPr>
          <p:cNvGrpSpPr/>
          <p:nvPr/>
        </p:nvGrpSpPr>
        <p:grpSpPr>
          <a:xfrm>
            <a:off x="4856620" y="5369675"/>
            <a:ext cx="1462913" cy="975562"/>
            <a:chOff x="6026440" y="5472620"/>
            <a:chExt cx="1462913" cy="975562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8844D923-72BE-E823-AB6E-EA32404A6C9F}"/>
                </a:ext>
              </a:extLst>
            </p:cNvPr>
            <p:cNvSpPr/>
            <p:nvPr/>
          </p:nvSpPr>
          <p:spPr>
            <a:xfrm>
              <a:off x="6026440" y="5522984"/>
              <a:ext cx="1462913" cy="925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8070D0B1-839F-97CF-E9A7-CDD075FA443A}"/>
                </a:ext>
              </a:extLst>
            </p:cNvPr>
            <p:cNvSpPr/>
            <p:nvPr/>
          </p:nvSpPr>
          <p:spPr>
            <a:xfrm>
              <a:off x="6026440" y="5472620"/>
              <a:ext cx="1462913" cy="252000"/>
            </a:xfrm>
            <a:prstGeom prst="rect">
              <a:avLst/>
            </a:prstGeom>
            <a:solidFill>
              <a:srgbClr val="0209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이어받기</a:t>
              </a:r>
            </a:p>
          </p:txBody>
        </p:sp>
      </p:grpSp>
      <p:sp>
        <p:nvSpPr>
          <p:cNvPr id="240" name="Rectangle 25">
            <a:extLst>
              <a:ext uri="{FF2B5EF4-FFF2-40B4-BE49-F238E27FC236}">
                <a16:creationId xmlns:a16="http://schemas.microsoft.com/office/drawing/2014/main" id="{3B21E90A-5CFF-E92A-DDF4-5AF296AB5E9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22716" y="5821523"/>
            <a:ext cx="14266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마지막 수집 위치 이후의 신규 로그만 처리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241" name="Rectangle 25">
            <a:extLst>
              <a:ext uri="{FF2B5EF4-FFF2-40B4-BE49-F238E27FC236}">
                <a16:creationId xmlns:a16="http://schemas.microsoft.com/office/drawing/2014/main" id="{2F629B79-95D3-CB9A-91CD-8C0179A9AC9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6163" y="5821523"/>
            <a:ext cx="14266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수집 주기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배치 크기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b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</a:b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전송량 조절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242" name="Rectangle 25">
            <a:extLst>
              <a:ext uri="{FF2B5EF4-FFF2-40B4-BE49-F238E27FC236}">
                <a16:creationId xmlns:a16="http://schemas.microsoft.com/office/drawing/2014/main" id="{7815842B-5940-7288-8912-3E03211DF5A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04828" y="5903404"/>
            <a:ext cx="142665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통신 장애 시 임시 보관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243" name="Rectangle 25">
            <a:extLst>
              <a:ext uri="{FF2B5EF4-FFF2-40B4-BE49-F238E27FC236}">
                <a16:creationId xmlns:a16="http://schemas.microsoft.com/office/drawing/2014/main" id="{42311A15-080A-E92E-068C-A00A9B4F3CC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880992" y="5841268"/>
            <a:ext cx="14266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algn="ctr"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재시작 후 중단 지점부터 수집 재개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C72F69AF-2322-8BC7-D996-87D601D66078}"/>
              </a:ext>
            </a:extLst>
          </p:cNvPr>
          <p:cNvGrpSpPr/>
          <p:nvPr/>
        </p:nvGrpSpPr>
        <p:grpSpPr>
          <a:xfrm>
            <a:off x="416358" y="1788785"/>
            <a:ext cx="1538783" cy="200055"/>
            <a:chOff x="416358" y="1571870"/>
            <a:chExt cx="1538783" cy="200055"/>
          </a:xfrm>
        </p:grpSpPr>
        <p:sp>
          <p:nvSpPr>
            <p:cNvPr id="250" name="Text Box 79">
              <a:extLst>
                <a:ext uri="{FF2B5EF4-FFF2-40B4-BE49-F238E27FC236}">
                  <a16:creationId xmlns:a16="http://schemas.microsoft.com/office/drawing/2014/main" id="{5EE7D198-49F5-01C5-109E-E112A46FE90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6101" y="1571870"/>
              <a:ext cx="1409040" cy="200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r>
                <a:rPr lang="ko-KR" altLang="en-US" sz="1300" dirty="0"/>
                <a:t>로그 수집 파이프라인</a:t>
              </a:r>
            </a:p>
          </p:txBody>
        </p:sp>
        <p:grpSp>
          <p:nvGrpSpPr>
            <p:cNvPr id="251" name="그룹 250">
              <a:extLst>
                <a:ext uri="{FF2B5EF4-FFF2-40B4-BE49-F238E27FC236}">
                  <a16:creationId xmlns:a16="http://schemas.microsoft.com/office/drawing/2014/main" id="{6894F89B-C011-C601-A8D0-AEA9EDA9C413}"/>
                </a:ext>
              </a:extLst>
            </p:cNvPr>
            <p:cNvGrpSpPr/>
            <p:nvPr/>
          </p:nvGrpSpPr>
          <p:grpSpPr>
            <a:xfrm>
              <a:off x="416358" y="1591470"/>
              <a:ext cx="103211" cy="165425"/>
              <a:chOff x="-120217" y="1731639"/>
              <a:chExt cx="98259" cy="157488"/>
            </a:xfrm>
          </p:grpSpPr>
          <p:sp>
            <p:nvSpPr>
              <p:cNvPr id="252" name="자유형 25">
                <a:extLst>
                  <a:ext uri="{FF2B5EF4-FFF2-40B4-BE49-F238E27FC236}">
                    <a16:creationId xmlns:a16="http://schemas.microsoft.com/office/drawing/2014/main" id="{B1AFEC78-A483-2A95-388E-8D04320566D9}"/>
                  </a:ext>
                </a:extLst>
              </p:cNvPr>
              <p:cNvSpPr/>
              <p:nvPr/>
            </p:nvSpPr>
            <p:spPr>
              <a:xfrm rot="5400000">
                <a:off x="-110611" y="1722036"/>
                <a:ext cx="79048" cy="98257"/>
              </a:xfrm>
              <a:custGeom>
                <a:avLst/>
                <a:gdLst>
                  <a:gd name="connsiteX0" fmla="*/ 0 w 79048"/>
                  <a:gd name="connsiteY0" fmla="*/ 98257 h 98257"/>
                  <a:gd name="connsiteX1" fmla="*/ 15638 w 79048"/>
                  <a:gd name="connsiteY1" fmla="*/ 78743 h 98257"/>
                  <a:gd name="connsiteX2" fmla="*/ 78742 w 79048"/>
                  <a:gd name="connsiteY2" fmla="*/ 0 h 98257"/>
                  <a:gd name="connsiteX3" fmla="*/ 79048 w 79048"/>
                  <a:gd name="connsiteY3" fmla="*/ 382 h 98257"/>
                  <a:gd name="connsiteX4" fmla="*/ 79048 w 79048"/>
                  <a:gd name="connsiteY4" fmla="*/ 54925 h 98257"/>
                  <a:gd name="connsiteX5" fmla="*/ 78743 w 79048"/>
                  <a:gd name="connsiteY5" fmla="*/ 54544 h 98257"/>
                  <a:gd name="connsiteX6" fmla="*/ 43712 w 79048"/>
                  <a:gd name="connsiteY6" fmla="*/ 98257 h 98257"/>
                  <a:gd name="connsiteX7" fmla="*/ 0 w 79048"/>
                  <a:gd name="connsiteY7" fmla="*/ 98257 h 9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048" h="98257">
                    <a:moveTo>
                      <a:pt x="0" y="98257"/>
                    </a:moveTo>
                    <a:lnTo>
                      <a:pt x="15638" y="78743"/>
                    </a:lnTo>
                    <a:lnTo>
                      <a:pt x="78742" y="0"/>
                    </a:lnTo>
                    <a:lnTo>
                      <a:pt x="79048" y="382"/>
                    </a:lnTo>
                    <a:lnTo>
                      <a:pt x="79048" y="54925"/>
                    </a:lnTo>
                    <a:lnTo>
                      <a:pt x="78743" y="54544"/>
                    </a:lnTo>
                    <a:lnTo>
                      <a:pt x="43712" y="98257"/>
                    </a:lnTo>
                    <a:lnTo>
                      <a:pt x="0" y="98257"/>
                    </a:lnTo>
                    <a:close/>
                  </a:path>
                </a:pathLst>
              </a:custGeom>
              <a:solidFill>
                <a:srgbClr val="0158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53" name="자유형 26">
                <a:extLst>
                  <a:ext uri="{FF2B5EF4-FFF2-40B4-BE49-F238E27FC236}">
                    <a16:creationId xmlns:a16="http://schemas.microsoft.com/office/drawing/2014/main" id="{FAE24898-E9B9-33F9-87A0-CF8A440D1C6D}"/>
                  </a:ext>
                </a:extLst>
              </p:cNvPr>
              <p:cNvSpPr/>
              <p:nvPr/>
            </p:nvSpPr>
            <p:spPr>
              <a:xfrm rot="5400000">
                <a:off x="-132316" y="1743738"/>
                <a:ext cx="43714" cy="19515"/>
              </a:xfrm>
              <a:custGeom>
                <a:avLst/>
                <a:gdLst>
                  <a:gd name="connsiteX0" fmla="*/ 0 w 43714"/>
                  <a:gd name="connsiteY0" fmla="*/ 19515 h 19515"/>
                  <a:gd name="connsiteX1" fmla="*/ 15640 w 43714"/>
                  <a:gd name="connsiteY1" fmla="*/ 0 h 19515"/>
                  <a:gd name="connsiteX2" fmla="*/ 2 w 43714"/>
                  <a:gd name="connsiteY2" fmla="*/ 19514 h 19515"/>
                  <a:gd name="connsiteX3" fmla="*/ 43714 w 43714"/>
                  <a:gd name="connsiteY3" fmla="*/ 19514 h 19515"/>
                  <a:gd name="connsiteX4" fmla="*/ 43713 w 43714"/>
                  <a:gd name="connsiteY4" fmla="*/ 19515 h 19515"/>
                  <a:gd name="connsiteX5" fmla="*/ 0 w 43714"/>
                  <a:gd name="connsiteY5" fmla="*/ 19515 h 1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714" h="19515">
                    <a:moveTo>
                      <a:pt x="0" y="19515"/>
                    </a:moveTo>
                    <a:lnTo>
                      <a:pt x="15640" y="0"/>
                    </a:lnTo>
                    <a:lnTo>
                      <a:pt x="2" y="19514"/>
                    </a:lnTo>
                    <a:lnTo>
                      <a:pt x="43714" y="19514"/>
                    </a:lnTo>
                    <a:lnTo>
                      <a:pt x="43713" y="19515"/>
                    </a:lnTo>
                    <a:lnTo>
                      <a:pt x="0" y="1951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54" name="자유형 27">
                <a:extLst>
                  <a:ext uri="{FF2B5EF4-FFF2-40B4-BE49-F238E27FC236}">
                    <a16:creationId xmlns:a16="http://schemas.microsoft.com/office/drawing/2014/main" id="{1A5CEFA1-1EB4-225A-C1F2-58CE241E1910}"/>
                  </a:ext>
                </a:extLst>
              </p:cNvPr>
              <p:cNvSpPr/>
              <p:nvPr/>
            </p:nvSpPr>
            <p:spPr>
              <a:xfrm rot="5400000">
                <a:off x="-93035" y="1739611"/>
                <a:ext cx="63410" cy="78744"/>
              </a:xfrm>
              <a:custGeom>
                <a:avLst/>
                <a:gdLst>
                  <a:gd name="connsiteX0" fmla="*/ 0 w 63410"/>
                  <a:gd name="connsiteY0" fmla="*/ 78744 h 78744"/>
                  <a:gd name="connsiteX1" fmla="*/ 63104 w 63410"/>
                  <a:gd name="connsiteY1" fmla="*/ 0 h 78744"/>
                  <a:gd name="connsiteX2" fmla="*/ 63410 w 63410"/>
                  <a:gd name="connsiteY2" fmla="*/ 381 h 78744"/>
                  <a:gd name="connsiteX3" fmla="*/ 63410 w 63410"/>
                  <a:gd name="connsiteY3" fmla="*/ 383 h 78744"/>
                  <a:gd name="connsiteX4" fmla="*/ 63104 w 63410"/>
                  <a:gd name="connsiteY4" fmla="*/ 1 h 78744"/>
                  <a:gd name="connsiteX5" fmla="*/ 0 w 63410"/>
                  <a:gd name="connsiteY5" fmla="*/ 78744 h 7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10" h="78744">
                    <a:moveTo>
                      <a:pt x="0" y="78744"/>
                    </a:moveTo>
                    <a:lnTo>
                      <a:pt x="63104" y="0"/>
                    </a:lnTo>
                    <a:lnTo>
                      <a:pt x="63410" y="381"/>
                    </a:lnTo>
                    <a:lnTo>
                      <a:pt x="63410" y="383"/>
                    </a:lnTo>
                    <a:lnTo>
                      <a:pt x="63104" y="1"/>
                    </a:lnTo>
                    <a:lnTo>
                      <a:pt x="0" y="787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55" name="자유형 28">
                <a:extLst>
                  <a:ext uri="{FF2B5EF4-FFF2-40B4-BE49-F238E27FC236}">
                    <a16:creationId xmlns:a16="http://schemas.microsoft.com/office/drawing/2014/main" id="{4F1123CF-C92D-8C20-38A5-5B9173D94980}"/>
                  </a:ext>
                </a:extLst>
              </p:cNvPr>
              <p:cNvSpPr/>
              <p:nvPr/>
            </p:nvSpPr>
            <p:spPr>
              <a:xfrm rot="5400000">
                <a:off x="-110497" y="1800971"/>
                <a:ext cx="78437" cy="97876"/>
              </a:xfrm>
              <a:custGeom>
                <a:avLst/>
                <a:gdLst>
                  <a:gd name="connsiteX0" fmla="*/ 0 w 78437"/>
                  <a:gd name="connsiteY0" fmla="*/ 54543 h 97876"/>
                  <a:gd name="connsiteX1" fmla="*/ 0 w 78437"/>
                  <a:gd name="connsiteY1" fmla="*/ 0 h 97876"/>
                  <a:gd name="connsiteX2" fmla="*/ 78437 w 78437"/>
                  <a:gd name="connsiteY2" fmla="*/ 97876 h 97876"/>
                  <a:gd name="connsiteX3" fmla="*/ 34726 w 78437"/>
                  <a:gd name="connsiteY3" fmla="*/ 97876 h 97876"/>
                  <a:gd name="connsiteX4" fmla="*/ 0 w 78437"/>
                  <a:gd name="connsiteY4" fmla="*/ 54543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37" h="97876">
                    <a:moveTo>
                      <a:pt x="0" y="54543"/>
                    </a:moveTo>
                    <a:lnTo>
                      <a:pt x="0" y="0"/>
                    </a:lnTo>
                    <a:lnTo>
                      <a:pt x="78437" y="97876"/>
                    </a:lnTo>
                    <a:lnTo>
                      <a:pt x="34726" y="97876"/>
                    </a:lnTo>
                    <a:lnTo>
                      <a:pt x="0" y="54543"/>
                    </a:lnTo>
                    <a:close/>
                  </a:path>
                </a:pathLst>
              </a:custGeom>
              <a:solidFill>
                <a:srgbClr val="0209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srgbClr val="01033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8ABC2BC7-1DC7-2DFB-B740-F9FB19A12216}"/>
              </a:ext>
            </a:extLst>
          </p:cNvPr>
          <p:cNvGrpSpPr/>
          <p:nvPr/>
        </p:nvGrpSpPr>
        <p:grpSpPr>
          <a:xfrm>
            <a:off x="415199" y="4417077"/>
            <a:ext cx="2413958" cy="200055"/>
            <a:chOff x="416358" y="1571870"/>
            <a:chExt cx="2413958" cy="200055"/>
          </a:xfrm>
        </p:grpSpPr>
        <p:sp>
          <p:nvSpPr>
            <p:cNvPr id="257" name="Text Box 79">
              <a:extLst>
                <a:ext uri="{FF2B5EF4-FFF2-40B4-BE49-F238E27FC236}">
                  <a16:creationId xmlns:a16="http://schemas.microsoft.com/office/drawing/2014/main" id="{812E2331-4D26-B959-B524-EF37AF39761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6101" y="1571870"/>
              <a:ext cx="2284215" cy="200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r>
                <a:rPr lang="en-US" altLang="ko-KR" sz="1300" dirty="0"/>
                <a:t>Elastic </a:t>
              </a:r>
              <a:r>
                <a:rPr lang="ko-KR" altLang="en-US" sz="1300" dirty="0"/>
                <a:t>기반 </a:t>
              </a:r>
              <a:r>
                <a:rPr lang="ko-KR" altLang="en-US" sz="1300" dirty="0" err="1"/>
                <a:t>저부하</a:t>
              </a:r>
              <a:r>
                <a:rPr lang="ko-KR" altLang="en-US" sz="1300" dirty="0"/>
                <a:t> 수집 메커니즘</a:t>
              </a:r>
            </a:p>
          </p:txBody>
        </p: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7EA57A20-6654-5414-4ECE-A5F7CCBC6735}"/>
                </a:ext>
              </a:extLst>
            </p:cNvPr>
            <p:cNvGrpSpPr/>
            <p:nvPr/>
          </p:nvGrpSpPr>
          <p:grpSpPr>
            <a:xfrm>
              <a:off x="416358" y="1591470"/>
              <a:ext cx="103211" cy="165425"/>
              <a:chOff x="-120217" y="1731639"/>
              <a:chExt cx="98259" cy="157488"/>
            </a:xfrm>
          </p:grpSpPr>
          <p:sp>
            <p:nvSpPr>
              <p:cNvPr id="259" name="자유형 25">
                <a:extLst>
                  <a:ext uri="{FF2B5EF4-FFF2-40B4-BE49-F238E27FC236}">
                    <a16:creationId xmlns:a16="http://schemas.microsoft.com/office/drawing/2014/main" id="{326C6208-A15D-7737-7A62-42AE4536B108}"/>
                  </a:ext>
                </a:extLst>
              </p:cNvPr>
              <p:cNvSpPr/>
              <p:nvPr/>
            </p:nvSpPr>
            <p:spPr>
              <a:xfrm rot="5400000">
                <a:off x="-110611" y="1722036"/>
                <a:ext cx="79048" cy="98257"/>
              </a:xfrm>
              <a:custGeom>
                <a:avLst/>
                <a:gdLst>
                  <a:gd name="connsiteX0" fmla="*/ 0 w 79048"/>
                  <a:gd name="connsiteY0" fmla="*/ 98257 h 98257"/>
                  <a:gd name="connsiteX1" fmla="*/ 15638 w 79048"/>
                  <a:gd name="connsiteY1" fmla="*/ 78743 h 98257"/>
                  <a:gd name="connsiteX2" fmla="*/ 78742 w 79048"/>
                  <a:gd name="connsiteY2" fmla="*/ 0 h 98257"/>
                  <a:gd name="connsiteX3" fmla="*/ 79048 w 79048"/>
                  <a:gd name="connsiteY3" fmla="*/ 382 h 98257"/>
                  <a:gd name="connsiteX4" fmla="*/ 79048 w 79048"/>
                  <a:gd name="connsiteY4" fmla="*/ 54925 h 98257"/>
                  <a:gd name="connsiteX5" fmla="*/ 78743 w 79048"/>
                  <a:gd name="connsiteY5" fmla="*/ 54544 h 98257"/>
                  <a:gd name="connsiteX6" fmla="*/ 43712 w 79048"/>
                  <a:gd name="connsiteY6" fmla="*/ 98257 h 98257"/>
                  <a:gd name="connsiteX7" fmla="*/ 0 w 79048"/>
                  <a:gd name="connsiteY7" fmla="*/ 98257 h 9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048" h="98257">
                    <a:moveTo>
                      <a:pt x="0" y="98257"/>
                    </a:moveTo>
                    <a:lnTo>
                      <a:pt x="15638" y="78743"/>
                    </a:lnTo>
                    <a:lnTo>
                      <a:pt x="78742" y="0"/>
                    </a:lnTo>
                    <a:lnTo>
                      <a:pt x="79048" y="382"/>
                    </a:lnTo>
                    <a:lnTo>
                      <a:pt x="79048" y="54925"/>
                    </a:lnTo>
                    <a:lnTo>
                      <a:pt x="78743" y="54544"/>
                    </a:lnTo>
                    <a:lnTo>
                      <a:pt x="43712" y="98257"/>
                    </a:lnTo>
                    <a:lnTo>
                      <a:pt x="0" y="98257"/>
                    </a:lnTo>
                    <a:close/>
                  </a:path>
                </a:pathLst>
              </a:custGeom>
              <a:solidFill>
                <a:srgbClr val="0158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60" name="자유형 26">
                <a:extLst>
                  <a:ext uri="{FF2B5EF4-FFF2-40B4-BE49-F238E27FC236}">
                    <a16:creationId xmlns:a16="http://schemas.microsoft.com/office/drawing/2014/main" id="{5145007C-CF1D-5F13-C9C6-28C145DA5F9B}"/>
                  </a:ext>
                </a:extLst>
              </p:cNvPr>
              <p:cNvSpPr/>
              <p:nvPr/>
            </p:nvSpPr>
            <p:spPr>
              <a:xfrm rot="5400000">
                <a:off x="-132316" y="1743738"/>
                <a:ext cx="43714" cy="19515"/>
              </a:xfrm>
              <a:custGeom>
                <a:avLst/>
                <a:gdLst>
                  <a:gd name="connsiteX0" fmla="*/ 0 w 43714"/>
                  <a:gd name="connsiteY0" fmla="*/ 19515 h 19515"/>
                  <a:gd name="connsiteX1" fmla="*/ 15640 w 43714"/>
                  <a:gd name="connsiteY1" fmla="*/ 0 h 19515"/>
                  <a:gd name="connsiteX2" fmla="*/ 2 w 43714"/>
                  <a:gd name="connsiteY2" fmla="*/ 19514 h 19515"/>
                  <a:gd name="connsiteX3" fmla="*/ 43714 w 43714"/>
                  <a:gd name="connsiteY3" fmla="*/ 19514 h 19515"/>
                  <a:gd name="connsiteX4" fmla="*/ 43713 w 43714"/>
                  <a:gd name="connsiteY4" fmla="*/ 19515 h 19515"/>
                  <a:gd name="connsiteX5" fmla="*/ 0 w 43714"/>
                  <a:gd name="connsiteY5" fmla="*/ 19515 h 1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714" h="19515">
                    <a:moveTo>
                      <a:pt x="0" y="19515"/>
                    </a:moveTo>
                    <a:lnTo>
                      <a:pt x="15640" y="0"/>
                    </a:lnTo>
                    <a:lnTo>
                      <a:pt x="2" y="19514"/>
                    </a:lnTo>
                    <a:lnTo>
                      <a:pt x="43714" y="19514"/>
                    </a:lnTo>
                    <a:lnTo>
                      <a:pt x="43713" y="19515"/>
                    </a:lnTo>
                    <a:lnTo>
                      <a:pt x="0" y="1951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61" name="자유형 27">
                <a:extLst>
                  <a:ext uri="{FF2B5EF4-FFF2-40B4-BE49-F238E27FC236}">
                    <a16:creationId xmlns:a16="http://schemas.microsoft.com/office/drawing/2014/main" id="{2D36F7A3-E222-6041-8EEE-833E7FC0767D}"/>
                  </a:ext>
                </a:extLst>
              </p:cNvPr>
              <p:cNvSpPr/>
              <p:nvPr/>
            </p:nvSpPr>
            <p:spPr>
              <a:xfrm rot="5400000">
                <a:off x="-93035" y="1739611"/>
                <a:ext cx="63410" cy="78744"/>
              </a:xfrm>
              <a:custGeom>
                <a:avLst/>
                <a:gdLst>
                  <a:gd name="connsiteX0" fmla="*/ 0 w 63410"/>
                  <a:gd name="connsiteY0" fmla="*/ 78744 h 78744"/>
                  <a:gd name="connsiteX1" fmla="*/ 63104 w 63410"/>
                  <a:gd name="connsiteY1" fmla="*/ 0 h 78744"/>
                  <a:gd name="connsiteX2" fmla="*/ 63410 w 63410"/>
                  <a:gd name="connsiteY2" fmla="*/ 381 h 78744"/>
                  <a:gd name="connsiteX3" fmla="*/ 63410 w 63410"/>
                  <a:gd name="connsiteY3" fmla="*/ 383 h 78744"/>
                  <a:gd name="connsiteX4" fmla="*/ 63104 w 63410"/>
                  <a:gd name="connsiteY4" fmla="*/ 1 h 78744"/>
                  <a:gd name="connsiteX5" fmla="*/ 0 w 63410"/>
                  <a:gd name="connsiteY5" fmla="*/ 78744 h 7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10" h="78744">
                    <a:moveTo>
                      <a:pt x="0" y="78744"/>
                    </a:moveTo>
                    <a:lnTo>
                      <a:pt x="63104" y="0"/>
                    </a:lnTo>
                    <a:lnTo>
                      <a:pt x="63410" y="381"/>
                    </a:lnTo>
                    <a:lnTo>
                      <a:pt x="63410" y="383"/>
                    </a:lnTo>
                    <a:lnTo>
                      <a:pt x="63104" y="1"/>
                    </a:lnTo>
                    <a:lnTo>
                      <a:pt x="0" y="787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62" name="자유형 28">
                <a:extLst>
                  <a:ext uri="{FF2B5EF4-FFF2-40B4-BE49-F238E27FC236}">
                    <a16:creationId xmlns:a16="http://schemas.microsoft.com/office/drawing/2014/main" id="{F6A12EC7-E9B8-81C8-CC0B-3241B92CCEAC}"/>
                  </a:ext>
                </a:extLst>
              </p:cNvPr>
              <p:cNvSpPr/>
              <p:nvPr/>
            </p:nvSpPr>
            <p:spPr>
              <a:xfrm rot="5400000">
                <a:off x="-110497" y="1800971"/>
                <a:ext cx="78437" cy="97876"/>
              </a:xfrm>
              <a:custGeom>
                <a:avLst/>
                <a:gdLst>
                  <a:gd name="connsiteX0" fmla="*/ 0 w 78437"/>
                  <a:gd name="connsiteY0" fmla="*/ 54543 h 97876"/>
                  <a:gd name="connsiteX1" fmla="*/ 0 w 78437"/>
                  <a:gd name="connsiteY1" fmla="*/ 0 h 97876"/>
                  <a:gd name="connsiteX2" fmla="*/ 78437 w 78437"/>
                  <a:gd name="connsiteY2" fmla="*/ 97876 h 97876"/>
                  <a:gd name="connsiteX3" fmla="*/ 34726 w 78437"/>
                  <a:gd name="connsiteY3" fmla="*/ 97876 h 97876"/>
                  <a:gd name="connsiteX4" fmla="*/ 0 w 78437"/>
                  <a:gd name="connsiteY4" fmla="*/ 54543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37" h="97876">
                    <a:moveTo>
                      <a:pt x="0" y="54543"/>
                    </a:moveTo>
                    <a:lnTo>
                      <a:pt x="0" y="0"/>
                    </a:lnTo>
                    <a:lnTo>
                      <a:pt x="78437" y="97876"/>
                    </a:lnTo>
                    <a:lnTo>
                      <a:pt x="34726" y="97876"/>
                    </a:lnTo>
                    <a:lnTo>
                      <a:pt x="0" y="54543"/>
                    </a:lnTo>
                    <a:close/>
                  </a:path>
                </a:pathLst>
              </a:custGeom>
              <a:solidFill>
                <a:srgbClr val="0209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srgbClr val="01033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" name="그룹 84">
            <a:extLst>
              <a:ext uri="{FF2B5EF4-FFF2-40B4-BE49-F238E27FC236}">
                <a16:creationId xmlns:a16="http://schemas.microsoft.com/office/drawing/2014/main" id="{4386F994-C4E0-CE53-D82B-DEC570E11EF2}"/>
              </a:ext>
            </a:extLst>
          </p:cNvPr>
          <p:cNvGrpSpPr/>
          <p:nvPr/>
        </p:nvGrpSpPr>
        <p:grpSpPr>
          <a:xfrm>
            <a:off x="415199" y="965974"/>
            <a:ext cx="120786" cy="115888"/>
            <a:chOff x="477838" y="1011238"/>
            <a:chExt cx="117476" cy="112712"/>
          </a:xfrm>
          <a:solidFill>
            <a:schemeClr val="bg1">
              <a:lumMod val="65000"/>
            </a:schemeClr>
          </a:solidFill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409BB923-FB4F-FEFC-FF37-E6A84F1F1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76" y="1022350"/>
              <a:ext cx="96838" cy="71437"/>
            </a:xfrm>
            <a:custGeom>
              <a:avLst/>
              <a:gdLst>
                <a:gd name="T0" fmla="*/ 22 w 61"/>
                <a:gd name="T1" fmla="*/ 45 h 45"/>
                <a:gd name="T2" fmla="*/ 0 w 61"/>
                <a:gd name="T3" fmla="*/ 23 h 45"/>
                <a:gd name="T4" fmla="*/ 7 w 61"/>
                <a:gd name="T5" fmla="*/ 17 h 45"/>
                <a:gd name="T6" fmla="*/ 22 w 61"/>
                <a:gd name="T7" fmla="*/ 32 h 45"/>
                <a:gd name="T8" fmla="*/ 54 w 61"/>
                <a:gd name="T9" fmla="*/ 0 h 45"/>
                <a:gd name="T10" fmla="*/ 61 w 61"/>
                <a:gd name="T11" fmla="*/ 7 h 45"/>
                <a:gd name="T12" fmla="*/ 22 w 61"/>
                <a:gd name="T1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">
                  <a:moveTo>
                    <a:pt x="22" y="45"/>
                  </a:moveTo>
                  <a:lnTo>
                    <a:pt x="0" y="23"/>
                  </a:lnTo>
                  <a:lnTo>
                    <a:pt x="7" y="17"/>
                  </a:lnTo>
                  <a:lnTo>
                    <a:pt x="22" y="32"/>
                  </a:lnTo>
                  <a:lnTo>
                    <a:pt x="54" y="0"/>
                  </a:lnTo>
                  <a:lnTo>
                    <a:pt x="61" y="7"/>
                  </a:lnTo>
                  <a:lnTo>
                    <a:pt x="22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atinLnBrk="0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E3D3005B-542B-0A8D-6828-187DAC22C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838" y="1011238"/>
              <a:ext cx="112713" cy="112712"/>
            </a:xfrm>
            <a:custGeom>
              <a:avLst/>
              <a:gdLst>
                <a:gd name="T0" fmla="*/ 926 w 1040"/>
                <a:gd name="T1" fmla="*/ 500 h 1041"/>
                <a:gd name="T2" fmla="*/ 927 w 1040"/>
                <a:gd name="T3" fmla="*/ 521 h 1041"/>
                <a:gd name="T4" fmla="*/ 520 w 1040"/>
                <a:gd name="T5" fmla="*/ 928 h 1041"/>
                <a:gd name="T6" fmla="*/ 113 w 1040"/>
                <a:gd name="T7" fmla="*/ 521 h 1041"/>
                <a:gd name="T8" fmla="*/ 520 w 1040"/>
                <a:gd name="T9" fmla="*/ 114 h 1041"/>
                <a:gd name="T10" fmla="*/ 747 w 1040"/>
                <a:gd name="T11" fmla="*/ 183 h 1041"/>
                <a:gd name="T12" fmla="*/ 830 w 1040"/>
                <a:gd name="T13" fmla="*/ 103 h 1041"/>
                <a:gd name="T14" fmla="*/ 520 w 1040"/>
                <a:gd name="T15" fmla="*/ 1 h 1041"/>
                <a:gd name="T16" fmla="*/ 0 w 1040"/>
                <a:gd name="T17" fmla="*/ 521 h 1041"/>
                <a:gd name="T18" fmla="*/ 520 w 1040"/>
                <a:gd name="T19" fmla="*/ 1041 h 1041"/>
                <a:gd name="T20" fmla="*/ 1040 w 1040"/>
                <a:gd name="T21" fmla="*/ 520 h 1041"/>
                <a:gd name="T22" fmla="*/ 1027 w 1040"/>
                <a:gd name="T23" fmla="*/ 403 h 1041"/>
                <a:gd name="T24" fmla="*/ 926 w 1040"/>
                <a:gd name="T25" fmla="*/ 500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0" h="1041">
                  <a:moveTo>
                    <a:pt x="926" y="500"/>
                  </a:moveTo>
                  <a:cubicBezTo>
                    <a:pt x="927" y="506"/>
                    <a:pt x="927" y="513"/>
                    <a:pt x="927" y="521"/>
                  </a:cubicBezTo>
                  <a:cubicBezTo>
                    <a:pt x="927" y="745"/>
                    <a:pt x="745" y="927"/>
                    <a:pt x="520" y="928"/>
                  </a:cubicBezTo>
                  <a:cubicBezTo>
                    <a:pt x="295" y="928"/>
                    <a:pt x="113" y="746"/>
                    <a:pt x="113" y="521"/>
                  </a:cubicBezTo>
                  <a:cubicBezTo>
                    <a:pt x="113" y="296"/>
                    <a:pt x="295" y="114"/>
                    <a:pt x="520" y="114"/>
                  </a:cubicBezTo>
                  <a:cubicBezTo>
                    <a:pt x="604" y="114"/>
                    <a:pt x="682" y="139"/>
                    <a:pt x="747" y="183"/>
                  </a:cubicBezTo>
                  <a:cubicBezTo>
                    <a:pt x="830" y="103"/>
                    <a:pt x="830" y="103"/>
                    <a:pt x="830" y="103"/>
                  </a:cubicBezTo>
                  <a:cubicBezTo>
                    <a:pt x="743" y="39"/>
                    <a:pt x="636" y="0"/>
                    <a:pt x="520" y="1"/>
                  </a:cubicBezTo>
                  <a:cubicBezTo>
                    <a:pt x="233" y="1"/>
                    <a:pt x="0" y="234"/>
                    <a:pt x="0" y="521"/>
                  </a:cubicBezTo>
                  <a:cubicBezTo>
                    <a:pt x="0" y="808"/>
                    <a:pt x="233" y="1041"/>
                    <a:pt x="520" y="1041"/>
                  </a:cubicBezTo>
                  <a:cubicBezTo>
                    <a:pt x="807" y="1041"/>
                    <a:pt x="1040" y="808"/>
                    <a:pt x="1040" y="520"/>
                  </a:cubicBezTo>
                  <a:cubicBezTo>
                    <a:pt x="1040" y="480"/>
                    <a:pt x="1036" y="441"/>
                    <a:pt x="1027" y="403"/>
                  </a:cubicBezTo>
                  <a:lnTo>
                    <a:pt x="926" y="50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atinLnBrk="0"/>
              <a:endParaRPr lang="ko-KR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3996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그룹 133"/>
          <p:cNvGrpSpPr/>
          <p:nvPr/>
        </p:nvGrpSpPr>
        <p:grpSpPr>
          <a:xfrm>
            <a:off x="415199" y="383253"/>
            <a:ext cx="4481035" cy="419085"/>
            <a:chOff x="415199" y="383253"/>
            <a:chExt cx="4481035" cy="419085"/>
          </a:xfrm>
        </p:grpSpPr>
        <p:sp>
          <p:nvSpPr>
            <p:cNvPr id="135" name="Rectangle 4"/>
            <p:cNvSpPr>
              <a:spLocks noChangeArrowheads="1"/>
            </p:cNvSpPr>
            <p:nvPr/>
          </p:nvSpPr>
          <p:spPr bwMode="auto">
            <a:xfrm>
              <a:off x="415199" y="383253"/>
              <a:ext cx="448103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217475" lvl="0" indent="-217475" defTabSz="957689" fontAlgn="t" latinLnBrk="0">
                <a:spcAft>
                  <a:spcPts val="200"/>
                </a:spcAft>
              </a:pP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3.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상세 구축방안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&gt; 3.1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기능  요구사항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 IT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운영관리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3.1.7.1 </a:t>
              </a:r>
              <a:r>
                <a:rPr lang="ko-KR" altLang="en-US" sz="900" spc="-30" dirty="0" err="1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통합로그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기반 모니터링 환경 구축</a:t>
              </a:r>
              <a:endParaRPr lang="en-US" altLang="ko-KR" sz="900" spc="-30" dirty="0">
                <a:solidFill>
                  <a:schemeClr val="bg1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6" name="Rectangle 4"/>
            <p:cNvSpPr>
              <a:spLocks noChangeArrowheads="1"/>
            </p:cNvSpPr>
            <p:nvPr/>
          </p:nvSpPr>
          <p:spPr bwMode="auto">
            <a:xfrm>
              <a:off x="415199" y="556117"/>
              <a:ext cx="2457917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1pPr>
              <a:lvl2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fontAlgn="t" latinLnBrk="0"/>
              <a:r>
                <a:rPr lang="en-US" altLang="ko-KR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3.1.7.1.3 </a:t>
              </a:r>
              <a:r>
                <a:rPr lang="ko-KR" altLang="en-US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로그 전송 기능 제공</a:t>
              </a:r>
              <a:endParaRPr lang="en-US" altLang="ko-KR" sz="1600" spc="-3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8005397" y="1261597"/>
            <a:ext cx="1485589" cy="187106"/>
            <a:chOff x="4899641" y="1714485"/>
            <a:chExt cx="1621709" cy="187106"/>
          </a:xfrm>
        </p:grpSpPr>
        <p:grpSp>
          <p:nvGrpSpPr>
            <p:cNvPr id="90" name="그룹 89"/>
            <p:cNvGrpSpPr/>
            <p:nvPr/>
          </p:nvGrpSpPr>
          <p:grpSpPr>
            <a:xfrm>
              <a:off x="4903555" y="1714485"/>
              <a:ext cx="1617795" cy="187106"/>
              <a:chOff x="4586156" y="1714485"/>
              <a:chExt cx="1617795" cy="187106"/>
            </a:xfrm>
          </p:grpSpPr>
          <p:sp>
            <p:nvSpPr>
              <p:cNvPr id="92" name="직사각형 91"/>
              <p:cNvSpPr/>
              <p:nvPr/>
            </p:nvSpPr>
            <p:spPr bwMode="gray">
              <a:xfrm>
                <a:off x="4586156" y="1714485"/>
                <a:ext cx="806183" cy="1871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요구사항 번호</a:t>
                </a:r>
              </a:p>
            </p:txBody>
          </p:sp>
          <p:sp>
            <p:nvSpPr>
              <p:cNvPr id="93" name="직사각형 92"/>
              <p:cNvSpPr/>
              <p:nvPr/>
            </p:nvSpPr>
            <p:spPr bwMode="gray">
              <a:xfrm>
                <a:off x="5392339" y="1714485"/>
                <a:ext cx="811612" cy="187106"/>
              </a:xfrm>
              <a:prstGeom prst="rect">
                <a:avLst/>
              </a:prstGeom>
              <a:solidFill>
                <a:srgbClr val="F5F5F6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SFR-IT-01</a:t>
                </a:r>
              </a:p>
            </p:txBody>
          </p:sp>
        </p:grpSp>
        <p:sp>
          <p:nvSpPr>
            <p:cNvPr id="91" name="자유형 90"/>
            <p:cNvSpPr/>
            <p:nvPr/>
          </p:nvSpPr>
          <p:spPr>
            <a:xfrm rot="10800000" flipV="1">
              <a:off x="4899641" y="1714485"/>
              <a:ext cx="1621708" cy="187105"/>
            </a:xfrm>
            <a:custGeom>
              <a:avLst/>
              <a:gdLst>
                <a:gd name="connsiteX0" fmla="*/ 0 w 2557462"/>
                <a:gd name="connsiteY0" fmla="*/ 320675 h 320675"/>
                <a:gd name="connsiteX1" fmla="*/ 0 w 2557462"/>
                <a:gd name="connsiteY1" fmla="*/ 0 h 320675"/>
                <a:gd name="connsiteX2" fmla="*/ 2557462 w 2557462"/>
                <a:gd name="connsiteY2" fmla="*/ 0 h 320675"/>
                <a:gd name="connsiteX3" fmla="*/ 2557462 w 2557462"/>
                <a:gd name="connsiteY3" fmla="*/ 320675 h 32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7462" h="320675">
                  <a:moveTo>
                    <a:pt x="0" y="320675"/>
                  </a:moveTo>
                  <a:lnTo>
                    <a:pt x="0" y="0"/>
                  </a:lnTo>
                  <a:lnTo>
                    <a:pt x="2557462" y="0"/>
                  </a:lnTo>
                  <a:lnTo>
                    <a:pt x="2557462" y="320675"/>
                  </a:lnTo>
                </a:path>
              </a:pathLst>
            </a:custGeom>
            <a:noFill/>
            <a:ln w="9525" cap="flat">
              <a:solidFill>
                <a:srgbClr val="C5C8CD"/>
              </a:solidFill>
              <a:prstDash val="solid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>
                <a:solidFill>
                  <a:prstClr val="black"/>
                </a:solidFill>
                <a:latin typeface="Calibri" panose="020F0502020204030204"/>
                <a:ea typeface="페이퍼로지 4 Regular" pitchFamily="2" charset="-127"/>
              </a:endParaRPr>
            </a:p>
          </p:txBody>
        </p:sp>
      </p:grpSp>
      <p:sp>
        <p:nvSpPr>
          <p:cNvPr id="103" name="TextBox 9">
            <a:extLst>
              <a:ext uri="{FF2B5EF4-FFF2-40B4-BE49-F238E27FC236}">
                <a16:creationId xmlns:a16="http://schemas.microsoft.com/office/drawing/2014/main" id="{5A6AB889-8592-53AE-ABDB-6CD799332BC0}"/>
              </a:ext>
            </a:extLst>
          </p:cNvPr>
          <p:cNvSpPr txBox="1"/>
          <p:nvPr/>
        </p:nvSpPr>
        <p:spPr>
          <a:xfrm>
            <a:off x="577124" y="931585"/>
            <a:ext cx="7183057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1" latinLnBrk="0"/>
            <a:r>
              <a:rPr lang="ko-KR" altLang="en-US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로그를 표준 형식으로 변환</a:t>
            </a:r>
            <a:r>
              <a:rPr lang="en-US" altLang="ko-KR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압축하고 전송구간을 암호화하며</a:t>
            </a:r>
            <a:r>
              <a:rPr lang="en-US" altLang="ko-KR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버퍼링과 재처리를 통해 대량 로그를 안정적으로 전달합니다</a:t>
            </a:r>
            <a:r>
              <a:rPr lang="en-US" altLang="ko-KR" sz="1200" spc="-30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CC66FF45-D66C-B0C1-2805-9ED7FA5A7791}"/>
              </a:ext>
            </a:extLst>
          </p:cNvPr>
          <p:cNvGrpSpPr/>
          <p:nvPr/>
        </p:nvGrpSpPr>
        <p:grpSpPr>
          <a:xfrm>
            <a:off x="6816075" y="1977705"/>
            <a:ext cx="2667209" cy="387350"/>
            <a:chOff x="6823591" y="1952625"/>
            <a:chExt cx="2667209" cy="387350"/>
          </a:xfrm>
        </p:grpSpPr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D806420E-9A2F-0FAD-45F5-46B0EAF0EAE9}"/>
                </a:ext>
              </a:extLst>
            </p:cNvPr>
            <p:cNvSpPr/>
            <p:nvPr/>
          </p:nvSpPr>
          <p:spPr>
            <a:xfrm>
              <a:off x="7495157" y="2007800"/>
              <a:ext cx="1324080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dirty="0">
                  <a:solidFill>
                    <a:srgbClr val="02095A"/>
                  </a:solidFill>
                  <a:latin typeface="페이퍼로지 8 ExtraBold" pitchFamily="2" charset="-127"/>
                  <a:ea typeface="페이퍼로지 8 ExtraBold" pitchFamily="2" charset="-127"/>
                  <a:cs typeface="Arial" panose="020B0604020202020204" pitchFamily="34" charset="0"/>
                </a:rPr>
                <a:t>기능 상세 내역</a:t>
              </a:r>
            </a:p>
          </p:txBody>
        </p: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F69CD6BE-3BF1-F99D-ADD5-B8EAF83E24F6}"/>
                </a:ext>
              </a:extLst>
            </p:cNvPr>
            <p:cNvCxnSpPr/>
            <p:nvPr/>
          </p:nvCxnSpPr>
          <p:spPr>
            <a:xfrm>
              <a:off x="6823591" y="2339975"/>
              <a:ext cx="2667209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F7345D99-6324-C733-4907-440EF475D6FA}"/>
                </a:ext>
              </a:extLst>
            </p:cNvPr>
            <p:cNvCxnSpPr/>
            <p:nvPr/>
          </p:nvCxnSpPr>
          <p:spPr>
            <a:xfrm>
              <a:off x="6823591" y="1952625"/>
              <a:ext cx="2667209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6608DCBE-AE2B-94EC-3C87-2F4539045F31}"/>
              </a:ext>
            </a:extLst>
          </p:cNvPr>
          <p:cNvCxnSpPr/>
          <p:nvPr/>
        </p:nvCxnSpPr>
        <p:spPr>
          <a:xfrm>
            <a:off x="6816075" y="6081801"/>
            <a:ext cx="2667209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918DCC12-CECD-272A-F3EF-4066F89D0471}"/>
              </a:ext>
            </a:extLst>
          </p:cNvPr>
          <p:cNvCxnSpPr/>
          <p:nvPr/>
        </p:nvCxnSpPr>
        <p:spPr>
          <a:xfrm>
            <a:off x="6816075" y="3237485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4DB7DDF4-3666-BEA1-EA10-632D943E4CA9}"/>
              </a:ext>
            </a:extLst>
          </p:cNvPr>
          <p:cNvCxnSpPr/>
          <p:nvPr/>
        </p:nvCxnSpPr>
        <p:spPr>
          <a:xfrm>
            <a:off x="6816075" y="4184625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9B485623-38CA-8233-C02A-0D8C71B01CD9}"/>
              </a:ext>
            </a:extLst>
          </p:cNvPr>
          <p:cNvCxnSpPr/>
          <p:nvPr/>
        </p:nvCxnSpPr>
        <p:spPr>
          <a:xfrm>
            <a:off x="6816075" y="5121891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AD2DDA4A-BAAB-2DCD-F15A-8480156D312A}"/>
              </a:ext>
            </a:extLst>
          </p:cNvPr>
          <p:cNvGrpSpPr/>
          <p:nvPr/>
        </p:nvGrpSpPr>
        <p:grpSpPr>
          <a:xfrm>
            <a:off x="6824388" y="2553409"/>
            <a:ext cx="2655779" cy="528620"/>
            <a:chOff x="6831904" y="2398664"/>
            <a:chExt cx="2655779" cy="528620"/>
          </a:xfrm>
        </p:grpSpPr>
        <p:sp>
          <p:nvSpPr>
            <p:cNvPr id="115" name="Rectangle 25">
              <a:extLst>
                <a:ext uri="{FF2B5EF4-FFF2-40B4-BE49-F238E27FC236}">
                  <a16:creationId xmlns:a16="http://schemas.microsoft.com/office/drawing/2014/main" id="{CA8C964A-D354-0084-F454-296AE89D4F3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307777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이기종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로그를 표준 형식으로 변환하여 일괄된 처리 지원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16" name="Rectangle 25">
              <a:extLst>
                <a:ext uri="{FF2B5EF4-FFF2-40B4-BE49-F238E27FC236}">
                  <a16:creationId xmlns:a16="http://schemas.microsoft.com/office/drawing/2014/main" id="{231D08F6-165C-CC74-8F7E-253DD66E7AB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로그 변환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·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정규화</a:t>
              </a: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3FA94C36-2477-2A9C-5539-1FB41160052F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1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0DE42680-92B3-F535-858B-EF4A584B3B4F}"/>
              </a:ext>
            </a:extLst>
          </p:cNvPr>
          <p:cNvGrpSpPr/>
          <p:nvPr/>
        </p:nvGrpSpPr>
        <p:grpSpPr>
          <a:xfrm>
            <a:off x="6824388" y="3476444"/>
            <a:ext cx="2655778" cy="528620"/>
            <a:chOff x="6831904" y="2398664"/>
            <a:chExt cx="2655778" cy="528620"/>
          </a:xfrm>
        </p:grpSpPr>
        <p:sp>
          <p:nvSpPr>
            <p:cNvPr id="119" name="Rectangle 25">
              <a:extLst>
                <a:ext uri="{FF2B5EF4-FFF2-40B4-BE49-F238E27FC236}">
                  <a16:creationId xmlns:a16="http://schemas.microsoft.com/office/drawing/2014/main" id="{5E49B0E5-C349-D10F-1A3C-5C049DA0A27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278323" cy="307777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압축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배치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전송과 </a:t>
              </a: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전송량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 제어로 네트워크 사용 최적화</a:t>
              </a:r>
            </a:p>
          </p:txBody>
        </p:sp>
        <p:sp>
          <p:nvSpPr>
            <p:cNvPr id="120" name="Rectangle 25">
              <a:extLst>
                <a:ext uri="{FF2B5EF4-FFF2-40B4-BE49-F238E27FC236}">
                  <a16:creationId xmlns:a16="http://schemas.microsoft.com/office/drawing/2014/main" id="{CEE325D7-5C46-17DE-0CB6-0D7A1A60E6C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효율적인 압축 전송</a:t>
              </a: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42E72386-CCEB-37E0-2070-204461AAF7CC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891881B7-652B-03A3-3C12-0F3FFC586EAD}"/>
              </a:ext>
            </a:extLst>
          </p:cNvPr>
          <p:cNvGrpSpPr/>
          <p:nvPr/>
        </p:nvGrpSpPr>
        <p:grpSpPr>
          <a:xfrm>
            <a:off x="6824388" y="4401108"/>
            <a:ext cx="2655779" cy="528620"/>
            <a:chOff x="6831904" y="2398664"/>
            <a:chExt cx="2655779" cy="528620"/>
          </a:xfrm>
        </p:grpSpPr>
        <p:sp>
          <p:nvSpPr>
            <p:cNvPr id="123" name="Rectangle 25">
              <a:extLst>
                <a:ext uri="{FF2B5EF4-FFF2-40B4-BE49-F238E27FC236}">
                  <a16:creationId xmlns:a16="http://schemas.microsoft.com/office/drawing/2014/main" id="{B2D20469-927C-40BB-3FE3-FE89F474E91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307777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TLS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와 시스템 인증을 적용하여 전송 중 데이터 보호</a:t>
              </a:r>
            </a:p>
          </p:txBody>
        </p:sp>
        <p:sp>
          <p:nvSpPr>
            <p:cNvPr id="124" name="Rectangle 25">
              <a:extLst>
                <a:ext uri="{FF2B5EF4-FFF2-40B4-BE49-F238E27FC236}">
                  <a16:creationId xmlns:a16="http://schemas.microsoft.com/office/drawing/2014/main" id="{A582C6BB-9BA7-5480-AD2F-6448478AA51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안전한 암호화 전송</a:t>
              </a: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1CDF1D59-449F-92A4-E58C-7309BF757648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3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F5399672-0B1E-2842-9670-CA70E75917FA}"/>
              </a:ext>
            </a:extLst>
          </p:cNvPr>
          <p:cNvGrpSpPr/>
          <p:nvPr/>
        </p:nvGrpSpPr>
        <p:grpSpPr>
          <a:xfrm>
            <a:off x="6824388" y="5348652"/>
            <a:ext cx="2655779" cy="528620"/>
            <a:chOff x="6831904" y="2398664"/>
            <a:chExt cx="2655779" cy="528620"/>
          </a:xfrm>
        </p:grpSpPr>
        <p:sp>
          <p:nvSpPr>
            <p:cNvPr id="127" name="Rectangle 25">
              <a:extLst>
                <a:ext uri="{FF2B5EF4-FFF2-40B4-BE49-F238E27FC236}">
                  <a16:creationId xmlns:a16="http://schemas.microsoft.com/office/drawing/2014/main" id="{FA73626B-DC96-755C-41F8-6D14CCE6336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307777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버퍼링과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재시도로 장애 상황의 로그 유실 최소화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28" name="Rectangle 25">
              <a:extLst>
                <a:ext uri="{FF2B5EF4-FFF2-40B4-BE49-F238E27FC236}">
                  <a16:creationId xmlns:a16="http://schemas.microsoft.com/office/drawing/2014/main" id="{4C0DA349-12AC-F383-CF6D-20FF969A394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안정적 전송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·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재처리</a:t>
              </a: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B8DFCE66-15C4-63C9-61B4-64D932424B7D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4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7A811DE8-A166-E8AA-AA88-7255232C14EE}"/>
              </a:ext>
            </a:extLst>
          </p:cNvPr>
          <p:cNvGrpSpPr/>
          <p:nvPr/>
        </p:nvGrpSpPr>
        <p:grpSpPr>
          <a:xfrm>
            <a:off x="415199" y="2060848"/>
            <a:ext cx="5906226" cy="252000"/>
            <a:chOff x="415199" y="2138674"/>
            <a:chExt cx="5921070" cy="252000"/>
          </a:xfrm>
        </p:grpSpPr>
        <p:sp>
          <p:nvSpPr>
            <p:cNvPr id="130" name="AutoShape 227">
              <a:extLst>
                <a:ext uri="{FF2B5EF4-FFF2-40B4-BE49-F238E27FC236}">
                  <a16:creationId xmlns:a16="http://schemas.microsoft.com/office/drawing/2014/main" id="{999AA9A4-21AF-B805-2924-2CE57174C43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5199" y="2138674"/>
              <a:ext cx="1426658" cy="252000"/>
            </a:xfrm>
            <a:prstGeom prst="rect">
              <a:avLst/>
            </a:prstGeom>
            <a:solidFill>
              <a:srgbClr val="8DAC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r>
                <a:rPr lang="ko-KR" altLang="en-US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변환</a:t>
              </a:r>
              <a:r>
                <a:rPr lang="en-US" altLang="ko-KR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20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정규화</a:t>
              </a:r>
            </a:p>
          </p:txBody>
        </p:sp>
        <p:sp>
          <p:nvSpPr>
            <p:cNvPr id="131" name="AutoShape 227">
              <a:extLst>
                <a:ext uri="{FF2B5EF4-FFF2-40B4-BE49-F238E27FC236}">
                  <a16:creationId xmlns:a16="http://schemas.microsoft.com/office/drawing/2014/main" id="{3CA36771-EF9E-0EC9-8DBB-0884A6F142F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09611" y="2138674"/>
              <a:ext cx="1426658" cy="252000"/>
            </a:xfrm>
            <a:prstGeom prst="rect">
              <a:avLst/>
            </a:prstGeom>
            <a:solidFill>
              <a:srgbClr val="041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r>
                <a:rPr lang="ko-KR" altLang="en-US" sz="1200" dirty="0" err="1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버퍼링</a:t>
              </a:r>
              <a:r>
                <a:rPr lang="en-US" altLang="ko-KR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재처리</a:t>
              </a:r>
            </a:p>
          </p:txBody>
        </p:sp>
        <p:sp>
          <p:nvSpPr>
            <p:cNvPr id="132" name="AutoShape 227">
              <a:extLst>
                <a:ext uri="{FF2B5EF4-FFF2-40B4-BE49-F238E27FC236}">
                  <a16:creationId xmlns:a16="http://schemas.microsoft.com/office/drawing/2014/main" id="{6594DCF5-286A-836B-5F9B-F182D5AF16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411474" y="2138674"/>
              <a:ext cx="1426658" cy="252000"/>
            </a:xfrm>
            <a:prstGeom prst="rect">
              <a:avLst/>
            </a:prstGeom>
            <a:solidFill>
              <a:srgbClr val="015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암호화 전송</a:t>
              </a:r>
            </a:p>
          </p:txBody>
        </p:sp>
        <p:sp>
          <p:nvSpPr>
            <p:cNvPr id="133" name="AutoShape 227">
              <a:extLst>
                <a:ext uri="{FF2B5EF4-FFF2-40B4-BE49-F238E27FC236}">
                  <a16:creationId xmlns:a16="http://schemas.microsoft.com/office/drawing/2014/main" id="{F1408232-56ED-A586-DD74-0FF93A9CCF0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913336" y="2138674"/>
              <a:ext cx="1426658" cy="252000"/>
            </a:xfrm>
            <a:prstGeom prst="rect">
              <a:avLst/>
            </a:prstGeom>
            <a:solidFill>
              <a:srgbClr val="4779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압축</a:t>
              </a:r>
              <a:r>
                <a:rPr lang="en-US" altLang="ko-KR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묶음</a:t>
              </a:r>
              <a:r>
                <a:rPr lang="en-US" altLang="ko-KR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 </a:t>
              </a:r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전송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A3E3D380-AE2E-2BAE-444E-D4584916CE64}"/>
              </a:ext>
            </a:extLst>
          </p:cNvPr>
          <p:cNvGrpSpPr/>
          <p:nvPr/>
        </p:nvGrpSpPr>
        <p:grpSpPr>
          <a:xfrm>
            <a:off x="1777417" y="2099263"/>
            <a:ext cx="187956" cy="187956"/>
            <a:chOff x="7123189" y="3530491"/>
            <a:chExt cx="201600" cy="201600"/>
          </a:xfrm>
        </p:grpSpPr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22347609-F642-7C11-F4E4-EE2447757D03}"/>
                </a:ext>
              </a:extLst>
            </p:cNvPr>
            <p:cNvSpPr/>
            <p:nvPr/>
          </p:nvSpPr>
          <p:spPr>
            <a:xfrm rot="16200000">
              <a:off x="7123189" y="3530491"/>
              <a:ext cx="201600" cy="201600"/>
            </a:xfrm>
            <a:prstGeom prst="ellipse">
              <a:avLst/>
            </a:prstGeom>
            <a:solidFill>
              <a:srgbClr val="FFFFFF"/>
            </a:solidFill>
            <a:ln w="12700">
              <a:noFill/>
              <a:prstDash val="solid"/>
              <a:round/>
              <a:headEnd/>
              <a:tailEnd/>
            </a:ln>
          </p:spPr>
          <p:txBody>
            <a:bodyPr vert="horz" wrap="square" lIns="91421" tIns="45711" rIns="91421" bIns="45711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E6E591B2-3C2B-AEAB-80A1-01476F004AE8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7174300" y="3581603"/>
              <a:ext cx="99376" cy="99377"/>
            </a:xfrm>
            <a:custGeom>
              <a:avLst/>
              <a:gdLst>
                <a:gd name="T0" fmla="*/ 222 w 263"/>
                <a:gd name="T1" fmla="*/ 264 h 264"/>
                <a:gd name="T2" fmla="*/ 231 w 263"/>
                <a:gd name="T3" fmla="*/ 263 h 264"/>
                <a:gd name="T4" fmla="*/ 245 w 263"/>
                <a:gd name="T5" fmla="*/ 257 h 264"/>
                <a:gd name="T6" fmla="*/ 256 w 263"/>
                <a:gd name="T7" fmla="*/ 246 h 264"/>
                <a:gd name="T8" fmla="*/ 262 w 263"/>
                <a:gd name="T9" fmla="*/ 232 h 264"/>
                <a:gd name="T10" fmla="*/ 263 w 263"/>
                <a:gd name="T11" fmla="*/ 52 h 264"/>
                <a:gd name="T12" fmla="*/ 262 w 263"/>
                <a:gd name="T13" fmla="*/ 43 h 264"/>
                <a:gd name="T14" fmla="*/ 256 w 263"/>
                <a:gd name="T15" fmla="*/ 29 h 264"/>
                <a:gd name="T16" fmla="*/ 245 w 263"/>
                <a:gd name="T17" fmla="*/ 18 h 264"/>
                <a:gd name="T18" fmla="*/ 231 w 263"/>
                <a:gd name="T19" fmla="*/ 13 h 264"/>
                <a:gd name="T20" fmla="*/ 222 w 263"/>
                <a:gd name="T21" fmla="*/ 11 h 264"/>
                <a:gd name="T22" fmla="*/ 207 w 263"/>
                <a:gd name="T23" fmla="*/ 15 h 264"/>
                <a:gd name="T24" fmla="*/ 194 w 263"/>
                <a:gd name="T25" fmla="*/ 24 h 264"/>
                <a:gd name="T26" fmla="*/ 189 w 263"/>
                <a:gd name="T27" fmla="*/ 29 h 264"/>
                <a:gd name="T28" fmla="*/ 183 w 263"/>
                <a:gd name="T29" fmla="*/ 43 h 264"/>
                <a:gd name="T30" fmla="*/ 183 w 263"/>
                <a:gd name="T31" fmla="*/ 52 h 264"/>
                <a:gd name="T32" fmla="*/ 69 w 263"/>
                <a:gd name="T33" fmla="*/ 13 h 264"/>
                <a:gd name="T34" fmla="*/ 62 w 263"/>
                <a:gd name="T35" fmla="*/ 7 h 264"/>
                <a:gd name="T36" fmla="*/ 48 w 263"/>
                <a:gd name="T37" fmla="*/ 1 h 264"/>
                <a:gd name="T38" fmla="*/ 33 w 263"/>
                <a:gd name="T39" fmla="*/ 1 h 264"/>
                <a:gd name="T40" fmla="*/ 19 w 263"/>
                <a:gd name="T41" fmla="*/ 7 h 264"/>
                <a:gd name="T42" fmla="*/ 12 w 263"/>
                <a:gd name="T43" fmla="*/ 13 h 264"/>
                <a:gd name="T44" fmla="*/ 3 w 263"/>
                <a:gd name="T45" fmla="*/ 25 h 264"/>
                <a:gd name="T46" fmla="*/ 0 w 263"/>
                <a:gd name="T47" fmla="*/ 41 h 264"/>
                <a:gd name="T48" fmla="*/ 3 w 263"/>
                <a:gd name="T49" fmla="*/ 56 h 264"/>
                <a:gd name="T50" fmla="*/ 12 w 263"/>
                <a:gd name="T51" fmla="*/ 69 h 264"/>
                <a:gd name="T52" fmla="*/ 51 w 263"/>
                <a:gd name="T53" fmla="*/ 183 h 264"/>
                <a:gd name="T54" fmla="*/ 44 w 263"/>
                <a:gd name="T55" fmla="*/ 184 h 264"/>
                <a:gd name="T56" fmla="*/ 29 w 263"/>
                <a:gd name="T57" fmla="*/ 190 h 264"/>
                <a:gd name="T58" fmla="*/ 19 w 263"/>
                <a:gd name="T59" fmla="*/ 201 h 264"/>
                <a:gd name="T60" fmla="*/ 12 w 263"/>
                <a:gd name="T61" fmla="*/ 215 h 264"/>
                <a:gd name="T62" fmla="*/ 12 w 263"/>
                <a:gd name="T63" fmla="*/ 223 h 264"/>
                <a:gd name="T64" fmla="*/ 15 w 263"/>
                <a:gd name="T65" fmla="*/ 239 h 264"/>
                <a:gd name="T66" fmla="*/ 23 w 263"/>
                <a:gd name="T67" fmla="*/ 251 h 264"/>
                <a:gd name="T68" fmla="*/ 36 w 263"/>
                <a:gd name="T69" fmla="*/ 261 h 264"/>
                <a:gd name="T70" fmla="*/ 51 w 263"/>
                <a:gd name="T71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3" h="264">
                  <a:moveTo>
                    <a:pt x="51" y="264"/>
                  </a:moveTo>
                  <a:lnTo>
                    <a:pt x="222" y="264"/>
                  </a:lnTo>
                  <a:lnTo>
                    <a:pt x="222" y="264"/>
                  </a:lnTo>
                  <a:lnTo>
                    <a:pt x="231" y="263"/>
                  </a:lnTo>
                  <a:lnTo>
                    <a:pt x="238" y="261"/>
                  </a:lnTo>
                  <a:lnTo>
                    <a:pt x="245" y="257"/>
                  </a:lnTo>
                  <a:lnTo>
                    <a:pt x="252" y="251"/>
                  </a:lnTo>
                  <a:lnTo>
                    <a:pt x="256" y="246"/>
                  </a:lnTo>
                  <a:lnTo>
                    <a:pt x="260" y="239"/>
                  </a:lnTo>
                  <a:lnTo>
                    <a:pt x="262" y="232"/>
                  </a:lnTo>
                  <a:lnTo>
                    <a:pt x="263" y="223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2" y="43"/>
                  </a:lnTo>
                  <a:lnTo>
                    <a:pt x="260" y="36"/>
                  </a:lnTo>
                  <a:lnTo>
                    <a:pt x="256" y="29"/>
                  </a:lnTo>
                  <a:lnTo>
                    <a:pt x="252" y="24"/>
                  </a:lnTo>
                  <a:lnTo>
                    <a:pt x="245" y="18"/>
                  </a:lnTo>
                  <a:lnTo>
                    <a:pt x="238" y="15"/>
                  </a:lnTo>
                  <a:lnTo>
                    <a:pt x="231" y="13"/>
                  </a:lnTo>
                  <a:lnTo>
                    <a:pt x="222" y="11"/>
                  </a:lnTo>
                  <a:lnTo>
                    <a:pt x="222" y="11"/>
                  </a:lnTo>
                  <a:lnTo>
                    <a:pt x="214" y="13"/>
                  </a:lnTo>
                  <a:lnTo>
                    <a:pt x="207" y="15"/>
                  </a:lnTo>
                  <a:lnTo>
                    <a:pt x="200" y="18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89" y="29"/>
                  </a:lnTo>
                  <a:lnTo>
                    <a:pt x="186" y="36"/>
                  </a:lnTo>
                  <a:lnTo>
                    <a:pt x="183" y="43"/>
                  </a:lnTo>
                  <a:lnTo>
                    <a:pt x="183" y="52"/>
                  </a:lnTo>
                  <a:lnTo>
                    <a:pt x="183" y="52"/>
                  </a:lnTo>
                  <a:lnTo>
                    <a:pt x="183" y="126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2" y="7"/>
                  </a:lnTo>
                  <a:lnTo>
                    <a:pt x="55" y="3"/>
                  </a:lnTo>
                  <a:lnTo>
                    <a:pt x="48" y="1"/>
                  </a:lnTo>
                  <a:lnTo>
                    <a:pt x="40" y="0"/>
                  </a:lnTo>
                  <a:lnTo>
                    <a:pt x="33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5"/>
                  </a:lnTo>
                  <a:lnTo>
                    <a:pt x="0" y="34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3" y="56"/>
                  </a:lnTo>
                  <a:lnTo>
                    <a:pt x="6" y="63"/>
                  </a:lnTo>
                  <a:lnTo>
                    <a:pt x="12" y="69"/>
                  </a:lnTo>
                  <a:lnTo>
                    <a:pt x="126" y="183"/>
                  </a:lnTo>
                  <a:lnTo>
                    <a:pt x="51" y="183"/>
                  </a:lnTo>
                  <a:lnTo>
                    <a:pt x="51" y="183"/>
                  </a:lnTo>
                  <a:lnTo>
                    <a:pt x="44" y="184"/>
                  </a:lnTo>
                  <a:lnTo>
                    <a:pt x="36" y="185"/>
                  </a:lnTo>
                  <a:lnTo>
                    <a:pt x="29" y="190"/>
                  </a:lnTo>
                  <a:lnTo>
                    <a:pt x="23" y="195"/>
                  </a:lnTo>
                  <a:lnTo>
                    <a:pt x="19" y="201"/>
                  </a:lnTo>
                  <a:lnTo>
                    <a:pt x="15" y="208"/>
                  </a:lnTo>
                  <a:lnTo>
                    <a:pt x="12" y="215"/>
                  </a:lnTo>
                  <a:lnTo>
                    <a:pt x="12" y="223"/>
                  </a:lnTo>
                  <a:lnTo>
                    <a:pt x="12" y="223"/>
                  </a:lnTo>
                  <a:lnTo>
                    <a:pt x="12" y="232"/>
                  </a:lnTo>
                  <a:lnTo>
                    <a:pt x="15" y="239"/>
                  </a:lnTo>
                  <a:lnTo>
                    <a:pt x="19" y="246"/>
                  </a:lnTo>
                  <a:lnTo>
                    <a:pt x="23" y="251"/>
                  </a:lnTo>
                  <a:lnTo>
                    <a:pt x="29" y="257"/>
                  </a:lnTo>
                  <a:lnTo>
                    <a:pt x="36" y="261"/>
                  </a:lnTo>
                  <a:lnTo>
                    <a:pt x="44" y="263"/>
                  </a:lnTo>
                  <a:lnTo>
                    <a:pt x="51" y="264"/>
                  </a:lnTo>
                  <a:lnTo>
                    <a:pt x="51" y="26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/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D75B22F7-6B42-5355-1671-340C075DC1B2}"/>
              </a:ext>
            </a:extLst>
          </p:cNvPr>
          <p:cNvGrpSpPr/>
          <p:nvPr/>
        </p:nvGrpSpPr>
        <p:grpSpPr>
          <a:xfrm>
            <a:off x="3276899" y="2086766"/>
            <a:ext cx="187956" cy="187956"/>
            <a:chOff x="7123189" y="3530491"/>
            <a:chExt cx="201600" cy="201600"/>
          </a:xfrm>
        </p:grpSpPr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39836D29-354A-4560-74D2-ABCF869B6409}"/>
                </a:ext>
              </a:extLst>
            </p:cNvPr>
            <p:cNvSpPr/>
            <p:nvPr/>
          </p:nvSpPr>
          <p:spPr>
            <a:xfrm rot="16200000">
              <a:off x="7123189" y="3530491"/>
              <a:ext cx="201600" cy="201600"/>
            </a:xfrm>
            <a:prstGeom prst="ellipse">
              <a:avLst/>
            </a:prstGeom>
            <a:solidFill>
              <a:srgbClr val="FFFFFF"/>
            </a:solidFill>
            <a:ln w="12700">
              <a:noFill/>
              <a:prstDash val="solid"/>
              <a:round/>
              <a:headEnd/>
              <a:tailEnd/>
            </a:ln>
          </p:spPr>
          <p:txBody>
            <a:bodyPr vert="horz" wrap="square" lIns="91421" tIns="45711" rIns="91421" bIns="45711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2" name="Freeform 8">
              <a:extLst>
                <a:ext uri="{FF2B5EF4-FFF2-40B4-BE49-F238E27FC236}">
                  <a16:creationId xmlns:a16="http://schemas.microsoft.com/office/drawing/2014/main" id="{6EE324B3-505C-2CF4-2452-7F9F90C3C69D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7174300" y="3581603"/>
              <a:ext cx="99376" cy="99377"/>
            </a:xfrm>
            <a:custGeom>
              <a:avLst/>
              <a:gdLst>
                <a:gd name="T0" fmla="*/ 222 w 263"/>
                <a:gd name="T1" fmla="*/ 264 h 264"/>
                <a:gd name="T2" fmla="*/ 231 w 263"/>
                <a:gd name="T3" fmla="*/ 263 h 264"/>
                <a:gd name="T4" fmla="*/ 245 w 263"/>
                <a:gd name="T5" fmla="*/ 257 h 264"/>
                <a:gd name="T6" fmla="*/ 256 w 263"/>
                <a:gd name="T7" fmla="*/ 246 h 264"/>
                <a:gd name="T8" fmla="*/ 262 w 263"/>
                <a:gd name="T9" fmla="*/ 232 h 264"/>
                <a:gd name="T10" fmla="*/ 263 w 263"/>
                <a:gd name="T11" fmla="*/ 52 h 264"/>
                <a:gd name="T12" fmla="*/ 262 w 263"/>
                <a:gd name="T13" fmla="*/ 43 h 264"/>
                <a:gd name="T14" fmla="*/ 256 w 263"/>
                <a:gd name="T15" fmla="*/ 29 h 264"/>
                <a:gd name="T16" fmla="*/ 245 w 263"/>
                <a:gd name="T17" fmla="*/ 18 h 264"/>
                <a:gd name="T18" fmla="*/ 231 w 263"/>
                <a:gd name="T19" fmla="*/ 13 h 264"/>
                <a:gd name="T20" fmla="*/ 222 w 263"/>
                <a:gd name="T21" fmla="*/ 11 h 264"/>
                <a:gd name="T22" fmla="*/ 207 w 263"/>
                <a:gd name="T23" fmla="*/ 15 h 264"/>
                <a:gd name="T24" fmla="*/ 194 w 263"/>
                <a:gd name="T25" fmla="*/ 24 h 264"/>
                <a:gd name="T26" fmla="*/ 189 w 263"/>
                <a:gd name="T27" fmla="*/ 29 h 264"/>
                <a:gd name="T28" fmla="*/ 183 w 263"/>
                <a:gd name="T29" fmla="*/ 43 h 264"/>
                <a:gd name="T30" fmla="*/ 183 w 263"/>
                <a:gd name="T31" fmla="*/ 52 h 264"/>
                <a:gd name="T32" fmla="*/ 69 w 263"/>
                <a:gd name="T33" fmla="*/ 13 h 264"/>
                <a:gd name="T34" fmla="*/ 62 w 263"/>
                <a:gd name="T35" fmla="*/ 7 h 264"/>
                <a:gd name="T36" fmla="*/ 48 w 263"/>
                <a:gd name="T37" fmla="*/ 1 h 264"/>
                <a:gd name="T38" fmla="*/ 33 w 263"/>
                <a:gd name="T39" fmla="*/ 1 h 264"/>
                <a:gd name="T40" fmla="*/ 19 w 263"/>
                <a:gd name="T41" fmla="*/ 7 h 264"/>
                <a:gd name="T42" fmla="*/ 12 w 263"/>
                <a:gd name="T43" fmla="*/ 13 h 264"/>
                <a:gd name="T44" fmla="*/ 3 w 263"/>
                <a:gd name="T45" fmla="*/ 25 h 264"/>
                <a:gd name="T46" fmla="*/ 0 w 263"/>
                <a:gd name="T47" fmla="*/ 41 h 264"/>
                <a:gd name="T48" fmla="*/ 3 w 263"/>
                <a:gd name="T49" fmla="*/ 56 h 264"/>
                <a:gd name="T50" fmla="*/ 12 w 263"/>
                <a:gd name="T51" fmla="*/ 69 h 264"/>
                <a:gd name="T52" fmla="*/ 51 w 263"/>
                <a:gd name="T53" fmla="*/ 183 h 264"/>
                <a:gd name="T54" fmla="*/ 44 w 263"/>
                <a:gd name="T55" fmla="*/ 184 h 264"/>
                <a:gd name="T56" fmla="*/ 29 w 263"/>
                <a:gd name="T57" fmla="*/ 190 h 264"/>
                <a:gd name="T58" fmla="*/ 19 w 263"/>
                <a:gd name="T59" fmla="*/ 201 h 264"/>
                <a:gd name="T60" fmla="*/ 12 w 263"/>
                <a:gd name="T61" fmla="*/ 215 h 264"/>
                <a:gd name="T62" fmla="*/ 12 w 263"/>
                <a:gd name="T63" fmla="*/ 223 h 264"/>
                <a:gd name="T64" fmla="*/ 15 w 263"/>
                <a:gd name="T65" fmla="*/ 239 h 264"/>
                <a:gd name="T66" fmla="*/ 23 w 263"/>
                <a:gd name="T67" fmla="*/ 251 h 264"/>
                <a:gd name="T68" fmla="*/ 36 w 263"/>
                <a:gd name="T69" fmla="*/ 261 h 264"/>
                <a:gd name="T70" fmla="*/ 51 w 263"/>
                <a:gd name="T71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3" h="264">
                  <a:moveTo>
                    <a:pt x="51" y="264"/>
                  </a:moveTo>
                  <a:lnTo>
                    <a:pt x="222" y="264"/>
                  </a:lnTo>
                  <a:lnTo>
                    <a:pt x="222" y="264"/>
                  </a:lnTo>
                  <a:lnTo>
                    <a:pt x="231" y="263"/>
                  </a:lnTo>
                  <a:lnTo>
                    <a:pt x="238" y="261"/>
                  </a:lnTo>
                  <a:lnTo>
                    <a:pt x="245" y="257"/>
                  </a:lnTo>
                  <a:lnTo>
                    <a:pt x="252" y="251"/>
                  </a:lnTo>
                  <a:lnTo>
                    <a:pt x="256" y="246"/>
                  </a:lnTo>
                  <a:lnTo>
                    <a:pt x="260" y="239"/>
                  </a:lnTo>
                  <a:lnTo>
                    <a:pt x="262" y="232"/>
                  </a:lnTo>
                  <a:lnTo>
                    <a:pt x="263" y="223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2" y="43"/>
                  </a:lnTo>
                  <a:lnTo>
                    <a:pt x="260" y="36"/>
                  </a:lnTo>
                  <a:lnTo>
                    <a:pt x="256" y="29"/>
                  </a:lnTo>
                  <a:lnTo>
                    <a:pt x="252" y="24"/>
                  </a:lnTo>
                  <a:lnTo>
                    <a:pt x="245" y="18"/>
                  </a:lnTo>
                  <a:lnTo>
                    <a:pt x="238" y="15"/>
                  </a:lnTo>
                  <a:lnTo>
                    <a:pt x="231" y="13"/>
                  </a:lnTo>
                  <a:lnTo>
                    <a:pt x="222" y="11"/>
                  </a:lnTo>
                  <a:lnTo>
                    <a:pt x="222" y="11"/>
                  </a:lnTo>
                  <a:lnTo>
                    <a:pt x="214" y="13"/>
                  </a:lnTo>
                  <a:lnTo>
                    <a:pt x="207" y="15"/>
                  </a:lnTo>
                  <a:lnTo>
                    <a:pt x="200" y="18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89" y="29"/>
                  </a:lnTo>
                  <a:lnTo>
                    <a:pt x="186" y="36"/>
                  </a:lnTo>
                  <a:lnTo>
                    <a:pt x="183" y="43"/>
                  </a:lnTo>
                  <a:lnTo>
                    <a:pt x="183" y="52"/>
                  </a:lnTo>
                  <a:lnTo>
                    <a:pt x="183" y="52"/>
                  </a:lnTo>
                  <a:lnTo>
                    <a:pt x="183" y="126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2" y="7"/>
                  </a:lnTo>
                  <a:lnTo>
                    <a:pt x="55" y="3"/>
                  </a:lnTo>
                  <a:lnTo>
                    <a:pt x="48" y="1"/>
                  </a:lnTo>
                  <a:lnTo>
                    <a:pt x="40" y="0"/>
                  </a:lnTo>
                  <a:lnTo>
                    <a:pt x="33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5"/>
                  </a:lnTo>
                  <a:lnTo>
                    <a:pt x="0" y="34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3" y="56"/>
                  </a:lnTo>
                  <a:lnTo>
                    <a:pt x="6" y="63"/>
                  </a:lnTo>
                  <a:lnTo>
                    <a:pt x="12" y="69"/>
                  </a:lnTo>
                  <a:lnTo>
                    <a:pt x="126" y="183"/>
                  </a:lnTo>
                  <a:lnTo>
                    <a:pt x="51" y="183"/>
                  </a:lnTo>
                  <a:lnTo>
                    <a:pt x="51" y="183"/>
                  </a:lnTo>
                  <a:lnTo>
                    <a:pt x="44" y="184"/>
                  </a:lnTo>
                  <a:lnTo>
                    <a:pt x="36" y="185"/>
                  </a:lnTo>
                  <a:lnTo>
                    <a:pt x="29" y="190"/>
                  </a:lnTo>
                  <a:lnTo>
                    <a:pt x="23" y="195"/>
                  </a:lnTo>
                  <a:lnTo>
                    <a:pt x="19" y="201"/>
                  </a:lnTo>
                  <a:lnTo>
                    <a:pt x="15" y="208"/>
                  </a:lnTo>
                  <a:lnTo>
                    <a:pt x="12" y="215"/>
                  </a:lnTo>
                  <a:lnTo>
                    <a:pt x="12" y="223"/>
                  </a:lnTo>
                  <a:lnTo>
                    <a:pt x="12" y="223"/>
                  </a:lnTo>
                  <a:lnTo>
                    <a:pt x="12" y="232"/>
                  </a:lnTo>
                  <a:lnTo>
                    <a:pt x="15" y="239"/>
                  </a:lnTo>
                  <a:lnTo>
                    <a:pt x="19" y="246"/>
                  </a:lnTo>
                  <a:lnTo>
                    <a:pt x="23" y="251"/>
                  </a:lnTo>
                  <a:lnTo>
                    <a:pt x="29" y="257"/>
                  </a:lnTo>
                  <a:lnTo>
                    <a:pt x="36" y="261"/>
                  </a:lnTo>
                  <a:lnTo>
                    <a:pt x="44" y="263"/>
                  </a:lnTo>
                  <a:lnTo>
                    <a:pt x="51" y="264"/>
                  </a:lnTo>
                  <a:lnTo>
                    <a:pt x="51" y="26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/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DAFAA86E-5CC5-5121-4B37-5126C6944E5F}"/>
              </a:ext>
            </a:extLst>
          </p:cNvPr>
          <p:cNvGrpSpPr/>
          <p:nvPr/>
        </p:nvGrpSpPr>
        <p:grpSpPr>
          <a:xfrm>
            <a:off x="4765044" y="2095005"/>
            <a:ext cx="187956" cy="187956"/>
            <a:chOff x="7123189" y="3530491"/>
            <a:chExt cx="201600" cy="201600"/>
          </a:xfrm>
        </p:grpSpPr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C9E92041-E82D-5253-AA82-B649B4D589EE}"/>
                </a:ext>
              </a:extLst>
            </p:cNvPr>
            <p:cNvSpPr/>
            <p:nvPr/>
          </p:nvSpPr>
          <p:spPr>
            <a:xfrm rot="16200000">
              <a:off x="7123189" y="3530491"/>
              <a:ext cx="201600" cy="201600"/>
            </a:xfrm>
            <a:prstGeom prst="ellipse">
              <a:avLst/>
            </a:prstGeom>
            <a:solidFill>
              <a:srgbClr val="FFFFFF"/>
            </a:solidFill>
            <a:ln w="12700">
              <a:noFill/>
              <a:prstDash val="solid"/>
              <a:round/>
              <a:headEnd/>
              <a:tailEnd/>
            </a:ln>
          </p:spPr>
          <p:txBody>
            <a:bodyPr vert="horz" wrap="square" lIns="91421" tIns="45711" rIns="91421" bIns="45711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5" name="Freeform 8">
              <a:extLst>
                <a:ext uri="{FF2B5EF4-FFF2-40B4-BE49-F238E27FC236}">
                  <a16:creationId xmlns:a16="http://schemas.microsoft.com/office/drawing/2014/main" id="{5FD25638-EE48-E1F3-AD83-D34416D045A1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7174300" y="3581603"/>
              <a:ext cx="99376" cy="99377"/>
            </a:xfrm>
            <a:custGeom>
              <a:avLst/>
              <a:gdLst>
                <a:gd name="T0" fmla="*/ 222 w 263"/>
                <a:gd name="T1" fmla="*/ 264 h 264"/>
                <a:gd name="T2" fmla="*/ 231 w 263"/>
                <a:gd name="T3" fmla="*/ 263 h 264"/>
                <a:gd name="T4" fmla="*/ 245 w 263"/>
                <a:gd name="T5" fmla="*/ 257 h 264"/>
                <a:gd name="T6" fmla="*/ 256 w 263"/>
                <a:gd name="T7" fmla="*/ 246 h 264"/>
                <a:gd name="T8" fmla="*/ 262 w 263"/>
                <a:gd name="T9" fmla="*/ 232 h 264"/>
                <a:gd name="T10" fmla="*/ 263 w 263"/>
                <a:gd name="T11" fmla="*/ 52 h 264"/>
                <a:gd name="T12" fmla="*/ 262 w 263"/>
                <a:gd name="T13" fmla="*/ 43 h 264"/>
                <a:gd name="T14" fmla="*/ 256 w 263"/>
                <a:gd name="T15" fmla="*/ 29 h 264"/>
                <a:gd name="T16" fmla="*/ 245 w 263"/>
                <a:gd name="T17" fmla="*/ 18 h 264"/>
                <a:gd name="T18" fmla="*/ 231 w 263"/>
                <a:gd name="T19" fmla="*/ 13 h 264"/>
                <a:gd name="T20" fmla="*/ 222 w 263"/>
                <a:gd name="T21" fmla="*/ 11 h 264"/>
                <a:gd name="T22" fmla="*/ 207 w 263"/>
                <a:gd name="T23" fmla="*/ 15 h 264"/>
                <a:gd name="T24" fmla="*/ 194 w 263"/>
                <a:gd name="T25" fmla="*/ 24 h 264"/>
                <a:gd name="T26" fmla="*/ 189 w 263"/>
                <a:gd name="T27" fmla="*/ 29 h 264"/>
                <a:gd name="T28" fmla="*/ 183 w 263"/>
                <a:gd name="T29" fmla="*/ 43 h 264"/>
                <a:gd name="T30" fmla="*/ 183 w 263"/>
                <a:gd name="T31" fmla="*/ 52 h 264"/>
                <a:gd name="T32" fmla="*/ 69 w 263"/>
                <a:gd name="T33" fmla="*/ 13 h 264"/>
                <a:gd name="T34" fmla="*/ 62 w 263"/>
                <a:gd name="T35" fmla="*/ 7 h 264"/>
                <a:gd name="T36" fmla="*/ 48 w 263"/>
                <a:gd name="T37" fmla="*/ 1 h 264"/>
                <a:gd name="T38" fmla="*/ 33 w 263"/>
                <a:gd name="T39" fmla="*/ 1 h 264"/>
                <a:gd name="T40" fmla="*/ 19 w 263"/>
                <a:gd name="T41" fmla="*/ 7 h 264"/>
                <a:gd name="T42" fmla="*/ 12 w 263"/>
                <a:gd name="T43" fmla="*/ 13 h 264"/>
                <a:gd name="T44" fmla="*/ 3 w 263"/>
                <a:gd name="T45" fmla="*/ 25 h 264"/>
                <a:gd name="T46" fmla="*/ 0 w 263"/>
                <a:gd name="T47" fmla="*/ 41 h 264"/>
                <a:gd name="T48" fmla="*/ 3 w 263"/>
                <a:gd name="T49" fmla="*/ 56 h 264"/>
                <a:gd name="T50" fmla="*/ 12 w 263"/>
                <a:gd name="T51" fmla="*/ 69 h 264"/>
                <a:gd name="T52" fmla="*/ 51 w 263"/>
                <a:gd name="T53" fmla="*/ 183 h 264"/>
                <a:gd name="T54" fmla="*/ 44 w 263"/>
                <a:gd name="T55" fmla="*/ 184 h 264"/>
                <a:gd name="T56" fmla="*/ 29 w 263"/>
                <a:gd name="T57" fmla="*/ 190 h 264"/>
                <a:gd name="T58" fmla="*/ 19 w 263"/>
                <a:gd name="T59" fmla="*/ 201 h 264"/>
                <a:gd name="T60" fmla="*/ 12 w 263"/>
                <a:gd name="T61" fmla="*/ 215 h 264"/>
                <a:gd name="T62" fmla="*/ 12 w 263"/>
                <a:gd name="T63" fmla="*/ 223 h 264"/>
                <a:gd name="T64" fmla="*/ 15 w 263"/>
                <a:gd name="T65" fmla="*/ 239 h 264"/>
                <a:gd name="T66" fmla="*/ 23 w 263"/>
                <a:gd name="T67" fmla="*/ 251 h 264"/>
                <a:gd name="T68" fmla="*/ 36 w 263"/>
                <a:gd name="T69" fmla="*/ 261 h 264"/>
                <a:gd name="T70" fmla="*/ 51 w 263"/>
                <a:gd name="T71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3" h="264">
                  <a:moveTo>
                    <a:pt x="51" y="264"/>
                  </a:moveTo>
                  <a:lnTo>
                    <a:pt x="222" y="264"/>
                  </a:lnTo>
                  <a:lnTo>
                    <a:pt x="222" y="264"/>
                  </a:lnTo>
                  <a:lnTo>
                    <a:pt x="231" y="263"/>
                  </a:lnTo>
                  <a:lnTo>
                    <a:pt x="238" y="261"/>
                  </a:lnTo>
                  <a:lnTo>
                    <a:pt x="245" y="257"/>
                  </a:lnTo>
                  <a:lnTo>
                    <a:pt x="252" y="251"/>
                  </a:lnTo>
                  <a:lnTo>
                    <a:pt x="256" y="246"/>
                  </a:lnTo>
                  <a:lnTo>
                    <a:pt x="260" y="239"/>
                  </a:lnTo>
                  <a:lnTo>
                    <a:pt x="262" y="232"/>
                  </a:lnTo>
                  <a:lnTo>
                    <a:pt x="263" y="223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2" y="43"/>
                  </a:lnTo>
                  <a:lnTo>
                    <a:pt x="260" y="36"/>
                  </a:lnTo>
                  <a:lnTo>
                    <a:pt x="256" y="29"/>
                  </a:lnTo>
                  <a:lnTo>
                    <a:pt x="252" y="24"/>
                  </a:lnTo>
                  <a:lnTo>
                    <a:pt x="245" y="18"/>
                  </a:lnTo>
                  <a:lnTo>
                    <a:pt x="238" y="15"/>
                  </a:lnTo>
                  <a:lnTo>
                    <a:pt x="231" y="13"/>
                  </a:lnTo>
                  <a:lnTo>
                    <a:pt x="222" y="11"/>
                  </a:lnTo>
                  <a:lnTo>
                    <a:pt x="222" y="11"/>
                  </a:lnTo>
                  <a:lnTo>
                    <a:pt x="214" y="13"/>
                  </a:lnTo>
                  <a:lnTo>
                    <a:pt x="207" y="15"/>
                  </a:lnTo>
                  <a:lnTo>
                    <a:pt x="200" y="18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89" y="29"/>
                  </a:lnTo>
                  <a:lnTo>
                    <a:pt x="186" y="36"/>
                  </a:lnTo>
                  <a:lnTo>
                    <a:pt x="183" y="43"/>
                  </a:lnTo>
                  <a:lnTo>
                    <a:pt x="183" y="52"/>
                  </a:lnTo>
                  <a:lnTo>
                    <a:pt x="183" y="52"/>
                  </a:lnTo>
                  <a:lnTo>
                    <a:pt x="183" y="126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2" y="7"/>
                  </a:lnTo>
                  <a:lnTo>
                    <a:pt x="55" y="3"/>
                  </a:lnTo>
                  <a:lnTo>
                    <a:pt x="48" y="1"/>
                  </a:lnTo>
                  <a:lnTo>
                    <a:pt x="40" y="0"/>
                  </a:lnTo>
                  <a:lnTo>
                    <a:pt x="33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5"/>
                  </a:lnTo>
                  <a:lnTo>
                    <a:pt x="0" y="34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3" y="56"/>
                  </a:lnTo>
                  <a:lnTo>
                    <a:pt x="6" y="63"/>
                  </a:lnTo>
                  <a:lnTo>
                    <a:pt x="12" y="69"/>
                  </a:lnTo>
                  <a:lnTo>
                    <a:pt x="126" y="183"/>
                  </a:lnTo>
                  <a:lnTo>
                    <a:pt x="51" y="183"/>
                  </a:lnTo>
                  <a:lnTo>
                    <a:pt x="51" y="183"/>
                  </a:lnTo>
                  <a:lnTo>
                    <a:pt x="44" y="184"/>
                  </a:lnTo>
                  <a:lnTo>
                    <a:pt x="36" y="185"/>
                  </a:lnTo>
                  <a:lnTo>
                    <a:pt x="29" y="190"/>
                  </a:lnTo>
                  <a:lnTo>
                    <a:pt x="23" y="195"/>
                  </a:lnTo>
                  <a:lnTo>
                    <a:pt x="19" y="201"/>
                  </a:lnTo>
                  <a:lnTo>
                    <a:pt x="15" y="208"/>
                  </a:lnTo>
                  <a:lnTo>
                    <a:pt x="12" y="215"/>
                  </a:lnTo>
                  <a:lnTo>
                    <a:pt x="12" y="223"/>
                  </a:lnTo>
                  <a:lnTo>
                    <a:pt x="12" y="223"/>
                  </a:lnTo>
                  <a:lnTo>
                    <a:pt x="12" y="232"/>
                  </a:lnTo>
                  <a:lnTo>
                    <a:pt x="15" y="239"/>
                  </a:lnTo>
                  <a:lnTo>
                    <a:pt x="19" y="246"/>
                  </a:lnTo>
                  <a:lnTo>
                    <a:pt x="23" y="251"/>
                  </a:lnTo>
                  <a:lnTo>
                    <a:pt x="29" y="257"/>
                  </a:lnTo>
                  <a:lnTo>
                    <a:pt x="36" y="261"/>
                  </a:lnTo>
                  <a:lnTo>
                    <a:pt x="44" y="263"/>
                  </a:lnTo>
                  <a:lnTo>
                    <a:pt x="51" y="264"/>
                  </a:lnTo>
                  <a:lnTo>
                    <a:pt x="51" y="26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/>
            </a:p>
          </p:txBody>
        </p:sp>
      </p:grpSp>
      <p:sp>
        <p:nvSpPr>
          <p:cNvPr id="147" name="Rectangle 25">
            <a:extLst>
              <a:ext uri="{FF2B5EF4-FFF2-40B4-BE49-F238E27FC236}">
                <a16:creationId xmlns:a16="http://schemas.microsoft.com/office/drawing/2014/main" id="{C9BC42C9-8FDB-A794-4167-8E2454BDE00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31110" y="2371723"/>
            <a:ext cx="1426657" cy="73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로그 유형별 포맷 변환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공통 데이터 구조로 정규화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문자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인코딩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통일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전송 대상 필드 선별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48" name="Rectangle 25">
            <a:extLst>
              <a:ext uri="{FF2B5EF4-FFF2-40B4-BE49-F238E27FC236}">
                <a16:creationId xmlns:a16="http://schemas.microsoft.com/office/drawing/2014/main" id="{1AA4B3D6-298D-8393-E0A7-6AECA62C25F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0418" y="2363909"/>
            <a:ext cx="1468406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다수 로그의 배치 단위 전송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압축을 통한 네트워크 사용량 절감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전송 주기와 배치 크기 조절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49" name="Rectangle 25">
            <a:extLst>
              <a:ext uri="{FF2B5EF4-FFF2-40B4-BE49-F238E27FC236}">
                <a16:creationId xmlns:a16="http://schemas.microsoft.com/office/drawing/2014/main" id="{198DEF5A-1D34-E62D-EB2A-7F423CDCB43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11475" y="2363909"/>
            <a:ext cx="1426657" cy="73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TLS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기반 전송구간 암호화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송신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수신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시스템 간 인증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허가된 전송 경로만 연결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인증서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암호화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정책 관리</a:t>
            </a:r>
          </a:p>
        </p:txBody>
      </p:sp>
      <p:sp>
        <p:nvSpPr>
          <p:cNvPr id="150" name="Rectangle 25">
            <a:extLst>
              <a:ext uri="{FF2B5EF4-FFF2-40B4-BE49-F238E27FC236}">
                <a16:creationId xmlns:a16="http://schemas.microsoft.com/office/drawing/2014/main" id="{587DAD3D-9CC3-4574-4DD4-98ED022F96F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916697" y="2363909"/>
            <a:ext cx="1426657" cy="73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Kafka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기반 중앙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버퍼링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토픽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파티션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병렬 처리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장애 시 로그 임시 보관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전송 실패 시 재시도</a:t>
            </a: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04F10755-A801-D325-3A93-F975123555F4}"/>
              </a:ext>
            </a:extLst>
          </p:cNvPr>
          <p:cNvGrpSpPr/>
          <p:nvPr/>
        </p:nvGrpSpPr>
        <p:grpSpPr>
          <a:xfrm>
            <a:off x="415925" y="3645024"/>
            <a:ext cx="5927429" cy="329184"/>
            <a:chOff x="548640" y="4389120"/>
            <a:chExt cx="7178040" cy="329184"/>
          </a:xfrm>
        </p:grpSpPr>
        <p:sp>
          <p:nvSpPr>
            <p:cNvPr id="155" name="Shape 80">
              <a:extLst>
                <a:ext uri="{FF2B5EF4-FFF2-40B4-BE49-F238E27FC236}">
                  <a16:creationId xmlns:a16="http://schemas.microsoft.com/office/drawing/2014/main" id="{C77CB241-F201-C95C-6661-2A7154BC623C}"/>
                </a:ext>
              </a:extLst>
            </p:cNvPr>
            <p:cNvSpPr/>
            <p:nvPr/>
          </p:nvSpPr>
          <p:spPr>
            <a:xfrm>
              <a:off x="548640" y="4389120"/>
              <a:ext cx="1554480" cy="329184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56" name="Text 81">
              <a:extLst>
                <a:ext uri="{FF2B5EF4-FFF2-40B4-BE49-F238E27FC236}">
                  <a16:creationId xmlns:a16="http://schemas.microsoft.com/office/drawing/2014/main" id="{E2ECD898-CB7B-4D54-DB37-78430E842E1C}"/>
                </a:ext>
              </a:extLst>
            </p:cNvPr>
            <p:cNvSpPr/>
            <p:nvPr/>
          </p:nvSpPr>
          <p:spPr>
            <a:xfrm>
              <a:off x="548640" y="4389120"/>
              <a:ext cx="155448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71C3A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Elastic Agent /</a:t>
              </a:r>
              <a:endParaRPr lang="en-US" sz="8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850" b="1" dirty="0">
                  <a:solidFill>
                    <a:srgbClr val="071C3A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Logstash</a:t>
              </a:r>
              <a:endParaRPr lang="en-US" sz="8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57" name="Shape 82">
              <a:extLst>
                <a:ext uri="{FF2B5EF4-FFF2-40B4-BE49-F238E27FC236}">
                  <a16:creationId xmlns:a16="http://schemas.microsoft.com/office/drawing/2014/main" id="{F4AED8C1-F62C-F4F8-E41A-17B8CB50C43E}"/>
                </a:ext>
              </a:extLst>
            </p:cNvPr>
            <p:cNvSpPr/>
            <p:nvPr/>
          </p:nvSpPr>
          <p:spPr>
            <a:xfrm>
              <a:off x="2139696" y="4553712"/>
              <a:ext cx="192024" cy="0"/>
            </a:xfrm>
            <a:prstGeom prst="line">
              <a:avLst/>
            </a:prstGeom>
            <a:noFill/>
            <a:ln w="15875">
              <a:solidFill>
                <a:srgbClr val="1E63B8"/>
              </a:solidFill>
              <a:prstDash val="dash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58" name="Shape 83">
              <a:extLst>
                <a:ext uri="{FF2B5EF4-FFF2-40B4-BE49-F238E27FC236}">
                  <a16:creationId xmlns:a16="http://schemas.microsoft.com/office/drawing/2014/main" id="{2563722D-BE3E-2C85-DD86-676C0F39FD5D}"/>
                </a:ext>
              </a:extLst>
            </p:cNvPr>
            <p:cNvSpPr/>
            <p:nvPr/>
          </p:nvSpPr>
          <p:spPr>
            <a:xfrm rot="5400000">
              <a:off x="2295144" y="4498848"/>
              <a:ext cx="109728" cy="109728"/>
            </a:xfrm>
            <a:prstGeom prst="triangle">
              <a:avLst/>
            </a:prstGeom>
            <a:solidFill>
              <a:srgbClr val="1E63B8"/>
            </a:solidFill>
            <a:ln/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59" name="Shape 84">
              <a:extLst>
                <a:ext uri="{FF2B5EF4-FFF2-40B4-BE49-F238E27FC236}">
                  <a16:creationId xmlns:a16="http://schemas.microsoft.com/office/drawing/2014/main" id="{2E46CA53-7617-A335-A7B0-88A01F3D8830}"/>
                </a:ext>
              </a:extLst>
            </p:cNvPr>
            <p:cNvSpPr/>
            <p:nvPr/>
          </p:nvSpPr>
          <p:spPr>
            <a:xfrm>
              <a:off x="2423160" y="4389120"/>
              <a:ext cx="1554480" cy="329184"/>
            </a:xfrm>
            <a:prstGeom prst="roundRect">
              <a:avLst>
                <a:gd name="adj" fmla="val 11111"/>
              </a:avLst>
            </a:prstGeom>
            <a:solidFill>
              <a:srgbClr val="F0F6FF"/>
            </a:solidFill>
            <a:ln w="15875">
              <a:solidFill>
                <a:srgbClr val="1E63B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0" name="Text 85">
              <a:extLst>
                <a:ext uri="{FF2B5EF4-FFF2-40B4-BE49-F238E27FC236}">
                  <a16:creationId xmlns:a16="http://schemas.microsoft.com/office/drawing/2014/main" id="{D5EF6DA7-B73B-5191-0EE8-52E1B07A2E59}"/>
                </a:ext>
              </a:extLst>
            </p:cNvPr>
            <p:cNvSpPr/>
            <p:nvPr/>
          </p:nvSpPr>
          <p:spPr>
            <a:xfrm>
              <a:off x="2423160" y="4389120"/>
              <a:ext cx="155448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B2A52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Kafka</a:t>
              </a:r>
              <a:endParaRPr lang="en-US" sz="8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850" b="1" dirty="0">
                  <a:solidFill>
                    <a:srgbClr val="0B2A52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Topic·Partition</a:t>
              </a:r>
              <a:endParaRPr lang="en-US" sz="8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1" name="Shape 86">
              <a:extLst>
                <a:ext uri="{FF2B5EF4-FFF2-40B4-BE49-F238E27FC236}">
                  <a16:creationId xmlns:a16="http://schemas.microsoft.com/office/drawing/2014/main" id="{A350FA55-0E04-515B-0237-2DE3A8456B7E}"/>
                </a:ext>
              </a:extLst>
            </p:cNvPr>
            <p:cNvSpPr/>
            <p:nvPr/>
          </p:nvSpPr>
          <p:spPr>
            <a:xfrm>
              <a:off x="4014216" y="4553712"/>
              <a:ext cx="192024" cy="0"/>
            </a:xfrm>
            <a:prstGeom prst="line">
              <a:avLst/>
            </a:prstGeom>
            <a:noFill/>
            <a:ln w="15875">
              <a:solidFill>
                <a:srgbClr val="1E63B8"/>
              </a:solidFill>
              <a:prstDash val="dash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2" name="Shape 87">
              <a:extLst>
                <a:ext uri="{FF2B5EF4-FFF2-40B4-BE49-F238E27FC236}">
                  <a16:creationId xmlns:a16="http://schemas.microsoft.com/office/drawing/2014/main" id="{6EBE0085-04B9-35EB-8113-FF28C5B2A1B7}"/>
                </a:ext>
              </a:extLst>
            </p:cNvPr>
            <p:cNvSpPr/>
            <p:nvPr/>
          </p:nvSpPr>
          <p:spPr>
            <a:xfrm rot="5400000">
              <a:off x="4169664" y="4498848"/>
              <a:ext cx="109728" cy="109728"/>
            </a:xfrm>
            <a:prstGeom prst="triangle">
              <a:avLst/>
            </a:prstGeom>
            <a:solidFill>
              <a:srgbClr val="1E63B8"/>
            </a:solidFill>
            <a:ln/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3" name="Shape 88">
              <a:extLst>
                <a:ext uri="{FF2B5EF4-FFF2-40B4-BE49-F238E27FC236}">
                  <a16:creationId xmlns:a16="http://schemas.microsoft.com/office/drawing/2014/main" id="{A131EEAF-7913-584B-45B0-4D75DCCF3B9F}"/>
                </a:ext>
              </a:extLst>
            </p:cNvPr>
            <p:cNvSpPr/>
            <p:nvPr/>
          </p:nvSpPr>
          <p:spPr>
            <a:xfrm>
              <a:off x="4297680" y="4389120"/>
              <a:ext cx="1554480" cy="329184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4" name="Text 89">
              <a:extLst>
                <a:ext uri="{FF2B5EF4-FFF2-40B4-BE49-F238E27FC236}">
                  <a16:creationId xmlns:a16="http://schemas.microsoft.com/office/drawing/2014/main" id="{5696F92B-94EA-B42D-E77B-E0B6A5F86E31}"/>
                </a:ext>
              </a:extLst>
            </p:cNvPr>
            <p:cNvSpPr/>
            <p:nvPr/>
          </p:nvSpPr>
          <p:spPr>
            <a:xfrm>
              <a:off x="4297680" y="4389120"/>
              <a:ext cx="155448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71C3A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Logstash</a:t>
              </a:r>
              <a:endParaRPr lang="en-US" sz="8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5" name="Shape 90">
              <a:extLst>
                <a:ext uri="{FF2B5EF4-FFF2-40B4-BE49-F238E27FC236}">
                  <a16:creationId xmlns:a16="http://schemas.microsoft.com/office/drawing/2014/main" id="{7E9873C5-4400-F0C0-E4AE-BF1955998501}"/>
                </a:ext>
              </a:extLst>
            </p:cNvPr>
            <p:cNvSpPr/>
            <p:nvPr/>
          </p:nvSpPr>
          <p:spPr>
            <a:xfrm>
              <a:off x="5888736" y="4553712"/>
              <a:ext cx="192024" cy="0"/>
            </a:xfrm>
            <a:prstGeom prst="line">
              <a:avLst/>
            </a:prstGeom>
            <a:noFill/>
            <a:ln w="15875">
              <a:solidFill>
                <a:srgbClr val="1E63B8"/>
              </a:solidFill>
              <a:prstDash val="dash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6" name="Shape 91">
              <a:extLst>
                <a:ext uri="{FF2B5EF4-FFF2-40B4-BE49-F238E27FC236}">
                  <a16:creationId xmlns:a16="http://schemas.microsoft.com/office/drawing/2014/main" id="{00ED83D4-986F-6ABA-6566-BD530AD8CAB5}"/>
                </a:ext>
              </a:extLst>
            </p:cNvPr>
            <p:cNvSpPr/>
            <p:nvPr/>
          </p:nvSpPr>
          <p:spPr>
            <a:xfrm rot="5400000">
              <a:off x="6044184" y="4498848"/>
              <a:ext cx="109728" cy="109728"/>
            </a:xfrm>
            <a:prstGeom prst="triangle">
              <a:avLst/>
            </a:prstGeom>
            <a:solidFill>
              <a:srgbClr val="1E63B8"/>
            </a:solidFill>
            <a:ln/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7" name="Shape 92">
              <a:extLst>
                <a:ext uri="{FF2B5EF4-FFF2-40B4-BE49-F238E27FC236}">
                  <a16:creationId xmlns:a16="http://schemas.microsoft.com/office/drawing/2014/main" id="{0A5B8743-1915-5AFA-FB5F-30C3246EF2A9}"/>
                </a:ext>
              </a:extLst>
            </p:cNvPr>
            <p:cNvSpPr/>
            <p:nvPr/>
          </p:nvSpPr>
          <p:spPr>
            <a:xfrm>
              <a:off x="6172200" y="4389120"/>
              <a:ext cx="1554480" cy="329184"/>
            </a:xfrm>
            <a:prstGeom prst="roundRect">
              <a:avLst>
                <a:gd name="adj" fmla="val 11111"/>
              </a:avLst>
            </a:prstGeom>
            <a:solidFill>
              <a:srgbClr val="0B2A52"/>
            </a:solidFill>
            <a:ln/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8" name="Text 93">
              <a:extLst>
                <a:ext uri="{FF2B5EF4-FFF2-40B4-BE49-F238E27FC236}">
                  <a16:creationId xmlns:a16="http://schemas.microsoft.com/office/drawing/2014/main" id="{7E60E8C3-E7E3-8FEB-F0B2-D3DD132BA426}"/>
                </a:ext>
              </a:extLst>
            </p:cNvPr>
            <p:cNvSpPr/>
            <p:nvPr/>
          </p:nvSpPr>
          <p:spPr>
            <a:xfrm>
              <a:off x="6172200" y="4389120"/>
              <a:ext cx="155448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Elasticsearch</a:t>
              </a:r>
              <a:endParaRPr lang="en-US" sz="8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2488A19F-DCA7-9F93-EC62-252D3BD02923}"/>
              </a:ext>
            </a:extLst>
          </p:cNvPr>
          <p:cNvGrpSpPr/>
          <p:nvPr/>
        </p:nvGrpSpPr>
        <p:grpSpPr>
          <a:xfrm>
            <a:off x="426159" y="4184625"/>
            <a:ext cx="5895266" cy="1961314"/>
            <a:chOff x="-545065" y="4580299"/>
            <a:chExt cx="6773268" cy="1623844"/>
          </a:xfrm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B18F53EB-D003-B2C7-0928-D366605EA334}"/>
                </a:ext>
              </a:extLst>
            </p:cNvPr>
            <p:cNvSpPr/>
            <p:nvPr/>
          </p:nvSpPr>
          <p:spPr>
            <a:xfrm>
              <a:off x="-539509" y="4793604"/>
              <a:ext cx="2166833" cy="1410539"/>
            </a:xfrm>
            <a:prstGeom prst="rect">
              <a:avLst/>
            </a:prstGeom>
            <a:solidFill>
              <a:srgbClr val="EFF4FF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1" name="AutoShape 227">
              <a:extLst>
                <a:ext uri="{FF2B5EF4-FFF2-40B4-BE49-F238E27FC236}">
                  <a16:creationId xmlns:a16="http://schemas.microsoft.com/office/drawing/2014/main" id="{15B7D670-D3EA-F93D-3AE4-8599817C6BB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-346107" y="4619383"/>
              <a:ext cx="1781444" cy="14015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en-US" altLang="ko-KR" sz="1100" spc="-20">
                  <a:solidFill>
                    <a:srgbClr val="02095A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Topic</a:t>
              </a:r>
              <a:r>
                <a:rPr lang="ko-KR" altLang="en-US" sz="1100" spc="-20" dirty="0">
                  <a:solidFill>
                    <a:srgbClr val="02095A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 설계</a:t>
              </a:r>
            </a:p>
          </p:txBody>
        </p: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4566669F-6731-5FB0-6A6E-500FDC641F02}"/>
                </a:ext>
              </a:extLst>
            </p:cNvPr>
            <p:cNvCxnSpPr/>
            <p:nvPr/>
          </p:nvCxnSpPr>
          <p:spPr>
            <a:xfrm>
              <a:off x="-545065" y="4580299"/>
              <a:ext cx="2177945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52BE6131-023E-C6D9-44DC-FA9EE12D7037}"/>
                </a:ext>
              </a:extLst>
            </p:cNvPr>
            <p:cNvSpPr txBox="1"/>
            <p:nvPr/>
          </p:nvSpPr>
          <p:spPr>
            <a:xfrm>
              <a:off x="-416359" y="4848960"/>
              <a:ext cx="2043683" cy="1172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marL="88900" indent="-88900" fontAlgn="base" latinLnBrk="0">
                <a:lnSpc>
                  <a:spcPct val="110000"/>
                </a:lnSpc>
                <a:spcBef>
                  <a:spcPts val="1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  <a:defRPr sz="1000" spc="-20">
                  <a:ln>
                    <a:solidFill>
                      <a:srgbClr val="C4266A">
                        <a:alpha val="0"/>
                      </a:srgb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defRPr>
              </a:lvl1pPr>
            </a:lstStyle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업무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시스템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로그 유형별 토픽 분리</a:t>
              </a:r>
            </a:p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중요도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처리 우선순위 기반 구성</a:t>
              </a:r>
            </a:p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일반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/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오류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장애 로그 경로 분리</a:t>
              </a:r>
            </a:p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보존기간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재처리 정책 반영</a:t>
              </a:r>
              <a:endParaRPr lang="en-US" altLang="ko-KR" spc="-1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211138" lvl="1" indent="-115888" fontAlgn="base" latinLnBrk="0">
                <a:spcBef>
                  <a:spcPts val="300"/>
                </a:spcBef>
                <a:buFont typeface="KoPub돋움체 Light" panose="00000300000000000000" pitchFamily="2" charset="-127"/>
                <a:buChar char="–"/>
                <a:tabLst>
                  <a:tab pos="5648002" algn="l"/>
                </a:tabLst>
              </a:pPr>
              <a:r>
                <a:rPr lang="en-US" altLang="ko-KR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account.core.log</a:t>
              </a:r>
            </a:p>
            <a:p>
              <a:pPr marL="211138" lvl="1" indent="-115888" fontAlgn="base" latinLnBrk="0">
                <a:spcBef>
                  <a:spcPts val="300"/>
                </a:spcBef>
                <a:buFont typeface="KoPub돋움체 Light" panose="00000300000000000000" pitchFamily="2" charset="-127"/>
                <a:buChar char="–"/>
                <a:tabLst>
                  <a:tab pos="5648002" algn="l"/>
                </a:tabLst>
              </a:pPr>
              <a:r>
                <a:rPr lang="en-US" altLang="ko-KR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channel.interface.log</a:t>
              </a:r>
            </a:p>
            <a:p>
              <a:pPr marL="211138" lvl="1" indent="-115888" fontAlgn="base" latinLnBrk="0">
                <a:spcBef>
                  <a:spcPts val="300"/>
                </a:spcBef>
                <a:buFont typeface="KoPub돋움체 Light" panose="00000300000000000000" pitchFamily="2" charset="-127"/>
                <a:buChar char="–"/>
                <a:tabLst>
                  <a:tab pos="5648002" algn="l"/>
                </a:tabLst>
              </a:pPr>
              <a:r>
                <a:rPr lang="en-US" altLang="ko-KR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error.log · audit.log</a:t>
              </a:r>
              <a:endParaRPr lang="ko-KR" altLang="en-US" sz="90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F180EA18-6BD4-5B37-8519-8B56EE3D3862}"/>
                </a:ext>
              </a:extLst>
            </p:cNvPr>
            <p:cNvSpPr/>
            <p:nvPr/>
          </p:nvSpPr>
          <p:spPr>
            <a:xfrm>
              <a:off x="1759709" y="4793604"/>
              <a:ext cx="2166833" cy="1410539"/>
            </a:xfrm>
            <a:prstGeom prst="rect">
              <a:avLst/>
            </a:prstGeom>
            <a:solidFill>
              <a:srgbClr val="EFF4FF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5" name="AutoShape 227">
              <a:extLst>
                <a:ext uri="{FF2B5EF4-FFF2-40B4-BE49-F238E27FC236}">
                  <a16:creationId xmlns:a16="http://schemas.microsoft.com/office/drawing/2014/main" id="{8D49BCCB-9ADB-5E14-B8F9-3081FF7F1AE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952404" y="4610488"/>
              <a:ext cx="1781443" cy="14015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ko-KR" altLang="en-US" sz="1100" spc="-20">
                  <a:solidFill>
                    <a:srgbClr val="02095A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파티션 설계</a:t>
              </a:r>
              <a:endParaRPr lang="ko-KR" altLang="en-US" sz="1100" spc="-20" dirty="0">
                <a:solidFill>
                  <a:srgbClr val="02095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461BAC52-AD29-ADE6-E8B6-D893F61E3170}"/>
                </a:ext>
              </a:extLst>
            </p:cNvPr>
            <p:cNvCxnSpPr/>
            <p:nvPr/>
          </p:nvCxnSpPr>
          <p:spPr>
            <a:xfrm>
              <a:off x="1754153" y="4580299"/>
              <a:ext cx="2177945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5AF37CAE-EA23-0375-D9BC-96531FA7F15D}"/>
                </a:ext>
              </a:extLst>
            </p:cNvPr>
            <p:cNvSpPr txBox="1"/>
            <p:nvPr/>
          </p:nvSpPr>
          <p:spPr>
            <a:xfrm>
              <a:off x="1826334" y="4848960"/>
              <a:ext cx="2043683" cy="1146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marL="88900" indent="-88900" fontAlgn="base" latinLnBrk="0">
                <a:lnSpc>
                  <a:spcPct val="110000"/>
                </a:lnSpc>
                <a:spcBef>
                  <a:spcPts val="1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  <a:defRPr sz="1000" spc="-20">
                  <a:ln>
                    <a:solidFill>
                      <a:srgbClr val="C4266A">
                        <a:alpha val="0"/>
                      </a:srgb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defRPr>
              </a:lvl1pPr>
            </a:lstStyle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발생량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처리량 기반 파티션 산정</a:t>
              </a:r>
            </a:p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시스템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업무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거래 식별자 기준 분산</a:t>
              </a:r>
            </a:p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동일 거래는 동일 파티션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순서 보장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</a:p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Consumer 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병렬 처리 수준 반영</a:t>
              </a:r>
            </a:p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pc="-1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증가량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대응 확장 </a:t>
              </a:r>
              <a:r>
                <a:rPr lang="en-US" altLang="ko-KR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/ </a:t>
              </a: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부하 편중 방지</a:t>
              </a: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7EA1D7EB-27C4-7DEE-EA03-995216B049BC}"/>
                </a:ext>
              </a:extLst>
            </p:cNvPr>
            <p:cNvSpPr/>
            <p:nvPr/>
          </p:nvSpPr>
          <p:spPr>
            <a:xfrm>
              <a:off x="4055814" y="4793604"/>
              <a:ext cx="2166833" cy="1410539"/>
            </a:xfrm>
            <a:prstGeom prst="rect">
              <a:avLst/>
            </a:prstGeom>
            <a:solidFill>
              <a:srgbClr val="EFF4FF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9" name="AutoShape 227">
              <a:extLst>
                <a:ext uri="{FF2B5EF4-FFF2-40B4-BE49-F238E27FC236}">
                  <a16:creationId xmlns:a16="http://schemas.microsoft.com/office/drawing/2014/main" id="{138FE2D9-C290-F5E6-4E5A-52FE109E920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48509" y="4619383"/>
              <a:ext cx="1781443" cy="14015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ko-KR" altLang="en-US" sz="1100" spc="-20" dirty="0">
                  <a:solidFill>
                    <a:srgbClr val="02095A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파티션 산정 고려요소</a:t>
              </a:r>
            </a:p>
          </p:txBody>
        </p: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D548E500-80B6-9716-8800-606CDBED8EF7}"/>
                </a:ext>
              </a:extLst>
            </p:cNvPr>
            <p:cNvCxnSpPr/>
            <p:nvPr/>
          </p:nvCxnSpPr>
          <p:spPr>
            <a:xfrm>
              <a:off x="4050258" y="4580299"/>
              <a:ext cx="2177945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A81122BB-D7ED-1A4A-E709-C35873C3CAC1}"/>
                </a:ext>
              </a:extLst>
            </p:cNvPr>
            <p:cNvSpPr txBox="1"/>
            <p:nvPr/>
          </p:nvSpPr>
          <p:spPr>
            <a:xfrm>
              <a:off x="4178965" y="4848960"/>
              <a:ext cx="1920529" cy="987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marL="88900" indent="-88900" fontAlgn="base" latinLnBrk="0">
                <a:lnSpc>
                  <a:spcPct val="110000"/>
                </a:lnSpc>
                <a:spcBef>
                  <a:spcPts val="1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  <a:defRPr sz="1000" spc="-20">
                  <a:ln>
                    <a:solidFill>
                      <a:srgbClr val="C4266A">
                        <a:alpha val="0"/>
                      </a:srgb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defRPr>
              </a:lvl1pPr>
            </a:lstStyle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pc="-1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파티션은 무조건 많게 구성하지 않으며 다음을 함께 검토</a:t>
              </a:r>
            </a:p>
            <a:p>
              <a:pPr marL="211138" lvl="1" indent="-115888" fontAlgn="base" latinLnBrk="0">
                <a:spcBef>
                  <a:spcPts val="300"/>
                </a:spcBef>
                <a:buFont typeface="KoPub돋움체 Light" panose="00000300000000000000" pitchFamily="2" charset="-127"/>
                <a:buChar char="–"/>
                <a:tabLst>
                  <a:tab pos="5648002" algn="l"/>
                </a:tabLst>
              </a:pPr>
              <a:r>
                <a:rPr lang="ko-KR" altLang="en-US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초당 로그 발생량 </a:t>
              </a:r>
              <a:r>
                <a:rPr lang="en-US" altLang="ko-KR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/ </a:t>
              </a:r>
              <a:r>
                <a:rPr lang="ko-KR" altLang="en-US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메시지 크기</a:t>
              </a:r>
            </a:p>
            <a:p>
              <a:pPr marL="211138" lvl="1" indent="-115888" fontAlgn="base" latinLnBrk="0">
                <a:spcBef>
                  <a:spcPts val="300"/>
                </a:spcBef>
                <a:buFont typeface="KoPub돋움체 Light" panose="00000300000000000000" pitchFamily="2" charset="-127"/>
                <a:buChar char="–"/>
                <a:tabLst>
                  <a:tab pos="5648002" algn="l"/>
                </a:tabLst>
              </a:pPr>
              <a:r>
                <a:rPr lang="ko-KR" altLang="en-US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목표 처리시간 </a:t>
              </a:r>
              <a:r>
                <a:rPr lang="en-US" altLang="ko-KR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/ Consumer </a:t>
              </a:r>
              <a:r>
                <a:rPr lang="ko-KR" altLang="en-US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수</a:t>
              </a:r>
            </a:p>
            <a:p>
              <a:pPr marL="211138" lvl="1" indent="-115888" fontAlgn="base" latinLnBrk="0">
                <a:spcBef>
                  <a:spcPts val="300"/>
                </a:spcBef>
                <a:buFont typeface="KoPub돋움체 Light" panose="00000300000000000000" pitchFamily="2" charset="-127"/>
                <a:buChar char="–"/>
                <a:tabLst>
                  <a:tab pos="5648002" algn="l"/>
                </a:tabLst>
              </a:pPr>
              <a:r>
                <a:rPr lang="ko-KR" altLang="en-US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거래 순서 보장 범위</a:t>
              </a:r>
            </a:p>
            <a:p>
              <a:pPr marL="211138" lvl="1" indent="-115888" fontAlgn="base" latinLnBrk="0">
                <a:spcBef>
                  <a:spcPts val="300"/>
                </a:spcBef>
                <a:buFont typeface="KoPub돋움체 Light" panose="00000300000000000000" pitchFamily="2" charset="-127"/>
                <a:buChar char="–"/>
                <a:tabLst>
                  <a:tab pos="5648002" algn="l"/>
                </a:tabLst>
              </a:pPr>
              <a:r>
                <a:rPr lang="ko-KR" altLang="en-US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복제</a:t>
              </a:r>
              <a:r>
                <a:rPr lang="en-US" altLang="ko-KR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장애 대응 구성</a:t>
              </a:r>
            </a:p>
            <a:p>
              <a:pPr marL="211138" lvl="1" indent="-115888" fontAlgn="base" latinLnBrk="0">
                <a:spcBef>
                  <a:spcPts val="300"/>
                </a:spcBef>
                <a:buFont typeface="KoPub돋움체 Light" panose="00000300000000000000" pitchFamily="2" charset="-127"/>
                <a:buChar char="–"/>
                <a:tabLst>
                  <a:tab pos="5648002" algn="l"/>
                </a:tabLst>
              </a:pPr>
              <a:r>
                <a:rPr lang="ko-KR" altLang="en-US" sz="900" spc="-1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향후 </a:t>
              </a:r>
              <a:r>
                <a:rPr lang="ko-KR" altLang="en-US" sz="900" spc="-1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증가량</a:t>
              </a:r>
              <a:endParaRPr lang="ko-KR" altLang="en-US" sz="90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099D16F-F547-9305-C4BA-FC71DD437456}"/>
              </a:ext>
            </a:extLst>
          </p:cNvPr>
          <p:cNvGrpSpPr/>
          <p:nvPr/>
        </p:nvGrpSpPr>
        <p:grpSpPr>
          <a:xfrm>
            <a:off x="416358" y="1788785"/>
            <a:ext cx="1538783" cy="200055"/>
            <a:chOff x="416358" y="1571870"/>
            <a:chExt cx="1538783" cy="200055"/>
          </a:xfrm>
        </p:grpSpPr>
        <p:sp>
          <p:nvSpPr>
            <p:cNvPr id="196" name="Text Box 79">
              <a:extLst>
                <a:ext uri="{FF2B5EF4-FFF2-40B4-BE49-F238E27FC236}">
                  <a16:creationId xmlns:a16="http://schemas.microsoft.com/office/drawing/2014/main" id="{C9CCA6AE-B7C9-4DB4-E2A7-A4D6723D4B7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6101" y="1571870"/>
              <a:ext cx="1409040" cy="2000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r>
                <a:rPr lang="ko-KR" altLang="en-US" sz="1300" dirty="0"/>
                <a:t>중앙 전송 파이프라인</a:t>
              </a:r>
            </a:p>
          </p:txBody>
        </p:sp>
        <p:grpSp>
          <p:nvGrpSpPr>
            <p:cNvPr id="197" name="그룹 196">
              <a:extLst>
                <a:ext uri="{FF2B5EF4-FFF2-40B4-BE49-F238E27FC236}">
                  <a16:creationId xmlns:a16="http://schemas.microsoft.com/office/drawing/2014/main" id="{604447A1-9303-DCF3-F26B-830851CCB55D}"/>
                </a:ext>
              </a:extLst>
            </p:cNvPr>
            <p:cNvGrpSpPr/>
            <p:nvPr/>
          </p:nvGrpSpPr>
          <p:grpSpPr>
            <a:xfrm>
              <a:off x="416358" y="1591470"/>
              <a:ext cx="103211" cy="165425"/>
              <a:chOff x="-120217" y="1731639"/>
              <a:chExt cx="98259" cy="157488"/>
            </a:xfrm>
          </p:grpSpPr>
          <p:sp>
            <p:nvSpPr>
              <p:cNvPr id="198" name="자유형 25">
                <a:extLst>
                  <a:ext uri="{FF2B5EF4-FFF2-40B4-BE49-F238E27FC236}">
                    <a16:creationId xmlns:a16="http://schemas.microsoft.com/office/drawing/2014/main" id="{07BDD572-7AFF-A60F-1A60-57A712557177}"/>
                  </a:ext>
                </a:extLst>
              </p:cNvPr>
              <p:cNvSpPr/>
              <p:nvPr/>
            </p:nvSpPr>
            <p:spPr>
              <a:xfrm rot="5400000">
                <a:off x="-110611" y="1722036"/>
                <a:ext cx="79048" cy="98257"/>
              </a:xfrm>
              <a:custGeom>
                <a:avLst/>
                <a:gdLst>
                  <a:gd name="connsiteX0" fmla="*/ 0 w 79048"/>
                  <a:gd name="connsiteY0" fmla="*/ 98257 h 98257"/>
                  <a:gd name="connsiteX1" fmla="*/ 15638 w 79048"/>
                  <a:gd name="connsiteY1" fmla="*/ 78743 h 98257"/>
                  <a:gd name="connsiteX2" fmla="*/ 78742 w 79048"/>
                  <a:gd name="connsiteY2" fmla="*/ 0 h 98257"/>
                  <a:gd name="connsiteX3" fmla="*/ 79048 w 79048"/>
                  <a:gd name="connsiteY3" fmla="*/ 382 h 98257"/>
                  <a:gd name="connsiteX4" fmla="*/ 79048 w 79048"/>
                  <a:gd name="connsiteY4" fmla="*/ 54925 h 98257"/>
                  <a:gd name="connsiteX5" fmla="*/ 78743 w 79048"/>
                  <a:gd name="connsiteY5" fmla="*/ 54544 h 98257"/>
                  <a:gd name="connsiteX6" fmla="*/ 43712 w 79048"/>
                  <a:gd name="connsiteY6" fmla="*/ 98257 h 98257"/>
                  <a:gd name="connsiteX7" fmla="*/ 0 w 79048"/>
                  <a:gd name="connsiteY7" fmla="*/ 98257 h 9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048" h="98257">
                    <a:moveTo>
                      <a:pt x="0" y="98257"/>
                    </a:moveTo>
                    <a:lnTo>
                      <a:pt x="15638" y="78743"/>
                    </a:lnTo>
                    <a:lnTo>
                      <a:pt x="78742" y="0"/>
                    </a:lnTo>
                    <a:lnTo>
                      <a:pt x="79048" y="382"/>
                    </a:lnTo>
                    <a:lnTo>
                      <a:pt x="79048" y="54925"/>
                    </a:lnTo>
                    <a:lnTo>
                      <a:pt x="78743" y="54544"/>
                    </a:lnTo>
                    <a:lnTo>
                      <a:pt x="43712" y="98257"/>
                    </a:lnTo>
                    <a:lnTo>
                      <a:pt x="0" y="98257"/>
                    </a:lnTo>
                    <a:close/>
                  </a:path>
                </a:pathLst>
              </a:custGeom>
              <a:solidFill>
                <a:srgbClr val="0158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99" name="자유형 26">
                <a:extLst>
                  <a:ext uri="{FF2B5EF4-FFF2-40B4-BE49-F238E27FC236}">
                    <a16:creationId xmlns:a16="http://schemas.microsoft.com/office/drawing/2014/main" id="{617DD381-136F-DCA7-EACD-53D02AE3D68D}"/>
                  </a:ext>
                </a:extLst>
              </p:cNvPr>
              <p:cNvSpPr/>
              <p:nvPr/>
            </p:nvSpPr>
            <p:spPr>
              <a:xfrm rot="5400000">
                <a:off x="-132316" y="1743738"/>
                <a:ext cx="43714" cy="19515"/>
              </a:xfrm>
              <a:custGeom>
                <a:avLst/>
                <a:gdLst>
                  <a:gd name="connsiteX0" fmla="*/ 0 w 43714"/>
                  <a:gd name="connsiteY0" fmla="*/ 19515 h 19515"/>
                  <a:gd name="connsiteX1" fmla="*/ 15640 w 43714"/>
                  <a:gd name="connsiteY1" fmla="*/ 0 h 19515"/>
                  <a:gd name="connsiteX2" fmla="*/ 2 w 43714"/>
                  <a:gd name="connsiteY2" fmla="*/ 19514 h 19515"/>
                  <a:gd name="connsiteX3" fmla="*/ 43714 w 43714"/>
                  <a:gd name="connsiteY3" fmla="*/ 19514 h 19515"/>
                  <a:gd name="connsiteX4" fmla="*/ 43713 w 43714"/>
                  <a:gd name="connsiteY4" fmla="*/ 19515 h 19515"/>
                  <a:gd name="connsiteX5" fmla="*/ 0 w 43714"/>
                  <a:gd name="connsiteY5" fmla="*/ 19515 h 1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714" h="19515">
                    <a:moveTo>
                      <a:pt x="0" y="19515"/>
                    </a:moveTo>
                    <a:lnTo>
                      <a:pt x="15640" y="0"/>
                    </a:lnTo>
                    <a:lnTo>
                      <a:pt x="2" y="19514"/>
                    </a:lnTo>
                    <a:lnTo>
                      <a:pt x="43714" y="19514"/>
                    </a:lnTo>
                    <a:lnTo>
                      <a:pt x="43713" y="19515"/>
                    </a:lnTo>
                    <a:lnTo>
                      <a:pt x="0" y="1951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00" name="자유형 27">
                <a:extLst>
                  <a:ext uri="{FF2B5EF4-FFF2-40B4-BE49-F238E27FC236}">
                    <a16:creationId xmlns:a16="http://schemas.microsoft.com/office/drawing/2014/main" id="{706D1804-2153-205C-2762-51DCEC21746B}"/>
                  </a:ext>
                </a:extLst>
              </p:cNvPr>
              <p:cNvSpPr/>
              <p:nvPr/>
            </p:nvSpPr>
            <p:spPr>
              <a:xfrm rot="5400000">
                <a:off x="-93035" y="1739611"/>
                <a:ext cx="63410" cy="78744"/>
              </a:xfrm>
              <a:custGeom>
                <a:avLst/>
                <a:gdLst>
                  <a:gd name="connsiteX0" fmla="*/ 0 w 63410"/>
                  <a:gd name="connsiteY0" fmla="*/ 78744 h 78744"/>
                  <a:gd name="connsiteX1" fmla="*/ 63104 w 63410"/>
                  <a:gd name="connsiteY1" fmla="*/ 0 h 78744"/>
                  <a:gd name="connsiteX2" fmla="*/ 63410 w 63410"/>
                  <a:gd name="connsiteY2" fmla="*/ 381 h 78744"/>
                  <a:gd name="connsiteX3" fmla="*/ 63410 w 63410"/>
                  <a:gd name="connsiteY3" fmla="*/ 383 h 78744"/>
                  <a:gd name="connsiteX4" fmla="*/ 63104 w 63410"/>
                  <a:gd name="connsiteY4" fmla="*/ 1 h 78744"/>
                  <a:gd name="connsiteX5" fmla="*/ 0 w 63410"/>
                  <a:gd name="connsiteY5" fmla="*/ 78744 h 7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10" h="78744">
                    <a:moveTo>
                      <a:pt x="0" y="78744"/>
                    </a:moveTo>
                    <a:lnTo>
                      <a:pt x="63104" y="0"/>
                    </a:lnTo>
                    <a:lnTo>
                      <a:pt x="63410" y="381"/>
                    </a:lnTo>
                    <a:lnTo>
                      <a:pt x="63410" y="383"/>
                    </a:lnTo>
                    <a:lnTo>
                      <a:pt x="63104" y="1"/>
                    </a:lnTo>
                    <a:lnTo>
                      <a:pt x="0" y="787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01" name="자유형 28">
                <a:extLst>
                  <a:ext uri="{FF2B5EF4-FFF2-40B4-BE49-F238E27FC236}">
                    <a16:creationId xmlns:a16="http://schemas.microsoft.com/office/drawing/2014/main" id="{CD97F6C1-A798-7A00-1C39-779183C287BF}"/>
                  </a:ext>
                </a:extLst>
              </p:cNvPr>
              <p:cNvSpPr/>
              <p:nvPr/>
            </p:nvSpPr>
            <p:spPr>
              <a:xfrm rot="5400000">
                <a:off x="-110497" y="1800971"/>
                <a:ext cx="78437" cy="97876"/>
              </a:xfrm>
              <a:custGeom>
                <a:avLst/>
                <a:gdLst>
                  <a:gd name="connsiteX0" fmla="*/ 0 w 78437"/>
                  <a:gd name="connsiteY0" fmla="*/ 54543 h 97876"/>
                  <a:gd name="connsiteX1" fmla="*/ 0 w 78437"/>
                  <a:gd name="connsiteY1" fmla="*/ 0 h 97876"/>
                  <a:gd name="connsiteX2" fmla="*/ 78437 w 78437"/>
                  <a:gd name="connsiteY2" fmla="*/ 97876 h 97876"/>
                  <a:gd name="connsiteX3" fmla="*/ 34726 w 78437"/>
                  <a:gd name="connsiteY3" fmla="*/ 97876 h 97876"/>
                  <a:gd name="connsiteX4" fmla="*/ 0 w 78437"/>
                  <a:gd name="connsiteY4" fmla="*/ 54543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37" h="97876">
                    <a:moveTo>
                      <a:pt x="0" y="54543"/>
                    </a:moveTo>
                    <a:lnTo>
                      <a:pt x="0" y="0"/>
                    </a:lnTo>
                    <a:lnTo>
                      <a:pt x="78437" y="97876"/>
                    </a:lnTo>
                    <a:lnTo>
                      <a:pt x="34726" y="97876"/>
                    </a:lnTo>
                    <a:lnTo>
                      <a:pt x="0" y="54543"/>
                    </a:lnTo>
                    <a:close/>
                  </a:path>
                </a:pathLst>
              </a:custGeom>
              <a:solidFill>
                <a:srgbClr val="0209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srgbClr val="01033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678AC2DC-2DCE-D0B6-F8CA-87410AD70422}"/>
              </a:ext>
            </a:extLst>
          </p:cNvPr>
          <p:cNvGrpSpPr/>
          <p:nvPr/>
        </p:nvGrpSpPr>
        <p:grpSpPr>
          <a:xfrm>
            <a:off x="418810" y="3313109"/>
            <a:ext cx="2173188" cy="215444"/>
            <a:chOff x="416358" y="1564175"/>
            <a:chExt cx="2173188" cy="215444"/>
          </a:xfrm>
        </p:grpSpPr>
        <p:sp>
          <p:nvSpPr>
            <p:cNvPr id="203" name="Text Box 79">
              <a:extLst>
                <a:ext uri="{FF2B5EF4-FFF2-40B4-BE49-F238E27FC236}">
                  <a16:creationId xmlns:a16="http://schemas.microsoft.com/office/drawing/2014/main" id="{CA8D71D6-13F6-527B-8060-3A67043C363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6101" y="1564175"/>
              <a:ext cx="2043445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fontAlgn="base">
                <a:spcBef>
                  <a:spcPts val="200"/>
                </a:spcBef>
                <a:buClr>
                  <a:srgbClr val="4D4D4D"/>
                </a:buClr>
              </a:pPr>
              <a:r>
                <a:rPr lang="en-US" altLang="ko-KR" sz="1400" dirty="0"/>
                <a:t>Kafka </a:t>
              </a:r>
              <a:r>
                <a:rPr lang="ko-KR" altLang="en-US" sz="1400" dirty="0"/>
                <a:t>토픽</a:t>
              </a:r>
              <a:r>
                <a:rPr lang="en-US" altLang="ko-KR" sz="1400" dirty="0"/>
                <a:t>·</a:t>
              </a:r>
              <a:r>
                <a:rPr lang="ko-KR" altLang="en-US" sz="1400" dirty="0"/>
                <a:t>파티션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설계 </a:t>
              </a:r>
              <a:r>
                <a:rPr lang="en-US" altLang="ko-KR" sz="1400" dirty="0"/>
                <a:t>(</a:t>
              </a:r>
              <a:r>
                <a:rPr lang="ko-KR" altLang="en-US" sz="1400" dirty="0"/>
                <a:t>안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FA099314-9DE4-159D-5917-86E759D9777A}"/>
                </a:ext>
              </a:extLst>
            </p:cNvPr>
            <p:cNvGrpSpPr/>
            <p:nvPr/>
          </p:nvGrpSpPr>
          <p:grpSpPr>
            <a:xfrm>
              <a:off x="416358" y="1591470"/>
              <a:ext cx="103211" cy="165425"/>
              <a:chOff x="-120217" y="1731639"/>
              <a:chExt cx="98259" cy="157488"/>
            </a:xfrm>
          </p:grpSpPr>
          <p:sp>
            <p:nvSpPr>
              <p:cNvPr id="205" name="자유형 25">
                <a:extLst>
                  <a:ext uri="{FF2B5EF4-FFF2-40B4-BE49-F238E27FC236}">
                    <a16:creationId xmlns:a16="http://schemas.microsoft.com/office/drawing/2014/main" id="{5446EBB7-AADD-CDDF-F802-F56B12EA8D68}"/>
                  </a:ext>
                </a:extLst>
              </p:cNvPr>
              <p:cNvSpPr/>
              <p:nvPr/>
            </p:nvSpPr>
            <p:spPr>
              <a:xfrm rot="5400000">
                <a:off x="-110611" y="1722036"/>
                <a:ext cx="79048" cy="98257"/>
              </a:xfrm>
              <a:custGeom>
                <a:avLst/>
                <a:gdLst>
                  <a:gd name="connsiteX0" fmla="*/ 0 w 79048"/>
                  <a:gd name="connsiteY0" fmla="*/ 98257 h 98257"/>
                  <a:gd name="connsiteX1" fmla="*/ 15638 w 79048"/>
                  <a:gd name="connsiteY1" fmla="*/ 78743 h 98257"/>
                  <a:gd name="connsiteX2" fmla="*/ 78742 w 79048"/>
                  <a:gd name="connsiteY2" fmla="*/ 0 h 98257"/>
                  <a:gd name="connsiteX3" fmla="*/ 79048 w 79048"/>
                  <a:gd name="connsiteY3" fmla="*/ 382 h 98257"/>
                  <a:gd name="connsiteX4" fmla="*/ 79048 w 79048"/>
                  <a:gd name="connsiteY4" fmla="*/ 54925 h 98257"/>
                  <a:gd name="connsiteX5" fmla="*/ 78743 w 79048"/>
                  <a:gd name="connsiteY5" fmla="*/ 54544 h 98257"/>
                  <a:gd name="connsiteX6" fmla="*/ 43712 w 79048"/>
                  <a:gd name="connsiteY6" fmla="*/ 98257 h 98257"/>
                  <a:gd name="connsiteX7" fmla="*/ 0 w 79048"/>
                  <a:gd name="connsiteY7" fmla="*/ 98257 h 9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048" h="98257">
                    <a:moveTo>
                      <a:pt x="0" y="98257"/>
                    </a:moveTo>
                    <a:lnTo>
                      <a:pt x="15638" y="78743"/>
                    </a:lnTo>
                    <a:lnTo>
                      <a:pt x="78742" y="0"/>
                    </a:lnTo>
                    <a:lnTo>
                      <a:pt x="79048" y="382"/>
                    </a:lnTo>
                    <a:lnTo>
                      <a:pt x="79048" y="54925"/>
                    </a:lnTo>
                    <a:lnTo>
                      <a:pt x="78743" y="54544"/>
                    </a:lnTo>
                    <a:lnTo>
                      <a:pt x="43712" y="98257"/>
                    </a:lnTo>
                    <a:lnTo>
                      <a:pt x="0" y="98257"/>
                    </a:lnTo>
                    <a:close/>
                  </a:path>
                </a:pathLst>
              </a:custGeom>
              <a:solidFill>
                <a:srgbClr val="0158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6" name="자유형 26">
                <a:extLst>
                  <a:ext uri="{FF2B5EF4-FFF2-40B4-BE49-F238E27FC236}">
                    <a16:creationId xmlns:a16="http://schemas.microsoft.com/office/drawing/2014/main" id="{0AF0DC1E-CAB1-FE49-B798-8911CA87778A}"/>
                  </a:ext>
                </a:extLst>
              </p:cNvPr>
              <p:cNvSpPr/>
              <p:nvPr/>
            </p:nvSpPr>
            <p:spPr>
              <a:xfrm rot="5400000">
                <a:off x="-132316" y="1743738"/>
                <a:ext cx="43714" cy="19515"/>
              </a:xfrm>
              <a:custGeom>
                <a:avLst/>
                <a:gdLst>
                  <a:gd name="connsiteX0" fmla="*/ 0 w 43714"/>
                  <a:gd name="connsiteY0" fmla="*/ 19515 h 19515"/>
                  <a:gd name="connsiteX1" fmla="*/ 15640 w 43714"/>
                  <a:gd name="connsiteY1" fmla="*/ 0 h 19515"/>
                  <a:gd name="connsiteX2" fmla="*/ 2 w 43714"/>
                  <a:gd name="connsiteY2" fmla="*/ 19514 h 19515"/>
                  <a:gd name="connsiteX3" fmla="*/ 43714 w 43714"/>
                  <a:gd name="connsiteY3" fmla="*/ 19514 h 19515"/>
                  <a:gd name="connsiteX4" fmla="*/ 43713 w 43714"/>
                  <a:gd name="connsiteY4" fmla="*/ 19515 h 19515"/>
                  <a:gd name="connsiteX5" fmla="*/ 0 w 43714"/>
                  <a:gd name="connsiteY5" fmla="*/ 19515 h 1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714" h="19515">
                    <a:moveTo>
                      <a:pt x="0" y="19515"/>
                    </a:moveTo>
                    <a:lnTo>
                      <a:pt x="15640" y="0"/>
                    </a:lnTo>
                    <a:lnTo>
                      <a:pt x="2" y="19514"/>
                    </a:lnTo>
                    <a:lnTo>
                      <a:pt x="43714" y="19514"/>
                    </a:lnTo>
                    <a:lnTo>
                      <a:pt x="43713" y="19515"/>
                    </a:lnTo>
                    <a:lnTo>
                      <a:pt x="0" y="1951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07" name="자유형 27">
                <a:extLst>
                  <a:ext uri="{FF2B5EF4-FFF2-40B4-BE49-F238E27FC236}">
                    <a16:creationId xmlns:a16="http://schemas.microsoft.com/office/drawing/2014/main" id="{A1D32687-A657-2DBF-9C2C-2540479393A6}"/>
                  </a:ext>
                </a:extLst>
              </p:cNvPr>
              <p:cNvSpPr/>
              <p:nvPr/>
            </p:nvSpPr>
            <p:spPr>
              <a:xfrm rot="5400000">
                <a:off x="-93035" y="1739611"/>
                <a:ext cx="63410" cy="78744"/>
              </a:xfrm>
              <a:custGeom>
                <a:avLst/>
                <a:gdLst>
                  <a:gd name="connsiteX0" fmla="*/ 0 w 63410"/>
                  <a:gd name="connsiteY0" fmla="*/ 78744 h 78744"/>
                  <a:gd name="connsiteX1" fmla="*/ 63104 w 63410"/>
                  <a:gd name="connsiteY1" fmla="*/ 0 h 78744"/>
                  <a:gd name="connsiteX2" fmla="*/ 63410 w 63410"/>
                  <a:gd name="connsiteY2" fmla="*/ 381 h 78744"/>
                  <a:gd name="connsiteX3" fmla="*/ 63410 w 63410"/>
                  <a:gd name="connsiteY3" fmla="*/ 383 h 78744"/>
                  <a:gd name="connsiteX4" fmla="*/ 63104 w 63410"/>
                  <a:gd name="connsiteY4" fmla="*/ 1 h 78744"/>
                  <a:gd name="connsiteX5" fmla="*/ 0 w 63410"/>
                  <a:gd name="connsiteY5" fmla="*/ 78744 h 7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10" h="78744">
                    <a:moveTo>
                      <a:pt x="0" y="78744"/>
                    </a:moveTo>
                    <a:lnTo>
                      <a:pt x="63104" y="0"/>
                    </a:lnTo>
                    <a:lnTo>
                      <a:pt x="63410" y="381"/>
                    </a:lnTo>
                    <a:lnTo>
                      <a:pt x="63410" y="383"/>
                    </a:lnTo>
                    <a:lnTo>
                      <a:pt x="63104" y="1"/>
                    </a:lnTo>
                    <a:lnTo>
                      <a:pt x="0" y="787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08" name="자유형 28">
                <a:extLst>
                  <a:ext uri="{FF2B5EF4-FFF2-40B4-BE49-F238E27FC236}">
                    <a16:creationId xmlns:a16="http://schemas.microsoft.com/office/drawing/2014/main" id="{C27EC037-1866-8401-0E18-7117A336BADE}"/>
                  </a:ext>
                </a:extLst>
              </p:cNvPr>
              <p:cNvSpPr/>
              <p:nvPr/>
            </p:nvSpPr>
            <p:spPr>
              <a:xfrm rot="5400000">
                <a:off x="-110497" y="1800971"/>
                <a:ext cx="78437" cy="97876"/>
              </a:xfrm>
              <a:custGeom>
                <a:avLst/>
                <a:gdLst>
                  <a:gd name="connsiteX0" fmla="*/ 0 w 78437"/>
                  <a:gd name="connsiteY0" fmla="*/ 54543 h 97876"/>
                  <a:gd name="connsiteX1" fmla="*/ 0 w 78437"/>
                  <a:gd name="connsiteY1" fmla="*/ 0 h 97876"/>
                  <a:gd name="connsiteX2" fmla="*/ 78437 w 78437"/>
                  <a:gd name="connsiteY2" fmla="*/ 97876 h 97876"/>
                  <a:gd name="connsiteX3" fmla="*/ 34726 w 78437"/>
                  <a:gd name="connsiteY3" fmla="*/ 97876 h 97876"/>
                  <a:gd name="connsiteX4" fmla="*/ 0 w 78437"/>
                  <a:gd name="connsiteY4" fmla="*/ 54543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37" h="97876">
                    <a:moveTo>
                      <a:pt x="0" y="54543"/>
                    </a:moveTo>
                    <a:lnTo>
                      <a:pt x="0" y="0"/>
                    </a:lnTo>
                    <a:lnTo>
                      <a:pt x="78437" y="97876"/>
                    </a:lnTo>
                    <a:lnTo>
                      <a:pt x="34726" y="97876"/>
                    </a:lnTo>
                    <a:lnTo>
                      <a:pt x="0" y="54543"/>
                    </a:lnTo>
                    <a:close/>
                  </a:path>
                </a:pathLst>
              </a:custGeom>
              <a:solidFill>
                <a:srgbClr val="0209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srgbClr val="01033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" name="그룹 84">
            <a:extLst>
              <a:ext uri="{FF2B5EF4-FFF2-40B4-BE49-F238E27FC236}">
                <a16:creationId xmlns:a16="http://schemas.microsoft.com/office/drawing/2014/main" id="{9D61FE84-244C-E8CB-63D6-7DBE6085E1FC}"/>
              </a:ext>
            </a:extLst>
          </p:cNvPr>
          <p:cNvGrpSpPr/>
          <p:nvPr/>
        </p:nvGrpSpPr>
        <p:grpSpPr>
          <a:xfrm>
            <a:off x="415199" y="965974"/>
            <a:ext cx="120786" cy="115888"/>
            <a:chOff x="477838" y="1011238"/>
            <a:chExt cx="117476" cy="112712"/>
          </a:xfrm>
          <a:solidFill>
            <a:schemeClr val="bg1">
              <a:lumMod val="65000"/>
            </a:schemeClr>
          </a:solidFill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10DAA8F6-C79E-610A-1CC4-D09B71636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76" y="1022350"/>
              <a:ext cx="96838" cy="71437"/>
            </a:xfrm>
            <a:custGeom>
              <a:avLst/>
              <a:gdLst>
                <a:gd name="T0" fmla="*/ 22 w 61"/>
                <a:gd name="T1" fmla="*/ 45 h 45"/>
                <a:gd name="T2" fmla="*/ 0 w 61"/>
                <a:gd name="T3" fmla="*/ 23 h 45"/>
                <a:gd name="T4" fmla="*/ 7 w 61"/>
                <a:gd name="T5" fmla="*/ 17 h 45"/>
                <a:gd name="T6" fmla="*/ 22 w 61"/>
                <a:gd name="T7" fmla="*/ 32 h 45"/>
                <a:gd name="T8" fmla="*/ 54 w 61"/>
                <a:gd name="T9" fmla="*/ 0 h 45"/>
                <a:gd name="T10" fmla="*/ 61 w 61"/>
                <a:gd name="T11" fmla="*/ 7 h 45"/>
                <a:gd name="T12" fmla="*/ 22 w 61"/>
                <a:gd name="T1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">
                  <a:moveTo>
                    <a:pt x="22" y="45"/>
                  </a:moveTo>
                  <a:lnTo>
                    <a:pt x="0" y="23"/>
                  </a:lnTo>
                  <a:lnTo>
                    <a:pt x="7" y="17"/>
                  </a:lnTo>
                  <a:lnTo>
                    <a:pt x="22" y="32"/>
                  </a:lnTo>
                  <a:lnTo>
                    <a:pt x="54" y="0"/>
                  </a:lnTo>
                  <a:lnTo>
                    <a:pt x="61" y="7"/>
                  </a:lnTo>
                  <a:lnTo>
                    <a:pt x="22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atinLnBrk="0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208B1D7B-ECB0-DD1B-57E2-5E7D1D9B6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838" y="1011238"/>
              <a:ext cx="112713" cy="112712"/>
            </a:xfrm>
            <a:custGeom>
              <a:avLst/>
              <a:gdLst>
                <a:gd name="T0" fmla="*/ 926 w 1040"/>
                <a:gd name="T1" fmla="*/ 500 h 1041"/>
                <a:gd name="T2" fmla="*/ 927 w 1040"/>
                <a:gd name="T3" fmla="*/ 521 h 1041"/>
                <a:gd name="T4" fmla="*/ 520 w 1040"/>
                <a:gd name="T5" fmla="*/ 928 h 1041"/>
                <a:gd name="T6" fmla="*/ 113 w 1040"/>
                <a:gd name="T7" fmla="*/ 521 h 1041"/>
                <a:gd name="T8" fmla="*/ 520 w 1040"/>
                <a:gd name="T9" fmla="*/ 114 h 1041"/>
                <a:gd name="T10" fmla="*/ 747 w 1040"/>
                <a:gd name="T11" fmla="*/ 183 h 1041"/>
                <a:gd name="T12" fmla="*/ 830 w 1040"/>
                <a:gd name="T13" fmla="*/ 103 h 1041"/>
                <a:gd name="T14" fmla="*/ 520 w 1040"/>
                <a:gd name="T15" fmla="*/ 1 h 1041"/>
                <a:gd name="T16" fmla="*/ 0 w 1040"/>
                <a:gd name="T17" fmla="*/ 521 h 1041"/>
                <a:gd name="T18" fmla="*/ 520 w 1040"/>
                <a:gd name="T19" fmla="*/ 1041 h 1041"/>
                <a:gd name="T20" fmla="*/ 1040 w 1040"/>
                <a:gd name="T21" fmla="*/ 520 h 1041"/>
                <a:gd name="T22" fmla="*/ 1027 w 1040"/>
                <a:gd name="T23" fmla="*/ 403 h 1041"/>
                <a:gd name="T24" fmla="*/ 926 w 1040"/>
                <a:gd name="T25" fmla="*/ 500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0" h="1041">
                  <a:moveTo>
                    <a:pt x="926" y="500"/>
                  </a:moveTo>
                  <a:cubicBezTo>
                    <a:pt x="927" y="506"/>
                    <a:pt x="927" y="513"/>
                    <a:pt x="927" y="521"/>
                  </a:cubicBezTo>
                  <a:cubicBezTo>
                    <a:pt x="927" y="745"/>
                    <a:pt x="745" y="927"/>
                    <a:pt x="520" y="928"/>
                  </a:cubicBezTo>
                  <a:cubicBezTo>
                    <a:pt x="295" y="928"/>
                    <a:pt x="113" y="746"/>
                    <a:pt x="113" y="521"/>
                  </a:cubicBezTo>
                  <a:cubicBezTo>
                    <a:pt x="113" y="296"/>
                    <a:pt x="295" y="114"/>
                    <a:pt x="520" y="114"/>
                  </a:cubicBezTo>
                  <a:cubicBezTo>
                    <a:pt x="604" y="114"/>
                    <a:pt x="682" y="139"/>
                    <a:pt x="747" y="183"/>
                  </a:cubicBezTo>
                  <a:cubicBezTo>
                    <a:pt x="830" y="103"/>
                    <a:pt x="830" y="103"/>
                    <a:pt x="830" y="103"/>
                  </a:cubicBezTo>
                  <a:cubicBezTo>
                    <a:pt x="743" y="39"/>
                    <a:pt x="636" y="0"/>
                    <a:pt x="520" y="1"/>
                  </a:cubicBezTo>
                  <a:cubicBezTo>
                    <a:pt x="233" y="1"/>
                    <a:pt x="0" y="234"/>
                    <a:pt x="0" y="521"/>
                  </a:cubicBezTo>
                  <a:cubicBezTo>
                    <a:pt x="0" y="808"/>
                    <a:pt x="233" y="1041"/>
                    <a:pt x="520" y="1041"/>
                  </a:cubicBezTo>
                  <a:cubicBezTo>
                    <a:pt x="807" y="1041"/>
                    <a:pt x="1040" y="808"/>
                    <a:pt x="1040" y="520"/>
                  </a:cubicBezTo>
                  <a:cubicBezTo>
                    <a:pt x="1040" y="480"/>
                    <a:pt x="1036" y="441"/>
                    <a:pt x="1027" y="403"/>
                  </a:cubicBezTo>
                  <a:lnTo>
                    <a:pt x="926" y="50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latinLnBrk="0"/>
              <a:endParaRPr lang="ko-KR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7710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위쪽 화살표 409">
            <a:extLst>
              <a:ext uri="{FF2B5EF4-FFF2-40B4-BE49-F238E27FC236}">
                <a16:creationId xmlns:a16="http://schemas.microsoft.com/office/drawing/2014/main" id="{4FBAADEC-A95A-1276-E4D1-ED6EFC73BE74}"/>
              </a:ext>
            </a:extLst>
          </p:cNvPr>
          <p:cNvSpPr>
            <a:spLocks noChangeAspect="1"/>
          </p:cNvSpPr>
          <p:nvPr/>
        </p:nvSpPr>
        <p:spPr>
          <a:xfrm rot="10800000">
            <a:off x="3205010" y="2852356"/>
            <a:ext cx="327539" cy="301222"/>
          </a:xfrm>
          <a:prstGeom prst="upArrow">
            <a:avLst>
              <a:gd name="adj1" fmla="val 61466"/>
              <a:gd name="adj2" fmla="val 37815"/>
            </a:avLst>
          </a:prstGeom>
          <a:gradFill flip="none" rotWithShape="1">
            <a:gsLst>
              <a:gs pos="100000">
                <a:srgbClr val="02095A">
                  <a:alpha val="65000"/>
                </a:srgbClr>
              </a:gs>
              <a:gs pos="0">
                <a:srgbClr val="02095A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endParaRPr lang="ko-KR" altLang="en-US"/>
          </a:p>
        </p:txBody>
      </p:sp>
      <p:sp>
        <p:nvSpPr>
          <p:cNvPr id="189" name="Shape 11">
            <a:extLst>
              <a:ext uri="{FF2B5EF4-FFF2-40B4-BE49-F238E27FC236}">
                <a16:creationId xmlns:a16="http://schemas.microsoft.com/office/drawing/2014/main" id="{62E10061-714C-8356-A0AE-6EA16EBF0064}"/>
              </a:ext>
            </a:extLst>
          </p:cNvPr>
          <p:cNvSpPr/>
          <p:nvPr/>
        </p:nvSpPr>
        <p:spPr>
          <a:xfrm>
            <a:off x="412641" y="2024265"/>
            <a:ext cx="5896360" cy="8991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rgbClr val="868A90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34" name="그룹 133"/>
          <p:cNvGrpSpPr/>
          <p:nvPr/>
        </p:nvGrpSpPr>
        <p:grpSpPr>
          <a:xfrm>
            <a:off x="415199" y="383253"/>
            <a:ext cx="4481035" cy="419085"/>
            <a:chOff x="415199" y="383253"/>
            <a:chExt cx="4481035" cy="419085"/>
          </a:xfrm>
        </p:grpSpPr>
        <p:sp>
          <p:nvSpPr>
            <p:cNvPr id="135" name="Rectangle 4"/>
            <p:cNvSpPr>
              <a:spLocks noChangeArrowheads="1"/>
            </p:cNvSpPr>
            <p:nvPr/>
          </p:nvSpPr>
          <p:spPr bwMode="auto">
            <a:xfrm>
              <a:off x="415199" y="383253"/>
              <a:ext cx="448103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217475" lvl="0" indent="-217475" defTabSz="957689" fontAlgn="t" latinLnBrk="0">
                <a:spcAft>
                  <a:spcPts val="200"/>
                </a:spcAft>
              </a:pP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3.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상세 구축방안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&gt; 3.1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기능  요구사항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 IT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운영관리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3.1.7.1 </a:t>
              </a:r>
              <a:r>
                <a:rPr lang="ko-KR" altLang="en-US" sz="900" spc="-30" dirty="0" err="1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통합로그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기반 모니터링 환경 구축</a:t>
              </a:r>
              <a:endParaRPr lang="en-US" altLang="ko-KR" sz="900" spc="-30" dirty="0">
                <a:solidFill>
                  <a:schemeClr val="bg1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6" name="Rectangle 4"/>
            <p:cNvSpPr>
              <a:spLocks noChangeArrowheads="1"/>
            </p:cNvSpPr>
            <p:nvPr/>
          </p:nvSpPr>
          <p:spPr bwMode="auto">
            <a:xfrm>
              <a:off x="415199" y="556117"/>
              <a:ext cx="2457211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1pPr>
              <a:lvl2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fontAlgn="t" latinLnBrk="0"/>
              <a:r>
                <a:rPr lang="en-US" altLang="ko-KR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3.1.7.1.4 </a:t>
              </a:r>
              <a:r>
                <a:rPr lang="ko-KR" altLang="en-US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로그 저장 기능 제공</a:t>
              </a:r>
              <a:endParaRPr lang="en-US" altLang="ko-KR" sz="1600" spc="-3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415199" y="931585"/>
            <a:ext cx="8945996" cy="393793"/>
            <a:chOff x="415199" y="959742"/>
            <a:chExt cx="8945996" cy="393793"/>
          </a:xfrm>
        </p:grpSpPr>
        <p:grpSp>
          <p:nvGrpSpPr>
            <p:cNvPr id="79" name="그룹 78"/>
            <p:cNvGrpSpPr/>
            <p:nvPr/>
          </p:nvGrpSpPr>
          <p:grpSpPr>
            <a:xfrm>
              <a:off x="415199" y="959742"/>
              <a:ext cx="8945996" cy="184666"/>
              <a:chOff x="415199" y="959742"/>
              <a:chExt cx="8945996" cy="184666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415199" y="994131"/>
                <a:ext cx="120786" cy="115888"/>
                <a:chOff x="477838" y="1011238"/>
                <a:chExt cx="117476" cy="11271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87" name="Freeform 10"/>
                <p:cNvSpPr>
                  <a:spLocks/>
                </p:cNvSpPr>
                <p:nvPr/>
              </p:nvSpPr>
              <p:spPr bwMode="auto">
                <a:xfrm>
                  <a:off x="498476" y="1022350"/>
                  <a:ext cx="96838" cy="71437"/>
                </a:xfrm>
                <a:custGeom>
                  <a:avLst/>
                  <a:gdLst>
                    <a:gd name="T0" fmla="*/ 22 w 61"/>
                    <a:gd name="T1" fmla="*/ 45 h 45"/>
                    <a:gd name="T2" fmla="*/ 0 w 61"/>
                    <a:gd name="T3" fmla="*/ 23 h 45"/>
                    <a:gd name="T4" fmla="*/ 7 w 61"/>
                    <a:gd name="T5" fmla="*/ 17 h 45"/>
                    <a:gd name="T6" fmla="*/ 22 w 61"/>
                    <a:gd name="T7" fmla="*/ 32 h 45"/>
                    <a:gd name="T8" fmla="*/ 54 w 61"/>
                    <a:gd name="T9" fmla="*/ 0 h 45"/>
                    <a:gd name="T10" fmla="*/ 61 w 61"/>
                    <a:gd name="T11" fmla="*/ 7 h 45"/>
                    <a:gd name="T12" fmla="*/ 22 w 61"/>
                    <a:gd name="T13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1" h="45">
                      <a:moveTo>
                        <a:pt x="22" y="45"/>
                      </a:moveTo>
                      <a:lnTo>
                        <a:pt x="0" y="23"/>
                      </a:lnTo>
                      <a:lnTo>
                        <a:pt x="7" y="17"/>
                      </a:lnTo>
                      <a:lnTo>
                        <a:pt x="22" y="32"/>
                      </a:lnTo>
                      <a:lnTo>
                        <a:pt x="54" y="0"/>
                      </a:lnTo>
                      <a:lnTo>
                        <a:pt x="61" y="7"/>
                      </a:lnTo>
                      <a:lnTo>
                        <a:pt x="22" y="4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8" name="Freeform 11"/>
                <p:cNvSpPr>
                  <a:spLocks/>
                </p:cNvSpPr>
                <p:nvPr/>
              </p:nvSpPr>
              <p:spPr bwMode="auto">
                <a:xfrm>
                  <a:off x="477838" y="1011238"/>
                  <a:ext cx="112713" cy="112712"/>
                </a:xfrm>
                <a:custGeom>
                  <a:avLst/>
                  <a:gdLst>
                    <a:gd name="T0" fmla="*/ 926 w 1040"/>
                    <a:gd name="T1" fmla="*/ 500 h 1041"/>
                    <a:gd name="T2" fmla="*/ 927 w 1040"/>
                    <a:gd name="T3" fmla="*/ 521 h 1041"/>
                    <a:gd name="T4" fmla="*/ 520 w 1040"/>
                    <a:gd name="T5" fmla="*/ 928 h 1041"/>
                    <a:gd name="T6" fmla="*/ 113 w 1040"/>
                    <a:gd name="T7" fmla="*/ 521 h 1041"/>
                    <a:gd name="T8" fmla="*/ 520 w 1040"/>
                    <a:gd name="T9" fmla="*/ 114 h 1041"/>
                    <a:gd name="T10" fmla="*/ 747 w 1040"/>
                    <a:gd name="T11" fmla="*/ 183 h 1041"/>
                    <a:gd name="T12" fmla="*/ 830 w 1040"/>
                    <a:gd name="T13" fmla="*/ 103 h 1041"/>
                    <a:gd name="T14" fmla="*/ 520 w 1040"/>
                    <a:gd name="T15" fmla="*/ 1 h 1041"/>
                    <a:gd name="T16" fmla="*/ 0 w 1040"/>
                    <a:gd name="T17" fmla="*/ 521 h 1041"/>
                    <a:gd name="T18" fmla="*/ 520 w 1040"/>
                    <a:gd name="T19" fmla="*/ 1041 h 1041"/>
                    <a:gd name="T20" fmla="*/ 1040 w 1040"/>
                    <a:gd name="T21" fmla="*/ 520 h 1041"/>
                    <a:gd name="T22" fmla="*/ 1027 w 1040"/>
                    <a:gd name="T23" fmla="*/ 403 h 1041"/>
                    <a:gd name="T24" fmla="*/ 926 w 1040"/>
                    <a:gd name="T25" fmla="*/ 500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40" h="1041">
                      <a:moveTo>
                        <a:pt x="926" y="500"/>
                      </a:moveTo>
                      <a:cubicBezTo>
                        <a:pt x="927" y="506"/>
                        <a:pt x="927" y="513"/>
                        <a:pt x="927" y="521"/>
                      </a:cubicBezTo>
                      <a:cubicBezTo>
                        <a:pt x="927" y="745"/>
                        <a:pt x="745" y="927"/>
                        <a:pt x="520" y="928"/>
                      </a:cubicBezTo>
                      <a:cubicBezTo>
                        <a:pt x="295" y="928"/>
                        <a:pt x="113" y="746"/>
                        <a:pt x="113" y="521"/>
                      </a:cubicBezTo>
                      <a:cubicBezTo>
                        <a:pt x="113" y="296"/>
                        <a:pt x="295" y="114"/>
                        <a:pt x="520" y="114"/>
                      </a:cubicBezTo>
                      <a:cubicBezTo>
                        <a:pt x="604" y="114"/>
                        <a:pt x="682" y="139"/>
                        <a:pt x="747" y="183"/>
                      </a:cubicBezTo>
                      <a:cubicBezTo>
                        <a:pt x="830" y="103"/>
                        <a:pt x="830" y="103"/>
                        <a:pt x="830" y="103"/>
                      </a:cubicBezTo>
                      <a:cubicBezTo>
                        <a:pt x="743" y="39"/>
                        <a:pt x="636" y="0"/>
                        <a:pt x="520" y="1"/>
                      </a:cubicBezTo>
                      <a:cubicBezTo>
                        <a:pt x="233" y="1"/>
                        <a:pt x="0" y="234"/>
                        <a:pt x="0" y="521"/>
                      </a:cubicBezTo>
                      <a:cubicBezTo>
                        <a:pt x="0" y="808"/>
                        <a:pt x="233" y="1041"/>
                        <a:pt x="520" y="1041"/>
                      </a:cubicBezTo>
                      <a:cubicBezTo>
                        <a:pt x="807" y="1041"/>
                        <a:pt x="1040" y="808"/>
                        <a:pt x="1040" y="520"/>
                      </a:cubicBezTo>
                      <a:cubicBezTo>
                        <a:pt x="1040" y="480"/>
                        <a:pt x="1036" y="441"/>
                        <a:pt x="1027" y="403"/>
                      </a:cubicBezTo>
                      <a:lnTo>
                        <a:pt x="926" y="50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6" name="TextBox 9"/>
              <p:cNvSpPr txBox="1"/>
              <p:nvPr/>
            </p:nvSpPr>
            <p:spPr>
              <a:xfrm>
                <a:off x="577124" y="959742"/>
                <a:ext cx="878407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21" latinLnBrk="0"/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Elasticsearch 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분산 클러스터와 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Replica 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구성으로 장애에도 안정적인 로그 서비스를 제공하고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, 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데이터 증가에 따라 저장 노드를 유연하게 확장합니다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. </a:t>
                </a:r>
              </a:p>
            </p:txBody>
          </p:sp>
        </p:grpSp>
        <p:grpSp>
          <p:nvGrpSpPr>
            <p:cNvPr id="80" name="그룹 79"/>
            <p:cNvGrpSpPr/>
            <p:nvPr/>
          </p:nvGrpSpPr>
          <p:grpSpPr>
            <a:xfrm>
              <a:off x="415199" y="1168869"/>
              <a:ext cx="6022825" cy="184666"/>
              <a:chOff x="415199" y="1168869"/>
              <a:chExt cx="6022825" cy="184666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415199" y="1203258"/>
                <a:ext cx="120786" cy="115888"/>
                <a:chOff x="477838" y="1011238"/>
                <a:chExt cx="117476" cy="11271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83" name="Freeform 10"/>
                <p:cNvSpPr>
                  <a:spLocks/>
                </p:cNvSpPr>
                <p:nvPr/>
              </p:nvSpPr>
              <p:spPr bwMode="auto">
                <a:xfrm>
                  <a:off x="498476" y="1022350"/>
                  <a:ext cx="96838" cy="71437"/>
                </a:xfrm>
                <a:custGeom>
                  <a:avLst/>
                  <a:gdLst>
                    <a:gd name="T0" fmla="*/ 22 w 61"/>
                    <a:gd name="T1" fmla="*/ 45 h 45"/>
                    <a:gd name="T2" fmla="*/ 0 w 61"/>
                    <a:gd name="T3" fmla="*/ 23 h 45"/>
                    <a:gd name="T4" fmla="*/ 7 w 61"/>
                    <a:gd name="T5" fmla="*/ 17 h 45"/>
                    <a:gd name="T6" fmla="*/ 22 w 61"/>
                    <a:gd name="T7" fmla="*/ 32 h 45"/>
                    <a:gd name="T8" fmla="*/ 54 w 61"/>
                    <a:gd name="T9" fmla="*/ 0 h 45"/>
                    <a:gd name="T10" fmla="*/ 61 w 61"/>
                    <a:gd name="T11" fmla="*/ 7 h 45"/>
                    <a:gd name="T12" fmla="*/ 22 w 61"/>
                    <a:gd name="T13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1" h="45">
                      <a:moveTo>
                        <a:pt x="22" y="45"/>
                      </a:moveTo>
                      <a:lnTo>
                        <a:pt x="0" y="23"/>
                      </a:lnTo>
                      <a:lnTo>
                        <a:pt x="7" y="17"/>
                      </a:lnTo>
                      <a:lnTo>
                        <a:pt x="22" y="32"/>
                      </a:lnTo>
                      <a:lnTo>
                        <a:pt x="54" y="0"/>
                      </a:lnTo>
                      <a:lnTo>
                        <a:pt x="61" y="7"/>
                      </a:lnTo>
                      <a:lnTo>
                        <a:pt x="22" y="4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4" name="Freeform 11"/>
                <p:cNvSpPr>
                  <a:spLocks/>
                </p:cNvSpPr>
                <p:nvPr/>
              </p:nvSpPr>
              <p:spPr bwMode="auto">
                <a:xfrm>
                  <a:off x="477838" y="1011238"/>
                  <a:ext cx="112713" cy="112712"/>
                </a:xfrm>
                <a:custGeom>
                  <a:avLst/>
                  <a:gdLst>
                    <a:gd name="T0" fmla="*/ 926 w 1040"/>
                    <a:gd name="T1" fmla="*/ 500 h 1041"/>
                    <a:gd name="T2" fmla="*/ 927 w 1040"/>
                    <a:gd name="T3" fmla="*/ 521 h 1041"/>
                    <a:gd name="T4" fmla="*/ 520 w 1040"/>
                    <a:gd name="T5" fmla="*/ 928 h 1041"/>
                    <a:gd name="T6" fmla="*/ 113 w 1040"/>
                    <a:gd name="T7" fmla="*/ 521 h 1041"/>
                    <a:gd name="T8" fmla="*/ 520 w 1040"/>
                    <a:gd name="T9" fmla="*/ 114 h 1041"/>
                    <a:gd name="T10" fmla="*/ 747 w 1040"/>
                    <a:gd name="T11" fmla="*/ 183 h 1041"/>
                    <a:gd name="T12" fmla="*/ 830 w 1040"/>
                    <a:gd name="T13" fmla="*/ 103 h 1041"/>
                    <a:gd name="T14" fmla="*/ 520 w 1040"/>
                    <a:gd name="T15" fmla="*/ 1 h 1041"/>
                    <a:gd name="T16" fmla="*/ 0 w 1040"/>
                    <a:gd name="T17" fmla="*/ 521 h 1041"/>
                    <a:gd name="T18" fmla="*/ 520 w 1040"/>
                    <a:gd name="T19" fmla="*/ 1041 h 1041"/>
                    <a:gd name="T20" fmla="*/ 1040 w 1040"/>
                    <a:gd name="T21" fmla="*/ 520 h 1041"/>
                    <a:gd name="T22" fmla="*/ 1027 w 1040"/>
                    <a:gd name="T23" fmla="*/ 403 h 1041"/>
                    <a:gd name="T24" fmla="*/ 926 w 1040"/>
                    <a:gd name="T25" fmla="*/ 500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40" h="1041">
                      <a:moveTo>
                        <a:pt x="926" y="500"/>
                      </a:moveTo>
                      <a:cubicBezTo>
                        <a:pt x="927" y="506"/>
                        <a:pt x="927" y="513"/>
                        <a:pt x="927" y="521"/>
                      </a:cubicBezTo>
                      <a:cubicBezTo>
                        <a:pt x="927" y="745"/>
                        <a:pt x="745" y="927"/>
                        <a:pt x="520" y="928"/>
                      </a:cubicBezTo>
                      <a:cubicBezTo>
                        <a:pt x="295" y="928"/>
                        <a:pt x="113" y="746"/>
                        <a:pt x="113" y="521"/>
                      </a:cubicBezTo>
                      <a:cubicBezTo>
                        <a:pt x="113" y="296"/>
                        <a:pt x="295" y="114"/>
                        <a:pt x="520" y="114"/>
                      </a:cubicBezTo>
                      <a:cubicBezTo>
                        <a:pt x="604" y="114"/>
                        <a:pt x="682" y="139"/>
                        <a:pt x="747" y="183"/>
                      </a:cubicBezTo>
                      <a:cubicBezTo>
                        <a:pt x="830" y="103"/>
                        <a:pt x="830" y="103"/>
                        <a:pt x="830" y="103"/>
                      </a:cubicBezTo>
                      <a:cubicBezTo>
                        <a:pt x="743" y="39"/>
                        <a:pt x="636" y="0"/>
                        <a:pt x="520" y="1"/>
                      </a:cubicBezTo>
                      <a:cubicBezTo>
                        <a:pt x="233" y="1"/>
                        <a:pt x="0" y="234"/>
                        <a:pt x="0" y="521"/>
                      </a:cubicBezTo>
                      <a:cubicBezTo>
                        <a:pt x="0" y="808"/>
                        <a:pt x="233" y="1041"/>
                        <a:pt x="520" y="1041"/>
                      </a:cubicBezTo>
                      <a:cubicBezTo>
                        <a:pt x="807" y="1041"/>
                        <a:pt x="1040" y="808"/>
                        <a:pt x="1040" y="520"/>
                      </a:cubicBezTo>
                      <a:cubicBezTo>
                        <a:pt x="1040" y="480"/>
                        <a:pt x="1036" y="441"/>
                        <a:pt x="1027" y="403"/>
                      </a:cubicBezTo>
                      <a:lnTo>
                        <a:pt x="926" y="50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2" name="TextBox 9"/>
              <p:cNvSpPr txBox="1"/>
              <p:nvPr/>
            </p:nvSpPr>
            <p:spPr>
              <a:xfrm>
                <a:off x="577124" y="1168869"/>
                <a:ext cx="586090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21" latinLnBrk="0"/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정책 기반 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Snapshot 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백업과 선택적 복구를 통해 데이터 손실을 방지하고 운영 연속성을 확보합니다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.</a:t>
                </a:r>
              </a:p>
            </p:txBody>
          </p:sp>
        </p:grpSp>
      </p:grpSp>
      <p:grpSp>
        <p:nvGrpSpPr>
          <p:cNvPr id="89" name="그룹 88"/>
          <p:cNvGrpSpPr/>
          <p:nvPr/>
        </p:nvGrpSpPr>
        <p:grpSpPr>
          <a:xfrm>
            <a:off x="8005397" y="1261597"/>
            <a:ext cx="1485589" cy="187106"/>
            <a:chOff x="4899641" y="1714485"/>
            <a:chExt cx="1621709" cy="187106"/>
          </a:xfrm>
        </p:grpSpPr>
        <p:grpSp>
          <p:nvGrpSpPr>
            <p:cNvPr id="90" name="그룹 89"/>
            <p:cNvGrpSpPr/>
            <p:nvPr/>
          </p:nvGrpSpPr>
          <p:grpSpPr>
            <a:xfrm>
              <a:off x="4903555" y="1714485"/>
              <a:ext cx="1617795" cy="187106"/>
              <a:chOff x="4586156" y="1714485"/>
              <a:chExt cx="1617795" cy="187106"/>
            </a:xfrm>
          </p:grpSpPr>
          <p:sp>
            <p:nvSpPr>
              <p:cNvPr id="92" name="직사각형 91"/>
              <p:cNvSpPr/>
              <p:nvPr/>
            </p:nvSpPr>
            <p:spPr bwMode="gray">
              <a:xfrm>
                <a:off x="4586156" y="1714485"/>
                <a:ext cx="806183" cy="1871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요구사항 번호</a:t>
                </a:r>
              </a:p>
            </p:txBody>
          </p:sp>
          <p:sp>
            <p:nvSpPr>
              <p:cNvPr id="93" name="직사각형 92"/>
              <p:cNvSpPr/>
              <p:nvPr/>
            </p:nvSpPr>
            <p:spPr bwMode="gray">
              <a:xfrm>
                <a:off x="5392339" y="1714485"/>
                <a:ext cx="811612" cy="187106"/>
              </a:xfrm>
              <a:prstGeom prst="rect">
                <a:avLst/>
              </a:prstGeom>
              <a:solidFill>
                <a:srgbClr val="F5F5F6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SFR-IT-01</a:t>
                </a:r>
              </a:p>
            </p:txBody>
          </p:sp>
        </p:grpSp>
        <p:sp>
          <p:nvSpPr>
            <p:cNvPr id="91" name="자유형 90"/>
            <p:cNvSpPr/>
            <p:nvPr/>
          </p:nvSpPr>
          <p:spPr>
            <a:xfrm rot="10800000" flipV="1">
              <a:off x="4899641" y="1714485"/>
              <a:ext cx="1621708" cy="187105"/>
            </a:xfrm>
            <a:custGeom>
              <a:avLst/>
              <a:gdLst>
                <a:gd name="connsiteX0" fmla="*/ 0 w 2557462"/>
                <a:gd name="connsiteY0" fmla="*/ 320675 h 320675"/>
                <a:gd name="connsiteX1" fmla="*/ 0 w 2557462"/>
                <a:gd name="connsiteY1" fmla="*/ 0 h 320675"/>
                <a:gd name="connsiteX2" fmla="*/ 2557462 w 2557462"/>
                <a:gd name="connsiteY2" fmla="*/ 0 h 320675"/>
                <a:gd name="connsiteX3" fmla="*/ 2557462 w 2557462"/>
                <a:gd name="connsiteY3" fmla="*/ 320675 h 32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7462" h="320675">
                  <a:moveTo>
                    <a:pt x="0" y="320675"/>
                  </a:moveTo>
                  <a:lnTo>
                    <a:pt x="0" y="0"/>
                  </a:lnTo>
                  <a:lnTo>
                    <a:pt x="2557462" y="0"/>
                  </a:lnTo>
                  <a:lnTo>
                    <a:pt x="2557462" y="320675"/>
                  </a:lnTo>
                </a:path>
              </a:pathLst>
            </a:custGeom>
            <a:noFill/>
            <a:ln w="9525" cap="flat">
              <a:solidFill>
                <a:srgbClr val="C5C8CD"/>
              </a:solidFill>
              <a:prstDash val="solid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>
                <a:solidFill>
                  <a:prstClr val="black"/>
                </a:solidFill>
                <a:latin typeface="Calibri" panose="020F0502020204030204"/>
                <a:ea typeface="페이퍼로지 4 Regular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1C40459-7ADE-6C46-997B-59CFAEFF69A3}"/>
              </a:ext>
            </a:extLst>
          </p:cNvPr>
          <p:cNvGrpSpPr/>
          <p:nvPr/>
        </p:nvGrpSpPr>
        <p:grpSpPr>
          <a:xfrm>
            <a:off x="6816075" y="1977705"/>
            <a:ext cx="2667209" cy="387350"/>
            <a:chOff x="6823591" y="1952625"/>
            <a:chExt cx="2667209" cy="38735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971D136-BB67-13A7-FA57-DA05B42C5884}"/>
                </a:ext>
              </a:extLst>
            </p:cNvPr>
            <p:cNvSpPr/>
            <p:nvPr/>
          </p:nvSpPr>
          <p:spPr>
            <a:xfrm>
              <a:off x="7495157" y="2007800"/>
              <a:ext cx="1324080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dirty="0">
                  <a:solidFill>
                    <a:srgbClr val="02095A"/>
                  </a:solidFill>
                  <a:latin typeface="페이퍼로지 8 ExtraBold" pitchFamily="2" charset="-127"/>
                  <a:ea typeface="페이퍼로지 8 ExtraBold" pitchFamily="2" charset="-127"/>
                  <a:cs typeface="Arial" panose="020B0604020202020204" pitchFamily="34" charset="0"/>
                </a:rPr>
                <a:t>기능 상세 내역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231DE047-58C5-52BB-CB40-2DCD6D5CE6E6}"/>
                </a:ext>
              </a:extLst>
            </p:cNvPr>
            <p:cNvCxnSpPr/>
            <p:nvPr/>
          </p:nvCxnSpPr>
          <p:spPr>
            <a:xfrm>
              <a:off x="6823591" y="2339975"/>
              <a:ext cx="2667209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698F18A3-88D3-871A-740F-5EC7582A1CF0}"/>
                </a:ext>
              </a:extLst>
            </p:cNvPr>
            <p:cNvCxnSpPr/>
            <p:nvPr/>
          </p:nvCxnSpPr>
          <p:spPr>
            <a:xfrm>
              <a:off x="6823591" y="1952625"/>
              <a:ext cx="2667209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52D6EB6-EE34-359E-5469-315744D24258}"/>
              </a:ext>
            </a:extLst>
          </p:cNvPr>
          <p:cNvCxnSpPr/>
          <p:nvPr/>
        </p:nvCxnSpPr>
        <p:spPr>
          <a:xfrm>
            <a:off x="6816075" y="6081801"/>
            <a:ext cx="2667209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AC7A5DD-F26E-A812-D617-9D62E7E3FF3A}"/>
              </a:ext>
            </a:extLst>
          </p:cNvPr>
          <p:cNvCxnSpPr/>
          <p:nvPr/>
        </p:nvCxnSpPr>
        <p:spPr>
          <a:xfrm>
            <a:off x="6816075" y="3284984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39337FE-D65F-3DF4-4051-2086FBF4851A}"/>
              </a:ext>
            </a:extLst>
          </p:cNvPr>
          <p:cNvCxnSpPr/>
          <p:nvPr/>
        </p:nvCxnSpPr>
        <p:spPr>
          <a:xfrm>
            <a:off x="6816075" y="4221088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A491AF4-6627-7B34-DBE6-CECECAC0F7C8}"/>
              </a:ext>
            </a:extLst>
          </p:cNvPr>
          <p:cNvCxnSpPr/>
          <p:nvPr/>
        </p:nvCxnSpPr>
        <p:spPr>
          <a:xfrm>
            <a:off x="6816075" y="5157192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F92E3E6-25AB-7437-3394-CDBE60783486}"/>
              </a:ext>
            </a:extLst>
          </p:cNvPr>
          <p:cNvGrpSpPr/>
          <p:nvPr/>
        </p:nvGrpSpPr>
        <p:grpSpPr>
          <a:xfrm>
            <a:off x="6824388" y="2453524"/>
            <a:ext cx="2655779" cy="759452"/>
            <a:chOff x="6831904" y="2398664"/>
            <a:chExt cx="2655779" cy="759452"/>
          </a:xfrm>
        </p:grpSpPr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CAD6EC08-CDF2-4D0B-124C-753DCAFA337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53860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Master-eligible Node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다중화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노드 장애 자동 감지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서비스 지속성 확보</a:t>
              </a:r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BB64FAFA-38CC-27D7-7C66-0FCAA1CEEB6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고가용성 클러스터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C9FA6BE-822D-4F80-F53C-61F8C1BD7E15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1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C149683-D6C5-7F9F-CD3A-53641637CCD2}"/>
              </a:ext>
            </a:extLst>
          </p:cNvPr>
          <p:cNvGrpSpPr/>
          <p:nvPr/>
        </p:nvGrpSpPr>
        <p:grpSpPr>
          <a:xfrm>
            <a:off x="6824388" y="3389628"/>
            <a:ext cx="2655778" cy="759452"/>
            <a:chOff x="6831904" y="2398664"/>
            <a:chExt cx="2655778" cy="759452"/>
          </a:xfrm>
        </p:grpSpPr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8A49172D-CDE7-18BC-CAD3-34BA7C72D24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278323" cy="53860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Primary/Replica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분리 배치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장애 시 가용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Replica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활용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Shard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자동 재할당</a:t>
              </a: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676AAED-E47E-A174-E33A-8710D89D115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샤드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분산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·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복제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9DD37C6-3DE5-D131-35AB-0881B7E94EBB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C256F4C-8C57-B657-FE37-A2002AD75132}"/>
              </a:ext>
            </a:extLst>
          </p:cNvPr>
          <p:cNvGrpSpPr/>
          <p:nvPr/>
        </p:nvGrpSpPr>
        <p:grpSpPr>
          <a:xfrm>
            <a:off x="6824388" y="4325732"/>
            <a:ext cx="2655779" cy="759452"/>
            <a:chOff x="6831904" y="2398664"/>
            <a:chExt cx="2655779" cy="759452"/>
          </a:xfrm>
        </p:grpSpPr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064FB22B-EAC4-CAC3-B9FE-1E728CA8DBE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53860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Data Node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추가로 확장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ILM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기반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Rollover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저장계층 이동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삭제 정책</a:t>
              </a:r>
            </a:p>
          </p:txBody>
        </p: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8D1D4F41-7806-9B18-9501-2AF200DC608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수평 확장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·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수명주기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6332D08-B387-E041-9397-CF1548F3ACC0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3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7FE5179-28C2-9F98-1EB6-2FB7E1CD6C12}"/>
              </a:ext>
            </a:extLst>
          </p:cNvPr>
          <p:cNvGrpSpPr/>
          <p:nvPr/>
        </p:nvGrpSpPr>
        <p:grpSpPr>
          <a:xfrm>
            <a:off x="6824388" y="5225832"/>
            <a:ext cx="2655779" cy="759452"/>
            <a:chOff x="6831904" y="2398664"/>
            <a:chExt cx="2655779" cy="759452"/>
          </a:xfrm>
        </p:grpSpPr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2D76AC64-5248-D406-E4E9-9586BB71FB4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53860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외부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Repository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백업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주기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보존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대상 정책화</a:t>
              </a: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전체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/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선택 인덱스 복구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B413C93-4ABD-D3F2-DAC7-7F6E6923385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Snapshot 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백업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·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복구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48BD92D-C1D5-BC9D-6BB3-DEA24E0C935E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4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122" name="Shape 11">
            <a:extLst>
              <a:ext uri="{FF2B5EF4-FFF2-40B4-BE49-F238E27FC236}">
                <a16:creationId xmlns:a16="http://schemas.microsoft.com/office/drawing/2014/main" id="{80116C61-4250-7A5D-7887-843AD6C88493}"/>
              </a:ext>
            </a:extLst>
          </p:cNvPr>
          <p:cNvSpPr/>
          <p:nvPr/>
        </p:nvSpPr>
        <p:spPr>
          <a:xfrm>
            <a:off x="431106" y="3176392"/>
            <a:ext cx="5896360" cy="1136973"/>
          </a:xfrm>
          <a:prstGeom prst="roundRect">
            <a:avLst>
              <a:gd name="adj" fmla="val 6316"/>
            </a:avLst>
          </a:prstGeom>
          <a:solidFill>
            <a:srgbClr val="E8F0FB"/>
          </a:solidFill>
          <a:ln w="9525">
            <a:solidFill>
              <a:srgbClr val="2F7DD1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3" name="Text 12">
            <a:extLst>
              <a:ext uri="{FF2B5EF4-FFF2-40B4-BE49-F238E27FC236}">
                <a16:creationId xmlns:a16="http://schemas.microsoft.com/office/drawing/2014/main" id="{BD53924F-D80E-42A3-D83F-D382C331B89C}"/>
              </a:ext>
            </a:extLst>
          </p:cNvPr>
          <p:cNvSpPr/>
          <p:nvPr/>
        </p:nvSpPr>
        <p:spPr>
          <a:xfrm>
            <a:off x="498920" y="2077759"/>
            <a:ext cx="326594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Master-eligible Nodes  ·  클러스터 상태 및 노드 관리</a:t>
            </a:r>
            <a:endParaRPr lang="en-US" sz="9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4" name="Shape 13">
            <a:extLst>
              <a:ext uri="{FF2B5EF4-FFF2-40B4-BE49-F238E27FC236}">
                <a16:creationId xmlns:a16="http://schemas.microsoft.com/office/drawing/2014/main" id="{676C1888-076D-8CBB-61EE-3522F288E57A}"/>
              </a:ext>
            </a:extLst>
          </p:cNvPr>
          <p:cNvSpPr/>
          <p:nvPr/>
        </p:nvSpPr>
        <p:spPr>
          <a:xfrm>
            <a:off x="488415" y="2324647"/>
            <a:ext cx="187100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0B2A52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5" name="Text 14">
            <a:extLst>
              <a:ext uri="{FF2B5EF4-FFF2-40B4-BE49-F238E27FC236}">
                <a16:creationId xmlns:a16="http://schemas.microsoft.com/office/drawing/2014/main" id="{92D253B7-8CFC-51A5-995D-098F54607B4D}"/>
              </a:ext>
            </a:extLst>
          </p:cNvPr>
          <p:cNvSpPr/>
          <p:nvPr/>
        </p:nvSpPr>
        <p:spPr>
          <a:xfrm>
            <a:off x="547499" y="2361223"/>
            <a:ext cx="22156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A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⬢</a:t>
            </a:r>
            <a:endParaRPr lang="en-US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6" name="Text 15">
            <a:extLst>
              <a:ext uri="{FF2B5EF4-FFF2-40B4-BE49-F238E27FC236}">
                <a16:creationId xmlns:a16="http://schemas.microsoft.com/office/drawing/2014/main" id="{C4EF525B-5703-7E8F-C904-3DD46D78E3A4}"/>
              </a:ext>
            </a:extLst>
          </p:cNvPr>
          <p:cNvSpPr/>
          <p:nvPr/>
        </p:nvSpPr>
        <p:spPr>
          <a:xfrm>
            <a:off x="783837" y="2352079"/>
            <a:ext cx="15386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Master-eligible Node 1</a:t>
            </a:r>
            <a:endParaRPr lang="en-US" sz="9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7" name="Text 16">
            <a:extLst>
              <a:ext uri="{FF2B5EF4-FFF2-40B4-BE49-F238E27FC236}">
                <a16:creationId xmlns:a16="http://schemas.microsoft.com/office/drawing/2014/main" id="{DB6F2952-20E7-3B4A-A9CA-95B2C601F9C8}"/>
              </a:ext>
            </a:extLst>
          </p:cNvPr>
          <p:cNvSpPr/>
          <p:nvPr/>
        </p:nvSpPr>
        <p:spPr>
          <a:xfrm>
            <a:off x="783837" y="2562391"/>
            <a:ext cx="15386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67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Cluster State / Voting</a:t>
            </a:r>
            <a:endParaRPr lang="en-US" sz="8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8" name="Shape 17">
            <a:extLst>
              <a:ext uri="{FF2B5EF4-FFF2-40B4-BE49-F238E27FC236}">
                <a16:creationId xmlns:a16="http://schemas.microsoft.com/office/drawing/2014/main" id="{74C02B44-CF66-C678-A458-85E40277326E}"/>
              </a:ext>
            </a:extLst>
          </p:cNvPr>
          <p:cNvSpPr/>
          <p:nvPr/>
        </p:nvSpPr>
        <p:spPr>
          <a:xfrm>
            <a:off x="2433277" y="2324647"/>
            <a:ext cx="187100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0B2A52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9" name="Text 18">
            <a:extLst>
              <a:ext uri="{FF2B5EF4-FFF2-40B4-BE49-F238E27FC236}">
                <a16:creationId xmlns:a16="http://schemas.microsoft.com/office/drawing/2014/main" id="{4CE4D32A-891B-B9D7-D9F7-49692F1D4073}"/>
              </a:ext>
            </a:extLst>
          </p:cNvPr>
          <p:cNvSpPr/>
          <p:nvPr/>
        </p:nvSpPr>
        <p:spPr>
          <a:xfrm>
            <a:off x="2492361" y="2361223"/>
            <a:ext cx="22156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A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⬢</a:t>
            </a:r>
            <a:endParaRPr lang="en-US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0" name="Text 19">
            <a:extLst>
              <a:ext uri="{FF2B5EF4-FFF2-40B4-BE49-F238E27FC236}">
                <a16:creationId xmlns:a16="http://schemas.microsoft.com/office/drawing/2014/main" id="{7B203AFF-C660-86D1-C091-F3F58008B1BA}"/>
              </a:ext>
            </a:extLst>
          </p:cNvPr>
          <p:cNvSpPr/>
          <p:nvPr/>
        </p:nvSpPr>
        <p:spPr>
          <a:xfrm>
            <a:off x="2728699" y="2352079"/>
            <a:ext cx="15386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Master-eligible Node 2</a:t>
            </a:r>
            <a:endParaRPr lang="en-US" sz="9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1" name="Text 20">
            <a:extLst>
              <a:ext uri="{FF2B5EF4-FFF2-40B4-BE49-F238E27FC236}">
                <a16:creationId xmlns:a16="http://schemas.microsoft.com/office/drawing/2014/main" id="{7CEA13EA-C4BA-8EE1-4DE5-2749D077E252}"/>
              </a:ext>
            </a:extLst>
          </p:cNvPr>
          <p:cNvSpPr/>
          <p:nvPr/>
        </p:nvSpPr>
        <p:spPr>
          <a:xfrm>
            <a:off x="2728699" y="2562391"/>
            <a:ext cx="15386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67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Cluster State / Voting</a:t>
            </a:r>
            <a:endParaRPr lang="en-US" sz="8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2FF7F8BA-90DF-CA65-C0DB-D8B208F0FC97}"/>
              </a:ext>
            </a:extLst>
          </p:cNvPr>
          <p:cNvSpPr/>
          <p:nvPr/>
        </p:nvSpPr>
        <p:spPr>
          <a:xfrm>
            <a:off x="4378138" y="2324647"/>
            <a:ext cx="187100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0B2A52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3" name="Text 22">
            <a:extLst>
              <a:ext uri="{FF2B5EF4-FFF2-40B4-BE49-F238E27FC236}">
                <a16:creationId xmlns:a16="http://schemas.microsoft.com/office/drawing/2014/main" id="{65119362-85C3-A2FD-DF71-A4EAF6A9175B}"/>
              </a:ext>
            </a:extLst>
          </p:cNvPr>
          <p:cNvSpPr/>
          <p:nvPr/>
        </p:nvSpPr>
        <p:spPr>
          <a:xfrm>
            <a:off x="4437223" y="2361223"/>
            <a:ext cx="22156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A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⬢</a:t>
            </a:r>
            <a:endParaRPr lang="en-US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7" name="Text 23">
            <a:extLst>
              <a:ext uri="{FF2B5EF4-FFF2-40B4-BE49-F238E27FC236}">
                <a16:creationId xmlns:a16="http://schemas.microsoft.com/office/drawing/2014/main" id="{564092F8-3F39-EA1D-7542-43B958D9708D}"/>
              </a:ext>
            </a:extLst>
          </p:cNvPr>
          <p:cNvSpPr/>
          <p:nvPr/>
        </p:nvSpPr>
        <p:spPr>
          <a:xfrm>
            <a:off x="4673561" y="2352079"/>
            <a:ext cx="153865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Master-eligible Node 3</a:t>
            </a:r>
            <a:endParaRPr lang="en-US" sz="9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8" name="Text 24">
            <a:extLst>
              <a:ext uri="{FF2B5EF4-FFF2-40B4-BE49-F238E27FC236}">
                <a16:creationId xmlns:a16="http://schemas.microsoft.com/office/drawing/2014/main" id="{36D6CDD1-25CE-3A89-A62E-089BF4874484}"/>
              </a:ext>
            </a:extLst>
          </p:cNvPr>
          <p:cNvSpPr/>
          <p:nvPr/>
        </p:nvSpPr>
        <p:spPr>
          <a:xfrm>
            <a:off x="4673561" y="2562391"/>
            <a:ext cx="15386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67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Cluster State / Voting</a:t>
            </a:r>
            <a:endParaRPr lang="en-US" sz="8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6A6F03CC-C819-86D4-D651-4EC0CC1EEE2A}"/>
              </a:ext>
            </a:extLst>
          </p:cNvPr>
          <p:cNvGrpSpPr/>
          <p:nvPr/>
        </p:nvGrpSpPr>
        <p:grpSpPr>
          <a:xfrm>
            <a:off x="498920" y="3462874"/>
            <a:ext cx="5723804" cy="749229"/>
            <a:chOff x="502920" y="3264408"/>
            <a:chExt cx="7132320" cy="1097280"/>
          </a:xfrm>
        </p:grpSpPr>
        <p:sp>
          <p:nvSpPr>
            <p:cNvPr id="167" name="Shape 27">
              <a:extLst>
                <a:ext uri="{FF2B5EF4-FFF2-40B4-BE49-F238E27FC236}">
                  <a16:creationId xmlns:a16="http://schemas.microsoft.com/office/drawing/2014/main" id="{1A242F42-9FA0-B64A-0740-226E7C53172B}"/>
                </a:ext>
              </a:extLst>
            </p:cNvPr>
            <p:cNvSpPr/>
            <p:nvPr/>
          </p:nvSpPr>
          <p:spPr>
            <a:xfrm>
              <a:off x="502920" y="3264408"/>
              <a:ext cx="2316480" cy="109728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1430">
              <a:solidFill>
                <a:srgbClr val="0B2A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8" name="Shape 28">
              <a:extLst>
                <a:ext uri="{FF2B5EF4-FFF2-40B4-BE49-F238E27FC236}">
                  <a16:creationId xmlns:a16="http://schemas.microsoft.com/office/drawing/2014/main" id="{7049EF70-F393-94CC-B95C-04046EAE04FD}"/>
                </a:ext>
              </a:extLst>
            </p:cNvPr>
            <p:cNvSpPr/>
            <p:nvPr/>
          </p:nvSpPr>
          <p:spPr>
            <a:xfrm>
              <a:off x="502920" y="3264408"/>
              <a:ext cx="2316480" cy="292608"/>
            </a:xfrm>
            <a:prstGeom prst="rect">
              <a:avLst/>
            </a:prstGeom>
            <a:solidFill>
              <a:srgbClr val="0B2A52"/>
            </a:solidFill>
            <a:ln/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9" name="Text 29">
              <a:extLst>
                <a:ext uri="{FF2B5EF4-FFF2-40B4-BE49-F238E27FC236}">
                  <a16:creationId xmlns:a16="http://schemas.microsoft.com/office/drawing/2014/main" id="{1A50EA50-1272-A062-4C6F-EF035F496104}"/>
                </a:ext>
              </a:extLst>
            </p:cNvPr>
            <p:cNvSpPr/>
            <p:nvPr/>
          </p:nvSpPr>
          <p:spPr>
            <a:xfrm>
              <a:off x="576072" y="3282696"/>
              <a:ext cx="2179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▣  Data Node 1</a:t>
              </a:r>
              <a:endParaRPr lang="en-US" sz="10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0" name="Shape 30">
              <a:extLst>
                <a:ext uri="{FF2B5EF4-FFF2-40B4-BE49-F238E27FC236}">
                  <a16:creationId xmlns:a16="http://schemas.microsoft.com/office/drawing/2014/main" id="{82BCD7FB-2438-868F-D39A-6B1DD3433D27}"/>
                </a:ext>
              </a:extLst>
            </p:cNvPr>
            <p:cNvSpPr/>
            <p:nvPr/>
          </p:nvSpPr>
          <p:spPr>
            <a:xfrm>
              <a:off x="640080" y="3630168"/>
              <a:ext cx="2042160" cy="292608"/>
            </a:xfrm>
            <a:prstGeom prst="roundRect">
              <a:avLst>
                <a:gd name="adj" fmla="val 9375"/>
              </a:avLst>
            </a:prstGeom>
            <a:solidFill>
              <a:srgbClr val="1E63B8"/>
            </a:solidFill>
            <a:ln w="9525">
              <a:solidFill>
                <a:srgbClr val="0B2A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1" name="Text 31">
              <a:extLst>
                <a:ext uri="{FF2B5EF4-FFF2-40B4-BE49-F238E27FC236}">
                  <a16:creationId xmlns:a16="http://schemas.microsoft.com/office/drawing/2014/main" id="{CF3E9F0A-B1A4-09DF-3D6F-1F269646E61F}"/>
                </a:ext>
              </a:extLst>
            </p:cNvPr>
            <p:cNvSpPr/>
            <p:nvPr/>
          </p:nvSpPr>
          <p:spPr>
            <a:xfrm>
              <a:off x="640080" y="3630168"/>
              <a:ext cx="2042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Primary Shard 1</a:t>
              </a:r>
              <a:endParaRPr lang="en-US" sz="9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2" name="Shape 32">
              <a:extLst>
                <a:ext uri="{FF2B5EF4-FFF2-40B4-BE49-F238E27FC236}">
                  <a16:creationId xmlns:a16="http://schemas.microsoft.com/office/drawing/2014/main" id="{BF5620A1-DD80-0233-ADF0-0BEC51EA7506}"/>
                </a:ext>
              </a:extLst>
            </p:cNvPr>
            <p:cNvSpPr/>
            <p:nvPr/>
          </p:nvSpPr>
          <p:spPr>
            <a:xfrm>
              <a:off x="640080" y="3995928"/>
              <a:ext cx="2042160" cy="292608"/>
            </a:xfrm>
            <a:prstGeom prst="roundRect">
              <a:avLst>
                <a:gd name="adj" fmla="val 9375"/>
              </a:avLst>
            </a:prstGeom>
            <a:solidFill>
              <a:srgbClr val="E8F0FB"/>
            </a:solidFill>
            <a:ln w="9525">
              <a:solidFill>
                <a:srgbClr val="2F7DD1"/>
              </a:solidFill>
              <a:prstDash val="dash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3" name="Text 33">
              <a:extLst>
                <a:ext uri="{FF2B5EF4-FFF2-40B4-BE49-F238E27FC236}">
                  <a16:creationId xmlns:a16="http://schemas.microsoft.com/office/drawing/2014/main" id="{2DE33E60-1301-67E6-423D-49254ED0B11A}"/>
                </a:ext>
              </a:extLst>
            </p:cNvPr>
            <p:cNvSpPr/>
            <p:nvPr/>
          </p:nvSpPr>
          <p:spPr>
            <a:xfrm>
              <a:off x="640080" y="3995928"/>
              <a:ext cx="2042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0B2A52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Replica Shard 3</a:t>
              </a:r>
              <a:endParaRPr lang="en-US" sz="9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4" name="Shape 34">
              <a:extLst>
                <a:ext uri="{FF2B5EF4-FFF2-40B4-BE49-F238E27FC236}">
                  <a16:creationId xmlns:a16="http://schemas.microsoft.com/office/drawing/2014/main" id="{2B79547A-193C-B854-76B7-165EA2F62430}"/>
                </a:ext>
              </a:extLst>
            </p:cNvPr>
            <p:cNvSpPr/>
            <p:nvPr/>
          </p:nvSpPr>
          <p:spPr>
            <a:xfrm>
              <a:off x="2910840" y="3264408"/>
              <a:ext cx="2316480" cy="109728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1430">
              <a:solidFill>
                <a:srgbClr val="0B2A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5" name="Shape 35">
              <a:extLst>
                <a:ext uri="{FF2B5EF4-FFF2-40B4-BE49-F238E27FC236}">
                  <a16:creationId xmlns:a16="http://schemas.microsoft.com/office/drawing/2014/main" id="{1BFE448F-E339-83CD-4647-4CF5CFDA5907}"/>
                </a:ext>
              </a:extLst>
            </p:cNvPr>
            <p:cNvSpPr/>
            <p:nvPr/>
          </p:nvSpPr>
          <p:spPr>
            <a:xfrm>
              <a:off x="2910840" y="3264408"/>
              <a:ext cx="2316480" cy="292608"/>
            </a:xfrm>
            <a:prstGeom prst="rect">
              <a:avLst/>
            </a:prstGeom>
            <a:solidFill>
              <a:srgbClr val="0B2A52"/>
            </a:solidFill>
            <a:ln/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6" name="Text 36">
              <a:extLst>
                <a:ext uri="{FF2B5EF4-FFF2-40B4-BE49-F238E27FC236}">
                  <a16:creationId xmlns:a16="http://schemas.microsoft.com/office/drawing/2014/main" id="{7CE9C2ED-ABAA-754C-CDD9-2DDB1E3D53D4}"/>
                </a:ext>
              </a:extLst>
            </p:cNvPr>
            <p:cNvSpPr/>
            <p:nvPr/>
          </p:nvSpPr>
          <p:spPr>
            <a:xfrm>
              <a:off x="2983992" y="3282696"/>
              <a:ext cx="2179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▣  Data Node 2</a:t>
              </a:r>
              <a:endParaRPr lang="en-US" sz="10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7" name="Shape 37">
              <a:extLst>
                <a:ext uri="{FF2B5EF4-FFF2-40B4-BE49-F238E27FC236}">
                  <a16:creationId xmlns:a16="http://schemas.microsoft.com/office/drawing/2014/main" id="{F68BEF75-409D-DE76-D530-65C0580A735E}"/>
                </a:ext>
              </a:extLst>
            </p:cNvPr>
            <p:cNvSpPr/>
            <p:nvPr/>
          </p:nvSpPr>
          <p:spPr>
            <a:xfrm>
              <a:off x="3048000" y="3630168"/>
              <a:ext cx="2042160" cy="292608"/>
            </a:xfrm>
            <a:prstGeom prst="roundRect">
              <a:avLst>
                <a:gd name="adj" fmla="val 9375"/>
              </a:avLst>
            </a:prstGeom>
            <a:solidFill>
              <a:srgbClr val="E8F0FB"/>
            </a:solidFill>
            <a:ln w="9525">
              <a:solidFill>
                <a:srgbClr val="2F7DD1"/>
              </a:solidFill>
              <a:prstDash val="dash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8" name="Text 38">
              <a:extLst>
                <a:ext uri="{FF2B5EF4-FFF2-40B4-BE49-F238E27FC236}">
                  <a16:creationId xmlns:a16="http://schemas.microsoft.com/office/drawing/2014/main" id="{35406B10-55D1-9666-D18A-6EF12AA4EF7D}"/>
                </a:ext>
              </a:extLst>
            </p:cNvPr>
            <p:cNvSpPr/>
            <p:nvPr/>
          </p:nvSpPr>
          <p:spPr>
            <a:xfrm>
              <a:off x="3048000" y="3630168"/>
              <a:ext cx="2042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0B2A52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Replica Shard 1</a:t>
              </a:r>
              <a:endParaRPr lang="en-US" sz="9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9" name="Shape 39">
              <a:extLst>
                <a:ext uri="{FF2B5EF4-FFF2-40B4-BE49-F238E27FC236}">
                  <a16:creationId xmlns:a16="http://schemas.microsoft.com/office/drawing/2014/main" id="{8C165D43-314C-6AA5-9387-39AB60003B8C}"/>
                </a:ext>
              </a:extLst>
            </p:cNvPr>
            <p:cNvSpPr/>
            <p:nvPr/>
          </p:nvSpPr>
          <p:spPr>
            <a:xfrm>
              <a:off x="3048000" y="3995928"/>
              <a:ext cx="2042160" cy="292608"/>
            </a:xfrm>
            <a:prstGeom prst="roundRect">
              <a:avLst>
                <a:gd name="adj" fmla="val 9375"/>
              </a:avLst>
            </a:prstGeom>
            <a:solidFill>
              <a:srgbClr val="1E63B8"/>
            </a:solidFill>
            <a:ln w="9525">
              <a:solidFill>
                <a:srgbClr val="0B2A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80" name="Text 40">
              <a:extLst>
                <a:ext uri="{FF2B5EF4-FFF2-40B4-BE49-F238E27FC236}">
                  <a16:creationId xmlns:a16="http://schemas.microsoft.com/office/drawing/2014/main" id="{7B04C779-98AE-836E-C465-BEEB20104688}"/>
                </a:ext>
              </a:extLst>
            </p:cNvPr>
            <p:cNvSpPr/>
            <p:nvPr/>
          </p:nvSpPr>
          <p:spPr>
            <a:xfrm>
              <a:off x="3048000" y="3995928"/>
              <a:ext cx="2042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Primary Shard 2</a:t>
              </a:r>
              <a:endParaRPr lang="en-US" sz="9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81" name="Shape 41">
              <a:extLst>
                <a:ext uri="{FF2B5EF4-FFF2-40B4-BE49-F238E27FC236}">
                  <a16:creationId xmlns:a16="http://schemas.microsoft.com/office/drawing/2014/main" id="{A4AF7489-637C-0B21-F39B-BFC63F0840A1}"/>
                </a:ext>
              </a:extLst>
            </p:cNvPr>
            <p:cNvSpPr/>
            <p:nvPr/>
          </p:nvSpPr>
          <p:spPr>
            <a:xfrm>
              <a:off x="5318760" y="3264408"/>
              <a:ext cx="2316480" cy="109728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1430">
              <a:solidFill>
                <a:srgbClr val="0B2A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82" name="Shape 42">
              <a:extLst>
                <a:ext uri="{FF2B5EF4-FFF2-40B4-BE49-F238E27FC236}">
                  <a16:creationId xmlns:a16="http://schemas.microsoft.com/office/drawing/2014/main" id="{FA23CDA8-D562-85E3-AAFC-A2ADE40CDFB1}"/>
                </a:ext>
              </a:extLst>
            </p:cNvPr>
            <p:cNvSpPr/>
            <p:nvPr/>
          </p:nvSpPr>
          <p:spPr>
            <a:xfrm>
              <a:off x="5318760" y="3264408"/>
              <a:ext cx="2316480" cy="292608"/>
            </a:xfrm>
            <a:prstGeom prst="rect">
              <a:avLst/>
            </a:prstGeom>
            <a:solidFill>
              <a:srgbClr val="0B2A52"/>
            </a:solidFill>
            <a:ln/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83" name="Text 43">
              <a:extLst>
                <a:ext uri="{FF2B5EF4-FFF2-40B4-BE49-F238E27FC236}">
                  <a16:creationId xmlns:a16="http://schemas.microsoft.com/office/drawing/2014/main" id="{52D6F215-B1A1-D677-4814-12CA2F0EC1C1}"/>
                </a:ext>
              </a:extLst>
            </p:cNvPr>
            <p:cNvSpPr/>
            <p:nvPr/>
          </p:nvSpPr>
          <p:spPr>
            <a:xfrm>
              <a:off x="5391912" y="3282696"/>
              <a:ext cx="2179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▣  Data Node 3</a:t>
              </a:r>
              <a:endParaRPr lang="en-US" sz="10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84" name="Shape 44">
              <a:extLst>
                <a:ext uri="{FF2B5EF4-FFF2-40B4-BE49-F238E27FC236}">
                  <a16:creationId xmlns:a16="http://schemas.microsoft.com/office/drawing/2014/main" id="{9E4BCCA8-C5D3-7071-BECF-AC8E50704DB7}"/>
                </a:ext>
              </a:extLst>
            </p:cNvPr>
            <p:cNvSpPr/>
            <p:nvPr/>
          </p:nvSpPr>
          <p:spPr>
            <a:xfrm>
              <a:off x="5455920" y="3630168"/>
              <a:ext cx="2042160" cy="292608"/>
            </a:xfrm>
            <a:prstGeom prst="roundRect">
              <a:avLst>
                <a:gd name="adj" fmla="val 9375"/>
              </a:avLst>
            </a:prstGeom>
            <a:solidFill>
              <a:srgbClr val="1E63B8"/>
            </a:solidFill>
            <a:ln w="9525">
              <a:solidFill>
                <a:srgbClr val="0B2A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85" name="Text 45">
              <a:extLst>
                <a:ext uri="{FF2B5EF4-FFF2-40B4-BE49-F238E27FC236}">
                  <a16:creationId xmlns:a16="http://schemas.microsoft.com/office/drawing/2014/main" id="{84C57031-5825-A844-B19A-F2ECADEB8F67}"/>
                </a:ext>
              </a:extLst>
            </p:cNvPr>
            <p:cNvSpPr/>
            <p:nvPr/>
          </p:nvSpPr>
          <p:spPr>
            <a:xfrm>
              <a:off x="5455920" y="3630168"/>
              <a:ext cx="2042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Primary Shard 3</a:t>
              </a:r>
              <a:endParaRPr lang="en-US" sz="9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86" name="Shape 46">
              <a:extLst>
                <a:ext uri="{FF2B5EF4-FFF2-40B4-BE49-F238E27FC236}">
                  <a16:creationId xmlns:a16="http://schemas.microsoft.com/office/drawing/2014/main" id="{0015D327-F7EB-B3E5-EB28-BE3315846FB4}"/>
                </a:ext>
              </a:extLst>
            </p:cNvPr>
            <p:cNvSpPr/>
            <p:nvPr/>
          </p:nvSpPr>
          <p:spPr>
            <a:xfrm>
              <a:off x="5455920" y="3995928"/>
              <a:ext cx="2042160" cy="292608"/>
            </a:xfrm>
            <a:prstGeom prst="roundRect">
              <a:avLst>
                <a:gd name="adj" fmla="val 9375"/>
              </a:avLst>
            </a:prstGeom>
            <a:solidFill>
              <a:srgbClr val="E8F0FB"/>
            </a:solidFill>
            <a:ln w="9525">
              <a:solidFill>
                <a:srgbClr val="2F7DD1"/>
              </a:solidFill>
              <a:prstDash val="dash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87" name="Text 47">
              <a:extLst>
                <a:ext uri="{FF2B5EF4-FFF2-40B4-BE49-F238E27FC236}">
                  <a16:creationId xmlns:a16="http://schemas.microsoft.com/office/drawing/2014/main" id="{DFFB733D-D1B4-25EC-20DA-212698860769}"/>
                </a:ext>
              </a:extLst>
            </p:cNvPr>
            <p:cNvSpPr/>
            <p:nvPr/>
          </p:nvSpPr>
          <p:spPr>
            <a:xfrm>
              <a:off x="5455920" y="3995928"/>
              <a:ext cx="2042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0B2A52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Replica Shard 2</a:t>
              </a:r>
              <a:endParaRPr lang="en-US" sz="9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90" name="Text 12">
            <a:extLst>
              <a:ext uri="{FF2B5EF4-FFF2-40B4-BE49-F238E27FC236}">
                <a16:creationId xmlns:a16="http://schemas.microsoft.com/office/drawing/2014/main" id="{1B3C02A3-E7E2-C481-645F-B94A3E6EF131}"/>
              </a:ext>
            </a:extLst>
          </p:cNvPr>
          <p:cNvSpPr/>
          <p:nvPr/>
        </p:nvSpPr>
        <p:spPr>
          <a:xfrm>
            <a:off x="501063" y="3225084"/>
            <a:ext cx="326594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Data Nodes  ·  Primary / Replica Shard </a:t>
            </a:r>
            <a:r>
              <a:rPr lang="ko-KR" altLang="en-US" sz="950" b="1" dirty="0">
                <a:solidFill>
                  <a:srgbClr val="0B2A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 pitchFamily="34" charset="-120"/>
              </a:rPr>
              <a:t>분산 배치</a:t>
            </a:r>
          </a:p>
        </p:txBody>
      </p: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2FD2BCB4-2E16-E649-8A9B-09AD358FD055}"/>
              </a:ext>
            </a:extLst>
          </p:cNvPr>
          <p:cNvGrpSpPr/>
          <p:nvPr/>
        </p:nvGrpSpPr>
        <p:grpSpPr>
          <a:xfrm>
            <a:off x="412641" y="4744850"/>
            <a:ext cx="5902339" cy="1384450"/>
            <a:chOff x="-1571225" y="4653136"/>
            <a:chExt cx="7886205" cy="1384450"/>
          </a:xfrm>
        </p:grpSpPr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EEDBECBA-6711-A14B-4D2F-1486D0C5767D}"/>
                </a:ext>
              </a:extLst>
            </p:cNvPr>
            <p:cNvSpPr/>
            <p:nvPr/>
          </p:nvSpPr>
          <p:spPr>
            <a:xfrm>
              <a:off x="415199" y="4900614"/>
              <a:ext cx="1913477" cy="11369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193" name="Rectangle 25">
              <a:extLst>
                <a:ext uri="{FF2B5EF4-FFF2-40B4-BE49-F238E27FC236}">
                  <a16:creationId xmlns:a16="http://schemas.microsoft.com/office/drawing/2014/main" id="{E9B3FAB0-9A49-1748-F36F-69E4A59D93F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61092" y="4994853"/>
              <a:ext cx="1692691" cy="9618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저장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검색 요청을 여러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Data Node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에서 분산 처리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특정 노드의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CPU·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메모리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디스크 부하 집중 완화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</p:txBody>
        </p:sp>
        <p:grpSp>
          <p:nvGrpSpPr>
            <p:cNvPr id="194" name="그룹 193">
              <a:extLst>
                <a:ext uri="{FF2B5EF4-FFF2-40B4-BE49-F238E27FC236}">
                  <a16:creationId xmlns:a16="http://schemas.microsoft.com/office/drawing/2014/main" id="{F895E45F-0FC3-0700-A39F-26D63A5C7B2F}"/>
                </a:ext>
              </a:extLst>
            </p:cNvPr>
            <p:cNvGrpSpPr/>
            <p:nvPr/>
          </p:nvGrpSpPr>
          <p:grpSpPr>
            <a:xfrm>
              <a:off x="415199" y="4653136"/>
              <a:ext cx="1913477" cy="211558"/>
              <a:chOff x="456460" y="2315647"/>
              <a:chExt cx="4428343" cy="209098"/>
            </a:xfrm>
          </p:grpSpPr>
          <p:sp>
            <p:nvSpPr>
              <p:cNvPr id="195" name="AutoShape 227">
                <a:extLst>
                  <a:ext uri="{FF2B5EF4-FFF2-40B4-BE49-F238E27FC236}">
                    <a16:creationId xmlns:a16="http://schemas.microsoft.com/office/drawing/2014/main" id="{1B5031D3-8669-B65D-77FB-77620EA8768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69266" y="2355468"/>
                <a:ext cx="3802736" cy="16927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latinLnBrk="0"/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anose="020B0604020202020204" pitchFamily="34" charset="0"/>
                  </a:rPr>
                  <a:t>부하 분산</a:t>
                </a:r>
              </a:p>
            </p:txBody>
          </p:sp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C6C0DF06-ECF8-D7E2-926B-10E3C8FA3551}"/>
                  </a:ext>
                </a:extLst>
              </p:cNvPr>
              <p:cNvCxnSpPr/>
              <p:nvPr/>
            </p:nvCxnSpPr>
            <p:spPr>
              <a:xfrm>
                <a:off x="456460" y="2315647"/>
                <a:ext cx="4428343" cy="0"/>
              </a:xfrm>
              <a:prstGeom prst="line">
                <a:avLst/>
              </a:prstGeom>
              <a:ln w="9525"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9A02746A-2A08-BCAE-E298-1E9A0DBAAEF5}"/>
                </a:ext>
              </a:extLst>
            </p:cNvPr>
            <p:cNvSpPr/>
            <p:nvPr/>
          </p:nvSpPr>
          <p:spPr>
            <a:xfrm>
              <a:off x="2408351" y="4900614"/>
              <a:ext cx="1913477" cy="11369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198" name="Rectangle 25">
              <a:extLst>
                <a:ext uri="{FF2B5EF4-FFF2-40B4-BE49-F238E27FC236}">
                  <a16:creationId xmlns:a16="http://schemas.microsoft.com/office/drawing/2014/main" id="{023C6ADD-F7A5-2A6E-C930-2B524C0C018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554245" y="4994853"/>
              <a:ext cx="1692691" cy="807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샤드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 단위 병렬 저장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검색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데이터 증가 시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Data Node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추가로 처리용량 확장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2B75539B-E81D-417F-55E4-4B8DDE75D0B5}"/>
                </a:ext>
              </a:extLst>
            </p:cNvPr>
            <p:cNvGrpSpPr/>
            <p:nvPr/>
          </p:nvGrpSpPr>
          <p:grpSpPr>
            <a:xfrm>
              <a:off x="2408351" y="4653136"/>
              <a:ext cx="1913477" cy="211558"/>
              <a:chOff x="456460" y="2315647"/>
              <a:chExt cx="4428343" cy="209098"/>
            </a:xfrm>
          </p:grpSpPr>
          <p:sp>
            <p:nvSpPr>
              <p:cNvPr id="200" name="AutoShape 227">
                <a:extLst>
                  <a:ext uri="{FF2B5EF4-FFF2-40B4-BE49-F238E27FC236}">
                    <a16:creationId xmlns:a16="http://schemas.microsoft.com/office/drawing/2014/main" id="{57BFFCAB-C061-356E-3CCC-D8B17C4677A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69266" y="2355468"/>
                <a:ext cx="3802736" cy="16927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latinLnBrk="0"/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anose="020B0604020202020204" pitchFamily="34" charset="0"/>
                  </a:rPr>
                  <a:t>처리성능 확장</a:t>
                </a:r>
              </a:p>
            </p:txBody>
          </p:sp>
          <p:cxnSp>
            <p:nvCxnSpPr>
              <p:cNvPr id="201" name="직선 연결선 200">
                <a:extLst>
                  <a:ext uri="{FF2B5EF4-FFF2-40B4-BE49-F238E27FC236}">
                    <a16:creationId xmlns:a16="http://schemas.microsoft.com/office/drawing/2014/main" id="{92390B4E-50BA-A0F2-B53B-490D61C981D7}"/>
                  </a:ext>
                </a:extLst>
              </p:cNvPr>
              <p:cNvCxnSpPr/>
              <p:nvPr/>
            </p:nvCxnSpPr>
            <p:spPr>
              <a:xfrm>
                <a:off x="456460" y="2315647"/>
                <a:ext cx="4428343" cy="0"/>
              </a:xfrm>
              <a:prstGeom prst="line">
                <a:avLst/>
              </a:prstGeom>
              <a:ln w="9525"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9DE47735-BBFE-FFA9-C85C-8126E5FBBBD8}"/>
                </a:ext>
              </a:extLst>
            </p:cNvPr>
            <p:cNvSpPr/>
            <p:nvPr/>
          </p:nvSpPr>
          <p:spPr>
            <a:xfrm>
              <a:off x="4401503" y="4900614"/>
              <a:ext cx="1913477" cy="11369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203" name="Rectangle 25">
              <a:extLst>
                <a:ext uri="{FF2B5EF4-FFF2-40B4-BE49-F238E27FC236}">
                  <a16:creationId xmlns:a16="http://schemas.microsoft.com/office/drawing/2014/main" id="{5F09C59C-CE49-DC06-0418-09C8EA5650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547396" y="4994853"/>
              <a:ext cx="1692691" cy="807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Primary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와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Replica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의 물리적 분리 배치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장애 발생 시 가용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Replica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활용 및 </a:t>
              </a:r>
              <a:r>
                <a:rPr lang="ko-KR" altLang="en-US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샤드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 재할당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</p:txBody>
        </p: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71A22713-58FA-B0A1-1F40-AEF669B6119C}"/>
                </a:ext>
              </a:extLst>
            </p:cNvPr>
            <p:cNvGrpSpPr/>
            <p:nvPr/>
          </p:nvGrpSpPr>
          <p:grpSpPr>
            <a:xfrm>
              <a:off x="4401503" y="4653136"/>
              <a:ext cx="1913477" cy="211558"/>
              <a:chOff x="456460" y="2315647"/>
              <a:chExt cx="4428343" cy="209098"/>
            </a:xfrm>
          </p:grpSpPr>
          <p:sp>
            <p:nvSpPr>
              <p:cNvPr id="205" name="AutoShape 227">
                <a:extLst>
                  <a:ext uri="{FF2B5EF4-FFF2-40B4-BE49-F238E27FC236}">
                    <a16:creationId xmlns:a16="http://schemas.microsoft.com/office/drawing/2014/main" id="{159EF033-5925-820C-2ECF-5E2864F5A2E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69266" y="2355468"/>
                <a:ext cx="3802736" cy="16927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latinLnBrk="0"/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anose="020B0604020202020204" pitchFamily="34" charset="0"/>
                  </a:rPr>
                  <a:t>데이터 안정성</a:t>
                </a:r>
              </a:p>
            </p:txBody>
          </p:sp>
          <p:cxnSp>
            <p:nvCxnSpPr>
              <p:cNvPr id="206" name="직선 연결선 205">
                <a:extLst>
                  <a:ext uri="{FF2B5EF4-FFF2-40B4-BE49-F238E27FC236}">
                    <a16:creationId xmlns:a16="http://schemas.microsoft.com/office/drawing/2014/main" id="{9F2A493B-5249-A862-4DBF-77536EB70AD0}"/>
                  </a:ext>
                </a:extLst>
              </p:cNvPr>
              <p:cNvCxnSpPr/>
              <p:nvPr/>
            </p:nvCxnSpPr>
            <p:spPr>
              <a:xfrm>
                <a:off x="456460" y="2315647"/>
                <a:ext cx="4428343" cy="0"/>
              </a:xfrm>
              <a:prstGeom prst="line">
                <a:avLst/>
              </a:prstGeom>
              <a:ln w="9525"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8A0D8778-0A5C-3637-FCB5-9CBF44A090ED}"/>
                </a:ext>
              </a:extLst>
            </p:cNvPr>
            <p:cNvSpPr/>
            <p:nvPr/>
          </p:nvSpPr>
          <p:spPr>
            <a:xfrm>
              <a:off x="-1571225" y="4900614"/>
              <a:ext cx="1913477" cy="11369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208" name="Rectangle 25">
              <a:extLst>
                <a:ext uri="{FF2B5EF4-FFF2-40B4-BE49-F238E27FC236}">
                  <a16:creationId xmlns:a16="http://schemas.microsoft.com/office/drawing/2014/main" id="{85C59A15-A769-C6E0-922A-78A63080489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-1425332" y="4994853"/>
              <a:ext cx="1692691" cy="6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단일 노드 장애의 전체 서비스 확산 방지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정상 노드와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Replica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를 통한 서비스 지속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</p:txBody>
        </p:sp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CA17BF3C-D923-1763-0F86-917F3EC2604F}"/>
                </a:ext>
              </a:extLst>
            </p:cNvPr>
            <p:cNvGrpSpPr/>
            <p:nvPr/>
          </p:nvGrpSpPr>
          <p:grpSpPr>
            <a:xfrm>
              <a:off x="-1571225" y="4653136"/>
              <a:ext cx="1913477" cy="211558"/>
              <a:chOff x="456460" y="2315647"/>
              <a:chExt cx="4428343" cy="209098"/>
            </a:xfrm>
          </p:grpSpPr>
          <p:sp>
            <p:nvSpPr>
              <p:cNvPr id="210" name="AutoShape 227">
                <a:extLst>
                  <a:ext uri="{FF2B5EF4-FFF2-40B4-BE49-F238E27FC236}">
                    <a16:creationId xmlns:a16="http://schemas.microsoft.com/office/drawing/2014/main" id="{51D7ABA7-58A8-9295-7719-E9F1B57247A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69266" y="2355468"/>
                <a:ext cx="3802736" cy="169277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latinLnBrk="0"/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anose="020B0604020202020204" pitchFamily="34" charset="0"/>
                  </a:rPr>
                  <a:t>장애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anose="020B0604020202020204" pitchFamily="34" charset="0"/>
                  </a:rPr>
                  <a:t> 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anose="020B0604020202020204" pitchFamily="34" charset="0"/>
                  </a:rPr>
                  <a:t>격리</a:t>
                </a:r>
              </a:p>
            </p:txBody>
          </p:sp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FD1D40FD-6CC2-024F-26EF-6D406EE63EA2}"/>
                  </a:ext>
                </a:extLst>
              </p:cNvPr>
              <p:cNvCxnSpPr/>
              <p:nvPr/>
            </p:nvCxnSpPr>
            <p:spPr>
              <a:xfrm>
                <a:off x="456460" y="2315647"/>
                <a:ext cx="4428343" cy="0"/>
              </a:xfrm>
              <a:prstGeom prst="line">
                <a:avLst/>
              </a:prstGeom>
              <a:ln w="9525"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082725D0-7C5A-AF7F-2FB6-6C7A184E0C05}"/>
              </a:ext>
            </a:extLst>
          </p:cNvPr>
          <p:cNvGrpSpPr/>
          <p:nvPr/>
        </p:nvGrpSpPr>
        <p:grpSpPr>
          <a:xfrm>
            <a:off x="416358" y="1736812"/>
            <a:ext cx="2014683" cy="215444"/>
            <a:chOff x="416358" y="1564175"/>
            <a:chExt cx="2014683" cy="215444"/>
          </a:xfrm>
        </p:grpSpPr>
        <p:sp>
          <p:nvSpPr>
            <p:cNvPr id="217" name="Text Box 79">
              <a:extLst>
                <a:ext uri="{FF2B5EF4-FFF2-40B4-BE49-F238E27FC236}">
                  <a16:creationId xmlns:a16="http://schemas.microsoft.com/office/drawing/2014/main" id="{A64F90A7-4DE7-AD19-D7B4-2E5947257DF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6101" y="1564175"/>
              <a:ext cx="188494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fontAlgn="base">
                <a:spcBef>
                  <a:spcPts val="200"/>
                </a:spcBef>
                <a:buClr>
                  <a:srgbClr val="4D4D4D"/>
                </a:buClr>
              </a:pPr>
              <a:r>
                <a:rPr lang="en-US" altLang="ko-KR" sz="1400" dirty="0"/>
                <a:t>Elastic </a:t>
              </a:r>
              <a:r>
                <a:rPr lang="ko-KR" altLang="en-US" sz="1400" dirty="0"/>
                <a:t>고가용성 클러스터</a:t>
              </a:r>
            </a:p>
          </p:txBody>
        </p:sp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5CBA99CF-FB59-8FE2-C3BD-FC0FB7A37EE5}"/>
                </a:ext>
              </a:extLst>
            </p:cNvPr>
            <p:cNvGrpSpPr/>
            <p:nvPr/>
          </p:nvGrpSpPr>
          <p:grpSpPr>
            <a:xfrm>
              <a:off x="416358" y="1591470"/>
              <a:ext cx="103211" cy="165425"/>
              <a:chOff x="-120217" y="1731639"/>
              <a:chExt cx="98259" cy="157488"/>
            </a:xfrm>
          </p:grpSpPr>
          <p:sp>
            <p:nvSpPr>
              <p:cNvPr id="219" name="자유형 25">
                <a:extLst>
                  <a:ext uri="{FF2B5EF4-FFF2-40B4-BE49-F238E27FC236}">
                    <a16:creationId xmlns:a16="http://schemas.microsoft.com/office/drawing/2014/main" id="{03D94861-1C98-6A5A-305C-E1A3AB389573}"/>
                  </a:ext>
                </a:extLst>
              </p:cNvPr>
              <p:cNvSpPr/>
              <p:nvPr/>
            </p:nvSpPr>
            <p:spPr>
              <a:xfrm rot="5400000">
                <a:off x="-110611" y="1722036"/>
                <a:ext cx="79048" cy="98257"/>
              </a:xfrm>
              <a:custGeom>
                <a:avLst/>
                <a:gdLst>
                  <a:gd name="connsiteX0" fmla="*/ 0 w 79048"/>
                  <a:gd name="connsiteY0" fmla="*/ 98257 h 98257"/>
                  <a:gd name="connsiteX1" fmla="*/ 15638 w 79048"/>
                  <a:gd name="connsiteY1" fmla="*/ 78743 h 98257"/>
                  <a:gd name="connsiteX2" fmla="*/ 78742 w 79048"/>
                  <a:gd name="connsiteY2" fmla="*/ 0 h 98257"/>
                  <a:gd name="connsiteX3" fmla="*/ 79048 w 79048"/>
                  <a:gd name="connsiteY3" fmla="*/ 382 h 98257"/>
                  <a:gd name="connsiteX4" fmla="*/ 79048 w 79048"/>
                  <a:gd name="connsiteY4" fmla="*/ 54925 h 98257"/>
                  <a:gd name="connsiteX5" fmla="*/ 78743 w 79048"/>
                  <a:gd name="connsiteY5" fmla="*/ 54544 h 98257"/>
                  <a:gd name="connsiteX6" fmla="*/ 43712 w 79048"/>
                  <a:gd name="connsiteY6" fmla="*/ 98257 h 98257"/>
                  <a:gd name="connsiteX7" fmla="*/ 0 w 79048"/>
                  <a:gd name="connsiteY7" fmla="*/ 98257 h 9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048" h="98257">
                    <a:moveTo>
                      <a:pt x="0" y="98257"/>
                    </a:moveTo>
                    <a:lnTo>
                      <a:pt x="15638" y="78743"/>
                    </a:lnTo>
                    <a:lnTo>
                      <a:pt x="78742" y="0"/>
                    </a:lnTo>
                    <a:lnTo>
                      <a:pt x="79048" y="382"/>
                    </a:lnTo>
                    <a:lnTo>
                      <a:pt x="79048" y="54925"/>
                    </a:lnTo>
                    <a:lnTo>
                      <a:pt x="78743" y="54544"/>
                    </a:lnTo>
                    <a:lnTo>
                      <a:pt x="43712" y="98257"/>
                    </a:lnTo>
                    <a:lnTo>
                      <a:pt x="0" y="98257"/>
                    </a:lnTo>
                    <a:close/>
                  </a:path>
                </a:pathLst>
              </a:custGeom>
              <a:solidFill>
                <a:srgbClr val="0158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0" name="자유형 26">
                <a:extLst>
                  <a:ext uri="{FF2B5EF4-FFF2-40B4-BE49-F238E27FC236}">
                    <a16:creationId xmlns:a16="http://schemas.microsoft.com/office/drawing/2014/main" id="{9CA9BE1F-71D1-8635-4972-F695AD627C3D}"/>
                  </a:ext>
                </a:extLst>
              </p:cNvPr>
              <p:cNvSpPr/>
              <p:nvPr/>
            </p:nvSpPr>
            <p:spPr>
              <a:xfrm rot="5400000">
                <a:off x="-132316" y="1743738"/>
                <a:ext cx="43714" cy="19515"/>
              </a:xfrm>
              <a:custGeom>
                <a:avLst/>
                <a:gdLst>
                  <a:gd name="connsiteX0" fmla="*/ 0 w 43714"/>
                  <a:gd name="connsiteY0" fmla="*/ 19515 h 19515"/>
                  <a:gd name="connsiteX1" fmla="*/ 15640 w 43714"/>
                  <a:gd name="connsiteY1" fmla="*/ 0 h 19515"/>
                  <a:gd name="connsiteX2" fmla="*/ 2 w 43714"/>
                  <a:gd name="connsiteY2" fmla="*/ 19514 h 19515"/>
                  <a:gd name="connsiteX3" fmla="*/ 43714 w 43714"/>
                  <a:gd name="connsiteY3" fmla="*/ 19514 h 19515"/>
                  <a:gd name="connsiteX4" fmla="*/ 43713 w 43714"/>
                  <a:gd name="connsiteY4" fmla="*/ 19515 h 19515"/>
                  <a:gd name="connsiteX5" fmla="*/ 0 w 43714"/>
                  <a:gd name="connsiteY5" fmla="*/ 19515 h 1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714" h="19515">
                    <a:moveTo>
                      <a:pt x="0" y="19515"/>
                    </a:moveTo>
                    <a:lnTo>
                      <a:pt x="15640" y="0"/>
                    </a:lnTo>
                    <a:lnTo>
                      <a:pt x="2" y="19514"/>
                    </a:lnTo>
                    <a:lnTo>
                      <a:pt x="43714" y="19514"/>
                    </a:lnTo>
                    <a:lnTo>
                      <a:pt x="43713" y="19515"/>
                    </a:lnTo>
                    <a:lnTo>
                      <a:pt x="0" y="1951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21" name="자유형 27">
                <a:extLst>
                  <a:ext uri="{FF2B5EF4-FFF2-40B4-BE49-F238E27FC236}">
                    <a16:creationId xmlns:a16="http://schemas.microsoft.com/office/drawing/2014/main" id="{6BBDD523-9E25-42F7-7642-E71F90017A4D}"/>
                  </a:ext>
                </a:extLst>
              </p:cNvPr>
              <p:cNvSpPr/>
              <p:nvPr/>
            </p:nvSpPr>
            <p:spPr>
              <a:xfrm rot="5400000">
                <a:off x="-93035" y="1739611"/>
                <a:ext cx="63410" cy="78744"/>
              </a:xfrm>
              <a:custGeom>
                <a:avLst/>
                <a:gdLst>
                  <a:gd name="connsiteX0" fmla="*/ 0 w 63410"/>
                  <a:gd name="connsiteY0" fmla="*/ 78744 h 78744"/>
                  <a:gd name="connsiteX1" fmla="*/ 63104 w 63410"/>
                  <a:gd name="connsiteY1" fmla="*/ 0 h 78744"/>
                  <a:gd name="connsiteX2" fmla="*/ 63410 w 63410"/>
                  <a:gd name="connsiteY2" fmla="*/ 381 h 78744"/>
                  <a:gd name="connsiteX3" fmla="*/ 63410 w 63410"/>
                  <a:gd name="connsiteY3" fmla="*/ 383 h 78744"/>
                  <a:gd name="connsiteX4" fmla="*/ 63104 w 63410"/>
                  <a:gd name="connsiteY4" fmla="*/ 1 h 78744"/>
                  <a:gd name="connsiteX5" fmla="*/ 0 w 63410"/>
                  <a:gd name="connsiteY5" fmla="*/ 78744 h 7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10" h="78744">
                    <a:moveTo>
                      <a:pt x="0" y="78744"/>
                    </a:moveTo>
                    <a:lnTo>
                      <a:pt x="63104" y="0"/>
                    </a:lnTo>
                    <a:lnTo>
                      <a:pt x="63410" y="381"/>
                    </a:lnTo>
                    <a:lnTo>
                      <a:pt x="63410" y="383"/>
                    </a:lnTo>
                    <a:lnTo>
                      <a:pt x="63104" y="1"/>
                    </a:lnTo>
                    <a:lnTo>
                      <a:pt x="0" y="787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22" name="자유형 28">
                <a:extLst>
                  <a:ext uri="{FF2B5EF4-FFF2-40B4-BE49-F238E27FC236}">
                    <a16:creationId xmlns:a16="http://schemas.microsoft.com/office/drawing/2014/main" id="{A5DAFC3E-46C7-85E3-F85A-4EA44B3D7B24}"/>
                  </a:ext>
                </a:extLst>
              </p:cNvPr>
              <p:cNvSpPr/>
              <p:nvPr/>
            </p:nvSpPr>
            <p:spPr>
              <a:xfrm rot="5400000">
                <a:off x="-110497" y="1800971"/>
                <a:ext cx="78437" cy="97876"/>
              </a:xfrm>
              <a:custGeom>
                <a:avLst/>
                <a:gdLst>
                  <a:gd name="connsiteX0" fmla="*/ 0 w 78437"/>
                  <a:gd name="connsiteY0" fmla="*/ 54543 h 97876"/>
                  <a:gd name="connsiteX1" fmla="*/ 0 w 78437"/>
                  <a:gd name="connsiteY1" fmla="*/ 0 h 97876"/>
                  <a:gd name="connsiteX2" fmla="*/ 78437 w 78437"/>
                  <a:gd name="connsiteY2" fmla="*/ 97876 h 97876"/>
                  <a:gd name="connsiteX3" fmla="*/ 34726 w 78437"/>
                  <a:gd name="connsiteY3" fmla="*/ 97876 h 97876"/>
                  <a:gd name="connsiteX4" fmla="*/ 0 w 78437"/>
                  <a:gd name="connsiteY4" fmla="*/ 54543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37" h="97876">
                    <a:moveTo>
                      <a:pt x="0" y="54543"/>
                    </a:moveTo>
                    <a:lnTo>
                      <a:pt x="0" y="0"/>
                    </a:lnTo>
                    <a:lnTo>
                      <a:pt x="78437" y="97876"/>
                    </a:lnTo>
                    <a:lnTo>
                      <a:pt x="34726" y="97876"/>
                    </a:lnTo>
                    <a:lnTo>
                      <a:pt x="0" y="54543"/>
                    </a:lnTo>
                    <a:close/>
                  </a:path>
                </a:pathLst>
              </a:custGeom>
              <a:solidFill>
                <a:srgbClr val="0209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srgbClr val="01033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0E30EABD-45CC-C00C-271E-853B21C58E3F}"/>
              </a:ext>
            </a:extLst>
          </p:cNvPr>
          <p:cNvGrpSpPr/>
          <p:nvPr/>
        </p:nvGrpSpPr>
        <p:grpSpPr>
          <a:xfrm>
            <a:off x="424236" y="4459916"/>
            <a:ext cx="1905870" cy="215444"/>
            <a:chOff x="416358" y="1564175"/>
            <a:chExt cx="1905870" cy="215444"/>
          </a:xfrm>
        </p:grpSpPr>
        <p:sp>
          <p:nvSpPr>
            <p:cNvPr id="224" name="Text Box 79">
              <a:extLst>
                <a:ext uri="{FF2B5EF4-FFF2-40B4-BE49-F238E27FC236}">
                  <a16:creationId xmlns:a16="http://schemas.microsoft.com/office/drawing/2014/main" id="{A4B58611-BC94-83B3-0E8A-D6224BC2C0D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6101" y="1564175"/>
              <a:ext cx="1776127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fontAlgn="base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400" dirty="0"/>
                <a:t>다중 노드 분산 배치 효과</a:t>
              </a:r>
            </a:p>
          </p:txBody>
        </p:sp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8230FA0B-5CB3-51BB-EDB9-119ECF41E762}"/>
                </a:ext>
              </a:extLst>
            </p:cNvPr>
            <p:cNvGrpSpPr/>
            <p:nvPr/>
          </p:nvGrpSpPr>
          <p:grpSpPr>
            <a:xfrm>
              <a:off x="416358" y="1591470"/>
              <a:ext cx="103211" cy="165425"/>
              <a:chOff x="-120217" y="1731639"/>
              <a:chExt cx="98259" cy="157488"/>
            </a:xfrm>
          </p:grpSpPr>
          <p:sp>
            <p:nvSpPr>
              <p:cNvPr id="226" name="자유형 25">
                <a:extLst>
                  <a:ext uri="{FF2B5EF4-FFF2-40B4-BE49-F238E27FC236}">
                    <a16:creationId xmlns:a16="http://schemas.microsoft.com/office/drawing/2014/main" id="{9754381F-97B0-153C-8276-48BE7C2F76B3}"/>
                  </a:ext>
                </a:extLst>
              </p:cNvPr>
              <p:cNvSpPr/>
              <p:nvPr/>
            </p:nvSpPr>
            <p:spPr>
              <a:xfrm rot="5400000">
                <a:off x="-110611" y="1722036"/>
                <a:ext cx="79048" cy="98257"/>
              </a:xfrm>
              <a:custGeom>
                <a:avLst/>
                <a:gdLst>
                  <a:gd name="connsiteX0" fmla="*/ 0 w 79048"/>
                  <a:gd name="connsiteY0" fmla="*/ 98257 h 98257"/>
                  <a:gd name="connsiteX1" fmla="*/ 15638 w 79048"/>
                  <a:gd name="connsiteY1" fmla="*/ 78743 h 98257"/>
                  <a:gd name="connsiteX2" fmla="*/ 78742 w 79048"/>
                  <a:gd name="connsiteY2" fmla="*/ 0 h 98257"/>
                  <a:gd name="connsiteX3" fmla="*/ 79048 w 79048"/>
                  <a:gd name="connsiteY3" fmla="*/ 382 h 98257"/>
                  <a:gd name="connsiteX4" fmla="*/ 79048 w 79048"/>
                  <a:gd name="connsiteY4" fmla="*/ 54925 h 98257"/>
                  <a:gd name="connsiteX5" fmla="*/ 78743 w 79048"/>
                  <a:gd name="connsiteY5" fmla="*/ 54544 h 98257"/>
                  <a:gd name="connsiteX6" fmla="*/ 43712 w 79048"/>
                  <a:gd name="connsiteY6" fmla="*/ 98257 h 98257"/>
                  <a:gd name="connsiteX7" fmla="*/ 0 w 79048"/>
                  <a:gd name="connsiteY7" fmla="*/ 98257 h 9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048" h="98257">
                    <a:moveTo>
                      <a:pt x="0" y="98257"/>
                    </a:moveTo>
                    <a:lnTo>
                      <a:pt x="15638" y="78743"/>
                    </a:lnTo>
                    <a:lnTo>
                      <a:pt x="78742" y="0"/>
                    </a:lnTo>
                    <a:lnTo>
                      <a:pt x="79048" y="382"/>
                    </a:lnTo>
                    <a:lnTo>
                      <a:pt x="79048" y="54925"/>
                    </a:lnTo>
                    <a:lnTo>
                      <a:pt x="78743" y="54544"/>
                    </a:lnTo>
                    <a:lnTo>
                      <a:pt x="43712" y="98257"/>
                    </a:lnTo>
                    <a:lnTo>
                      <a:pt x="0" y="98257"/>
                    </a:lnTo>
                    <a:close/>
                  </a:path>
                </a:pathLst>
              </a:custGeom>
              <a:solidFill>
                <a:srgbClr val="0158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7" name="자유형 26">
                <a:extLst>
                  <a:ext uri="{FF2B5EF4-FFF2-40B4-BE49-F238E27FC236}">
                    <a16:creationId xmlns:a16="http://schemas.microsoft.com/office/drawing/2014/main" id="{0DB41AC7-DCC7-3E05-0272-909BE2A402B1}"/>
                  </a:ext>
                </a:extLst>
              </p:cNvPr>
              <p:cNvSpPr/>
              <p:nvPr/>
            </p:nvSpPr>
            <p:spPr>
              <a:xfrm rot="5400000">
                <a:off x="-132316" y="1743738"/>
                <a:ext cx="43714" cy="19515"/>
              </a:xfrm>
              <a:custGeom>
                <a:avLst/>
                <a:gdLst>
                  <a:gd name="connsiteX0" fmla="*/ 0 w 43714"/>
                  <a:gd name="connsiteY0" fmla="*/ 19515 h 19515"/>
                  <a:gd name="connsiteX1" fmla="*/ 15640 w 43714"/>
                  <a:gd name="connsiteY1" fmla="*/ 0 h 19515"/>
                  <a:gd name="connsiteX2" fmla="*/ 2 w 43714"/>
                  <a:gd name="connsiteY2" fmla="*/ 19514 h 19515"/>
                  <a:gd name="connsiteX3" fmla="*/ 43714 w 43714"/>
                  <a:gd name="connsiteY3" fmla="*/ 19514 h 19515"/>
                  <a:gd name="connsiteX4" fmla="*/ 43713 w 43714"/>
                  <a:gd name="connsiteY4" fmla="*/ 19515 h 19515"/>
                  <a:gd name="connsiteX5" fmla="*/ 0 w 43714"/>
                  <a:gd name="connsiteY5" fmla="*/ 19515 h 1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714" h="19515">
                    <a:moveTo>
                      <a:pt x="0" y="19515"/>
                    </a:moveTo>
                    <a:lnTo>
                      <a:pt x="15640" y="0"/>
                    </a:lnTo>
                    <a:lnTo>
                      <a:pt x="2" y="19514"/>
                    </a:lnTo>
                    <a:lnTo>
                      <a:pt x="43714" y="19514"/>
                    </a:lnTo>
                    <a:lnTo>
                      <a:pt x="43713" y="19515"/>
                    </a:lnTo>
                    <a:lnTo>
                      <a:pt x="0" y="1951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28" name="자유형 27">
                <a:extLst>
                  <a:ext uri="{FF2B5EF4-FFF2-40B4-BE49-F238E27FC236}">
                    <a16:creationId xmlns:a16="http://schemas.microsoft.com/office/drawing/2014/main" id="{E0DB24A4-A060-BEC8-1DF1-35517021C5A8}"/>
                  </a:ext>
                </a:extLst>
              </p:cNvPr>
              <p:cNvSpPr/>
              <p:nvPr/>
            </p:nvSpPr>
            <p:spPr>
              <a:xfrm rot="5400000">
                <a:off x="-93035" y="1739611"/>
                <a:ext cx="63410" cy="78744"/>
              </a:xfrm>
              <a:custGeom>
                <a:avLst/>
                <a:gdLst>
                  <a:gd name="connsiteX0" fmla="*/ 0 w 63410"/>
                  <a:gd name="connsiteY0" fmla="*/ 78744 h 78744"/>
                  <a:gd name="connsiteX1" fmla="*/ 63104 w 63410"/>
                  <a:gd name="connsiteY1" fmla="*/ 0 h 78744"/>
                  <a:gd name="connsiteX2" fmla="*/ 63410 w 63410"/>
                  <a:gd name="connsiteY2" fmla="*/ 381 h 78744"/>
                  <a:gd name="connsiteX3" fmla="*/ 63410 w 63410"/>
                  <a:gd name="connsiteY3" fmla="*/ 383 h 78744"/>
                  <a:gd name="connsiteX4" fmla="*/ 63104 w 63410"/>
                  <a:gd name="connsiteY4" fmla="*/ 1 h 78744"/>
                  <a:gd name="connsiteX5" fmla="*/ 0 w 63410"/>
                  <a:gd name="connsiteY5" fmla="*/ 78744 h 7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10" h="78744">
                    <a:moveTo>
                      <a:pt x="0" y="78744"/>
                    </a:moveTo>
                    <a:lnTo>
                      <a:pt x="63104" y="0"/>
                    </a:lnTo>
                    <a:lnTo>
                      <a:pt x="63410" y="381"/>
                    </a:lnTo>
                    <a:lnTo>
                      <a:pt x="63410" y="383"/>
                    </a:lnTo>
                    <a:lnTo>
                      <a:pt x="63104" y="1"/>
                    </a:lnTo>
                    <a:lnTo>
                      <a:pt x="0" y="787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29" name="자유형 28">
                <a:extLst>
                  <a:ext uri="{FF2B5EF4-FFF2-40B4-BE49-F238E27FC236}">
                    <a16:creationId xmlns:a16="http://schemas.microsoft.com/office/drawing/2014/main" id="{25AEC7B2-87BF-D302-8E80-478349D9A3F6}"/>
                  </a:ext>
                </a:extLst>
              </p:cNvPr>
              <p:cNvSpPr/>
              <p:nvPr/>
            </p:nvSpPr>
            <p:spPr>
              <a:xfrm rot="5400000">
                <a:off x="-110497" y="1800971"/>
                <a:ext cx="78437" cy="97876"/>
              </a:xfrm>
              <a:custGeom>
                <a:avLst/>
                <a:gdLst>
                  <a:gd name="connsiteX0" fmla="*/ 0 w 78437"/>
                  <a:gd name="connsiteY0" fmla="*/ 54543 h 97876"/>
                  <a:gd name="connsiteX1" fmla="*/ 0 w 78437"/>
                  <a:gd name="connsiteY1" fmla="*/ 0 h 97876"/>
                  <a:gd name="connsiteX2" fmla="*/ 78437 w 78437"/>
                  <a:gd name="connsiteY2" fmla="*/ 97876 h 97876"/>
                  <a:gd name="connsiteX3" fmla="*/ 34726 w 78437"/>
                  <a:gd name="connsiteY3" fmla="*/ 97876 h 97876"/>
                  <a:gd name="connsiteX4" fmla="*/ 0 w 78437"/>
                  <a:gd name="connsiteY4" fmla="*/ 54543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37" h="97876">
                    <a:moveTo>
                      <a:pt x="0" y="54543"/>
                    </a:moveTo>
                    <a:lnTo>
                      <a:pt x="0" y="0"/>
                    </a:lnTo>
                    <a:lnTo>
                      <a:pt x="78437" y="97876"/>
                    </a:lnTo>
                    <a:lnTo>
                      <a:pt x="34726" y="97876"/>
                    </a:lnTo>
                    <a:lnTo>
                      <a:pt x="0" y="54543"/>
                    </a:lnTo>
                    <a:close/>
                  </a:path>
                </a:pathLst>
              </a:custGeom>
              <a:solidFill>
                <a:srgbClr val="0209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srgbClr val="01033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2904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그룹 133"/>
          <p:cNvGrpSpPr/>
          <p:nvPr/>
        </p:nvGrpSpPr>
        <p:grpSpPr>
          <a:xfrm>
            <a:off x="415199" y="383253"/>
            <a:ext cx="4481035" cy="419085"/>
            <a:chOff x="415199" y="383253"/>
            <a:chExt cx="4481035" cy="419085"/>
          </a:xfrm>
        </p:grpSpPr>
        <p:sp>
          <p:nvSpPr>
            <p:cNvPr id="135" name="Rectangle 4"/>
            <p:cNvSpPr>
              <a:spLocks noChangeArrowheads="1"/>
            </p:cNvSpPr>
            <p:nvPr/>
          </p:nvSpPr>
          <p:spPr bwMode="auto">
            <a:xfrm>
              <a:off x="415199" y="383253"/>
              <a:ext cx="448103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217475" lvl="0" indent="-217475" defTabSz="957689" fontAlgn="t" latinLnBrk="0">
                <a:spcAft>
                  <a:spcPts val="200"/>
                </a:spcAft>
              </a:pP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3.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상세 구축방안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&gt; 3.1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기능  요구사항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 IT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운영관리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3.1.7.1 </a:t>
              </a:r>
              <a:r>
                <a:rPr lang="ko-KR" altLang="en-US" sz="900" spc="-30" dirty="0" err="1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통합로그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기반 모니터링 환경 구축</a:t>
              </a:r>
              <a:endParaRPr lang="en-US" altLang="ko-KR" sz="900" spc="-30" dirty="0">
                <a:solidFill>
                  <a:schemeClr val="bg1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6" name="Rectangle 4"/>
            <p:cNvSpPr>
              <a:spLocks noChangeArrowheads="1"/>
            </p:cNvSpPr>
            <p:nvPr/>
          </p:nvSpPr>
          <p:spPr bwMode="auto">
            <a:xfrm>
              <a:off x="415199" y="556117"/>
              <a:ext cx="2457917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1pPr>
              <a:lvl2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fontAlgn="t" latinLnBrk="0"/>
              <a:r>
                <a:rPr lang="en-US" altLang="ko-KR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3.1.7.1.5 </a:t>
              </a:r>
              <a:r>
                <a:rPr lang="ko-KR" altLang="en-US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로그 검색 기능 제공</a:t>
              </a:r>
              <a:endParaRPr lang="en-US" altLang="ko-KR" sz="1600" spc="-3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415199" y="931585"/>
            <a:ext cx="6624272" cy="393793"/>
            <a:chOff x="415199" y="959742"/>
            <a:chExt cx="6624272" cy="393793"/>
          </a:xfrm>
        </p:grpSpPr>
        <p:grpSp>
          <p:nvGrpSpPr>
            <p:cNvPr id="79" name="그룹 78"/>
            <p:cNvGrpSpPr/>
            <p:nvPr/>
          </p:nvGrpSpPr>
          <p:grpSpPr>
            <a:xfrm>
              <a:off x="415199" y="959742"/>
              <a:ext cx="5835979" cy="184666"/>
              <a:chOff x="415199" y="959742"/>
              <a:chExt cx="5835979" cy="184666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415199" y="994131"/>
                <a:ext cx="120786" cy="115888"/>
                <a:chOff x="477838" y="1011238"/>
                <a:chExt cx="117476" cy="11271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87" name="Freeform 10"/>
                <p:cNvSpPr>
                  <a:spLocks/>
                </p:cNvSpPr>
                <p:nvPr/>
              </p:nvSpPr>
              <p:spPr bwMode="auto">
                <a:xfrm>
                  <a:off x="498476" y="1022350"/>
                  <a:ext cx="96838" cy="71437"/>
                </a:xfrm>
                <a:custGeom>
                  <a:avLst/>
                  <a:gdLst>
                    <a:gd name="T0" fmla="*/ 22 w 61"/>
                    <a:gd name="T1" fmla="*/ 45 h 45"/>
                    <a:gd name="T2" fmla="*/ 0 w 61"/>
                    <a:gd name="T3" fmla="*/ 23 h 45"/>
                    <a:gd name="T4" fmla="*/ 7 w 61"/>
                    <a:gd name="T5" fmla="*/ 17 h 45"/>
                    <a:gd name="T6" fmla="*/ 22 w 61"/>
                    <a:gd name="T7" fmla="*/ 32 h 45"/>
                    <a:gd name="T8" fmla="*/ 54 w 61"/>
                    <a:gd name="T9" fmla="*/ 0 h 45"/>
                    <a:gd name="T10" fmla="*/ 61 w 61"/>
                    <a:gd name="T11" fmla="*/ 7 h 45"/>
                    <a:gd name="T12" fmla="*/ 22 w 61"/>
                    <a:gd name="T13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1" h="45">
                      <a:moveTo>
                        <a:pt x="22" y="45"/>
                      </a:moveTo>
                      <a:lnTo>
                        <a:pt x="0" y="23"/>
                      </a:lnTo>
                      <a:lnTo>
                        <a:pt x="7" y="17"/>
                      </a:lnTo>
                      <a:lnTo>
                        <a:pt x="22" y="32"/>
                      </a:lnTo>
                      <a:lnTo>
                        <a:pt x="54" y="0"/>
                      </a:lnTo>
                      <a:lnTo>
                        <a:pt x="61" y="7"/>
                      </a:lnTo>
                      <a:lnTo>
                        <a:pt x="22" y="4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8" name="Freeform 11"/>
                <p:cNvSpPr>
                  <a:spLocks/>
                </p:cNvSpPr>
                <p:nvPr/>
              </p:nvSpPr>
              <p:spPr bwMode="auto">
                <a:xfrm>
                  <a:off x="477838" y="1011238"/>
                  <a:ext cx="112713" cy="112712"/>
                </a:xfrm>
                <a:custGeom>
                  <a:avLst/>
                  <a:gdLst>
                    <a:gd name="T0" fmla="*/ 926 w 1040"/>
                    <a:gd name="T1" fmla="*/ 500 h 1041"/>
                    <a:gd name="T2" fmla="*/ 927 w 1040"/>
                    <a:gd name="T3" fmla="*/ 521 h 1041"/>
                    <a:gd name="T4" fmla="*/ 520 w 1040"/>
                    <a:gd name="T5" fmla="*/ 928 h 1041"/>
                    <a:gd name="T6" fmla="*/ 113 w 1040"/>
                    <a:gd name="T7" fmla="*/ 521 h 1041"/>
                    <a:gd name="T8" fmla="*/ 520 w 1040"/>
                    <a:gd name="T9" fmla="*/ 114 h 1041"/>
                    <a:gd name="T10" fmla="*/ 747 w 1040"/>
                    <a:gd name="T11" fmla="*/ 183 h 1041"/>
                    <a:gd name="T12" fmla="*/ 830 w 1040"/>
                    <a:gd name="T13" fmla="*/ 103 h 1041"/>
                    <a:gd name="T14" fmla="*/ 520 w 1040"/>
                    <a:gd name="T15" fmla="*/ 1 h 1041"/>
                    <a:gd name="T16" fmla="*/ 0 w 1040"/>
                    <a:gd name="T17" fmla="*/ 521 h 1041"/>
                    <a:gd name="T18" fmla="*/ 520 w 1040"/>
                    <a:gd name="T19" fmla="*/ 1041 h 1041"/>
                    <a:gd name="T20" fmla="*/ 1040 w 1040"/>
                    <a:gd name="T21" fmla="*/ 520 h 1041"/>
                    <a:gd name="T22" fmla="*/ 1027 w 1040"/>
                    <a:gd name="T23" fmla="*/ 403 h 1041"/>
                    <a:gd name="T24" fmla="*/ 926 w 1040"/>
                    <a:gd name="T25" fmla="*/ 500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40" h="1041">
                      <a:moveTo>
                        <a:pt x="926" y="500"/>
                      </a:moveTo>
                      <a:cubicBezTo>
                        <a:pt x="927" y="506"/>
                        <a:pt x="927" y="513"/>
                        <a:pt x="927" y="521"/>
                      </a:cubicBezTo>
                      <a:cubicBezTo>
                        <a:pt x="927" y="745"/>
                        <a:pt x="745" y="927"/>
                        <a:pt x="520" y="928"/>
                      </a:cubicBezTo>
                      <a:cubicBezTo>
                        <a:pt x="295" y="928"/>
                        <a:pt x="113" y="746"/>
                        <a:pt x="113" y="521"/>
                      </a:cubicBezTo>
                      <a:cubicBezTo>
                        <a:pt x="113" y="296"/>
                        <a:pt x="295" y="114"/>
                        <a:pt x="520" y="114"/>
                      </a:cubicBezTo>
                      <a:cubicBezTo>
                        <a:pt x="604" y="114"/>
                        <a:pt x="682" y="139"/>
                        <a:pt x="747" y="183"/>
                      </a:cubicBezTo>
                      <a:cubicBezTo>
                        <a:pt x="830" y="103"/>
                        <a:pt x="830" y="103"/>
                        <a:pt x="830" y="103"/>
                      </a:cubicBezTo>
                      <a:cubicBezTo>
                        <a:pt x="743" y="39"/>
                        <a:pt x="636" y="0"/>
                        <a:pt x="520" y="1"/>
                      </a:cubicBezTo>
                      <a:cubicBezTo>
                        <a:pt x="233" y="1"/>
                        <a:pt x="0" y="234"/>
                        <a:pt x="0" y="521"/>
                      </a:cubicBezTo>
                      <a:cubicBezTo>
                        <a:pt x="0" y="808"/>
                        <a:pt x="233" y="1041"/>
                        <a:pt x="520" y="1041"/>
                      </a:cubicBezTo>
                      <a:cubicBezTo>
                        <a:pt x="807" y="1041"/>
                        <a:pt x="1040" y="808"/>
                        <a:pt x="1040" y="520"/>
                      </a:cubicBezTo>
                      <a:cubicBezTo>
                        <a:pt x="1040" y="480"/>
                        <a:pt x="1036" y="441"/>
                        <a:pt x="1027" y="403"/>
                      </a:cubicBezTo>
                      <a:lnTo>
                        <a:pt x="926" y="50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6" name="TextBox 9"/>
              <p:cNvSpPr txBox="1"/>
              <p:nvPr/>
            </p:nvSpPr>
            <p:spPr>
              <a:xfrm>
                <a:off x="577124" y="959742"/>
                <a:ext cx="567405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21" latinLnBrk="0"/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저널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·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로그의 데이터 특성과 주요 검색 시나리오를 반영하여 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Index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와 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Mapping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을 최적화합니다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.  </a:t>
                </a:r>
              </a:p>
            </p:txBody>
          </p:sp>
        </p:grpSp>
        <p:grpSp>
          <p:nvGrpSpPr>
            <p:cNvPr id="80" name="그룹 79"/>
            <p:cNvGrpSpPr/>
            <p:nvPr/>
          </p:nvGrpSpPr>
          <p:grpSpPr>
            <a:xfrm>
              <a:off x="415199" y="1168869"/>
              <a:ext cx="6624272" cy="184666"/>
              <a:chOff x="415199" y="1168869"/>
              <a:chExt cx="6624272" cy="184666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415199" y="1203258"/>
                <a:ext cx="120786" cy="115888"/>
                <a:chOff x="477838" y="1011238"/>
                <a:chExt cx="117476" cy="11271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83" name="Freeform 10"/>
                <p:cNvSpPr>
                  <a:spLocks/>
                </p:cNvSpPr>
                <p:nvPr/>
              </p:nvSpPr>
              <p:spPr bwMode="auto">
                <a:xfrm>
                  <a:off x="498476" y="1022350"/>
                  <a:ext cx="96838" cy="71437"/>
                </a:xfrm>
                <a:custGeom>
                  <a:avLst/>
                  <a:gdLst>
                    <a:gd name="T0" fmla="*/ 22 w 61"/>
                    <a:gd name="T1" fmla="*/ 45 h 45"/>
                    <a:gd name="T2" fmla="*/ 0 w 61"/>
                    <a:gd name="T3" fmla="*/ 23 h 45"/>
                    <a:gd name="T4" fmla="*/ 7 w 61"/>
                    <a:gd name="T5" fmla="*/ 17 h 45"/>
                    <a:gd name="T6" fmla="*/ 22 w 61"/>
                    <a:gd name="T7" fmla="*/ 32 h 45"/>
                    <a:gd name="T8" fmla="*/ 54 w 61"/>
                    <a:gd name="T9" fmla="*/ 0 h 45"/>
                    <a:gd name="T10" fmla="*/ 61 w 61"/>
                    <a:gd name="T11" fmla="*/ 7 h 45"/>
                    <a:gd name="T12" fmla="*/ 22 w 61"/>
                    <a:gd name="T13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1" h="45">
                      <a:moveTo>
                        <a:pt x="22" y="45"/>
                      </a:moveTo>
                      <a:lnTo>
                        <a:pt x="0" y="23"/>
                      </a:lnTo>
                      <a:lnTo>
                        <a:pt x="7" y="17"/>
                      </a:lnTo>
                      <a:lnTo>
                        <a:pt x="22" y="32"/>
                      </a:lnTo>
                      <a:lnTo>
                        <a:pt x="54" y="0"/>
                      </a:lnTo>
                      <a:lnTo>
                        <a:pt x="61" y="7"/>
                      </a:lnTo>
                      <a:lnTo>
                        <a:pt x="22" y="4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4" name="Freeform 11"/>
                <p:cNvSpPr>
                  <a:spLocks/>
                </p:cNvSpPr>
                <p:nvPr/>
              </p:nvSpPr>
              <p:spPr bwMode="auto">
                <a:xfrm>
                  <a:off x="477838" y="1011238"/>
                  <a:ext cx="112713" cy="112712"/>
                </a:xfrm>
                <a:custGeom>
                  <a:avLst/>
                  <a:gdLst>
                    <a:gd name="T0" fmla="*/ 926 w 1040"/>
                    <a:gd name="T1" fmla="*/ 500 h 1041"/>
                    <a:gd name="T2" fmla="*/ 927 w 1040"/>
                    <a:gd name="T3" fmla="*/ 521 h 1041"/>
                    <a:gd name="T4" fmla="*/ 520 w 1040"/>
                    <a:gd name="T5" fmla="*/ 928 h 1041"/>
                    <a:gd name="T6" fmla="*/ 113 w 1040"/>
                    <a:gd name="T7" fmla="*/ 521 h 1041"/>
                    <a:gd name="T8" fmla="*/ 520 w 1040"/>
                    <a:gd name="T9" fmla="*/ 114 h 1041"/>
                    <a:gd name="T10" fmla="*/ 747 w 1040"/>
                    <a:gd name="T11" fmla="*/ 183 h 1041"/>
                    <a:gd name="T12" fmla="*/ 830 w 1040"/>
                    <a:gd name="T13" fmla="*/ 103 h 1041"/>
                    <a:gd name="T14" fmla="*/ 520 w 1040"/>
                    <a:gd name="T15" fmla="*/ 1 h 1041"/>
                    <a:gd name="T16" fmla="*/ 0 w 1040"/>
                    <a:gd name="T17" fmla="*/ 521 h 1041"/>
                    <a:gd name="T18" fmla="*/ 520 w 1040"/>
                    <a:gd name="T19" fmla="*/ 1041 h 1041"/>
                    <a:gd name="T20" fmla="*/ 1040 w 1040"/>
                    <a:gd name="T21" fmla="*/ 520 h 1041"/>
                    <a:gd name="T22" fmla="*/ 1027 w 1040"/>
                    <a:gd name="T23" fmla="*/ 403 h 1041"/>
                    <a:gd name="T24" fmla="*/ 926 w 1040"/>
                    <a:gd name="T25" fmla="*/ 500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40" h="1041">
                      <a:moveTo>
                        <a:pt x="926" y="500"/>
                      </a:moveTo>
                      <a:cubicBezTo>
                        <a:pt x="927" y="506"/>
                        <a:pt x="927" y="513"/>
                        <a:pt x="927" y="521"/>
                      </a:cubicBezTo>
                      <a:cubicBezTo>
                        <a:pt x="927" y="745"/>
                        <a:pt x="745" y="927"/>
                        <a:pt x="520" y="928"/>
                      </a:cubicBezTo>
                      <a:cubicBezTo>
                        <a:pt x="295" y="928"/>
                        <a:pt x="113" y="746"/>
                        <a:pt x="113" y="521"/>
                      </a:cubicBezTo>
                      <a:cubicBezTo>
                        <a:pt x="113" y="296"/>
                        <a:pt x="295" y="114"/>
                        <a:pt x="520" y="114"/>
                      </a:cubicBezTo>
                      <a:cubicBezTo>
                        <a:pt x="604" y="114"/>
                        <a:pt x="682" y="139"/>
                        <a:pt x="747" y="183"/>
                      </a:cubicBezTo>
                      <a:cubicBezTo>
                        <a:pt x="830" y="103"/>
                        <a:pt x="830" y="103"/>
                        <a:pt x="830" y="103"/>
                      </a:cubicBezTo>
                      <a:cubicBezTo>
                        <a:pt x="743" y="39"/>
                        <a:pt x="636" y="0"/>
                        <a:pt x="520" y="1"/>
                      </a:cubicBezTo>
                      <a:cubicBezTo>
                        <a:pt x="233" y="1"/>
                        <a:pt x="0" y="234"/>
                        <a:pt x="0" y="521"/>
                      </a:cubicBezTo>
                      <a:cubicBezTo>
                        <a:pt x="0" y="808"/>
                        <a:pt x="233" y="1041"/>
                        <a:pt x="520" y="1041"/>
                      </a:cubicBezTo>
                      <a:cubicBezTo>
                        <a:pt x="807" y="1041"/>
                        <a:pt x="1040" y="808"/>
                        <a:pt x="1040" y="520"/>
                      </a:cubicBezTo>
                      <a:cubicBezTo>
                        <a:pt x="1040" y="480"/>
                        <a:pt x="1036" y="441"/>
                        <a:pt x="1027" y="403"/>
                      </a:cubicBezTo>
                      <a:lnTo>
                        <a:pt x="926" y="50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2" name="TextBox 9"/>
              <p:cNvSpPr txBox="1"/>
              <p:nvPr/>
            </p:nvSpPr>
            <p:spPr>
              <a:xfrm>
                <a:off x="577124" y="1168869"/>
                <a:ext cx="646234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21" latinLnBrk="0"/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거래 식별정보와 운영 로그를 연계하여 대규모 데이터에서도 신속한 거래 추적과 장애 원인 분석을 지원합니다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.</a:t>
                </a:r>
              </a:p>
            </p:txBody>
          </p:sp>
        </p:grpSp>
      </p:grpSp>
      <p:grpSp>
        <p:nvGrpSpPr>
          <p:cNvPr id="89" name="그룹 88"/>
          <p:cNvGrpSpPr/>
          <p:nvPr/>
        </p:nvGrpSpPr>
        <p:grpSpPr>
          <a:xfrm>
            <a:off x="8005397" y="1261597"/>
            <a:ext cx="1485589" cy="187106"/>
            <a:chOff x="4899641" y="1714485"/>
            <a:chExt cx="1621709" cy="187106"/>
          </a:xfrm>
        </p:grpSpPr>
        <p:grpSp>
          <p:nvGrpSpPr>
            <p:cNvPr id="90" name="그룹 89"/>
            <p:cNvGrpSpPr/>
            <p:nvPr/>
          </p:nvGrpSpPr>
          <p:grpSpPr>
            <a:xfrm>
              <a:off x="4903555" y="1714485"/>
              <a:ext cx="1617795" cy="187106"/>
              <a:chOff x="4586156" y="1714485"/>
              <a:chExt cx="1617795" cy="187106"/>
            </a:xfrm>
          </p:grpSpPr>
          <p:sp>
            <p:nvSpPr>
              <p:cNvPr id="92" name="직사각형 91"/>
              <p:cNvSpPr/>
              <p:nvPr/>
            </p:nvSpPr>
            <p:spPr bwMode="gray">
              <a:xfrm>
                <a:off x="4586156" y="1714485"/>
                <a:ext cx="806183" cy="1871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요구사항 번호</a:t>
                </a:r>
              </a:p>
            </p:txBody>
          </p:sp>
          <p:sp>
            <p:nvSpPr>
              <p:cNvPr id="93" name="직사각형 92"/>
              <p:cNvSpPr/>
              <p:nvPr/>
            </p:nvSpPr>
            <p:spPr bwMode="gray">
              <a:xfrm>
                <a:off x="5392339" y="1714485"/>
                <a:ext cx="811612" cy="187106"/>
              </a:xfrm>
              <a:prstGeom prst="rect">
                <a:avLst/>
              </a:prstGeom>
              <a:solidFill>
                <a:srgbClr val="F5F5F6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SFR-IT-01</a:t>
                </a:r>
              </a:p>
            </p:txBody>
          </p:sp>
        </p:grpSp>
        <p:sp>
          <p:nvSpPr>
            <p:cNvPr id="91" name="자유형 90"/>
            <p:cNvSpPr/>
            <p:nvPr/>
          </p:nvSpPr>
          <p:spPr>
            <a:xfrm rot="10800000" flipV="1">
              <a:off x="4899641" y="1714485"/>
              <a:ext cx="1621708" cy="187105"/>
            </a:xfrm>
            <a:custGeom>
              <a:avLst/>
              <a:gdLst>
                <a:gd name="connsiteX0" fmla="*/ 0 w 2557462"/>
                <a:gd name="connsiteY0" fmla="*/ 320675 h 320675"/>
                <a:gd name="connsiteX1" fmla="*/ 0 w 2557462"/>
                <a:gd name="connsiteY1" fmla="*/ 0 h 320675"/>
                <a:gd name="connsiteX2" fmla="*/ 2557462 w 2557462"/>
                <a:gd name="connsiteY2" fmla="*/ 0 h 320675"/>
                <a:gd name="connsiteX3" fmla="*/ 2557462 w 2557462"/>
                <a:gd name="connsiteY3" fmla="*/ 320675 h 32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7462" h="320675">
                  <a:moveTo>
                    <a:pt x="0" y="320675"/>
                  </a:moveTo>
                  <a:lnTo>
                    <a:pt x="0" y="0"/>
                  </a:lnTo>
                  <a:lnTo>
                    <a:pt x="2557462" y="0"/>
                  </a:lnTo>
                  <a:lnTo>
                    <a:pt x="2557462" y="320675"/>
                  </a:lnTo>
                </a:path>
              </a:pathLst>
            </a:custGeom>
            <a:noFill/>
            <a:ln w="9525" cap="flat">
              <a:solidFill>
                <a:srgbClr val="C5C8CD"/>
              </a:solidFill>
              <a:prstDash val="solid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>
                <a:solidFill>
                  <a:prstClr val="black"/>
                </a:solidFill>
                <a:latin typeface="Calibri" panose="020F0502020204030204"/>
                <a:ea typeface="페이퍼로지 4 Regular" pitchFamily="2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2446FC4-3151-51CC-44C4-AE021E3DAC28}"/>
              </a:ext>
            </a:extLst>
          </p:cNvPr>
          <p:cNvGrpSpPr/>
          <p:nvPr/>
        </p:nvGrpSpPr>
        <p:grpSpPr>
          <a:xfrm>
            <a:off x="6816075" y="1977705"/>
            <a:ext cx="2667209" cy="387350"/>
            <a:chOff x="6823591" y="1952625"/>
            <a:chExt cx="2667209" cy="38735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E6F89BC-E08A-59EA-B20A-67406CDCBAC3}"/>
                </a:ext>
              </a:extLst>
            </p:cNvPr>
            <p:cNvSpPr/>
            <p:nvPr/>
          </p:nvSpPr>
          <p:spPr>
            <a:xfrm>
              <a:off x="7495157" y="2007800"/>
              <a:ext cx="1324080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dirty="0">
                  <a:solidFill>
                    <a:srgbClr val="02095A"/>
                  </a:solidFill>
                  <a:latin typeface="페이퍼로지 8 ExtraBold" pitchFamily="2" charset="-127"/>
                  <a:ea typeface="페이퍼로지 8 ExtraBold" pitchFamily="2" charset="-127"/>
                  <a:cs typeface="Arial" panose="020B0604020202020204" pitchFamily="34" charset="0"/>
                </a:rPr>
                <a:t>기능 상세 내역</a:t>
              </a: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8C27A95-521F-8A59-7B49-A369A076F0D0}"/>
                </a:ext>
              </a:extLst>
            </p:cNvPr>
            <p:cNvCxnSpPr/>
            <p:nvPr/>
          </p:nvCxnSpPr>
          <p:spPr>
            <a:xfrm>
              <a:off x="6823591" y="2339975"/>
              <a:ext cx="2667209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073D134B-2B53-640F-C391-774E3014AD3E}"/>
                </a:ext>
              </a:extLst>
            </p:cNvPr>
            <p:cNvCxnSpPr/>
            <p:nvPr/>
          </p:nvCxnSpPr>
          <p:spPr>
            <a:xfrm>
              <a:off x="6823591" y="1952625"/>
              <a:ext cx="2667209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9858E7E-837C-C39E-E6F7-AA112DC16FF6}"/>
              </a:ext>
            </a:extLst>
          </p:cNvPr>
          <p:cNvCxnSpPr/>
          <p:nvPr/>
        </p:nvCxnSpPr>
        <p:spPr>
          <a:xfrm>
            <a:off x="6816075" y="6081801"/>
            <a:ext cx="2667209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69C7749-9DF7-D274-427D-18A28AA35FCD}"/>
              </a:ext>
            </a:extLst>
          </p:cNvPr>
          <p:cNvCxnSpPr/>
          <p:nvPr/>
        </p:nvCxnSpPr>
        <p:spPr>
          <a:xfrm>
            <a:off x="6816075" y="3237485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D2AAF51-0B67-6376-3057-353717DB4EBF}"/>
              </a:ext>
            </a:extLst>
          </p:cNvPr>
          <p:cNvCxnSpPr/>
          <p:nvPr/>
        </p:nvCxnSpPr>
        <p:spPr>
          <a:xfrm>
            <a:off x="6816075" y="4184625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9493D34-548A-AB92-3A3C-297688038582}"/>
              </a:ext>
            </a:extLst>
          </p:cNvPr>
          <p:cNvCxnSpPr/>
          <p:nvPr/>
        </p:nvCxnSpPr>
        <p:spPr>
          <a:xfrm>
            <a:off x="6816075" y="5121891"/>
            <a:ext cx="2667209" cy="0"/>
          </a:xfrm>
          <a:prstGeom prst="line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06F5B76-62FD-2C52-8B3F-D6F4393B6A1C}"/>
              </a:ext>
            </a:extLst>
          </p:cNvPr>
          <p:cNvGrpSpPr/>
          <p:nvPr/>
        </p:nvGrpSpPr>
        <p:grpSpPr>
          <a:xfrm>
            <a:off x="6824388" y="2553409"/>
            <a:ext cx="2655779" cy="528620"/>
            <a:chOff x="6831904" y="2398664"/>
            <a:chExt cx="2655779" cy="528620"/>
          </a:xfrm>
        </p:grpSpPr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FFA52175-1A4E-0702-CB67-0B69321D483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307777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데이터 특성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검색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목적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보존정책에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따라 저널과 운영로그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Index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를 구분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3BB0CFFC-F14C-641D-A487-10E7FFB044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저널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·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로그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Index 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설계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65B18FC-A7DB-AE56-A1E0-B7C0B1FE9BB6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1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0247DAE-283E-5331-3E0C-88C95465B331}"/>
              </a:ext>
            </a:extLst>
          </p:cNvPr>
          <p:cNvGrpSpPr/>
          <p:nvPr/>
        </p:nvGrpSpPr>
        <p:grpSpPr>
          <a:xfrm>
            <a:off x="6824388" y="3356992"/>
            <a:ext cx="2655778" cy="682508"/>
            <a:chOff x="6831904" y="2398664"/>
            <a:chExt cx="2655778" cy="682508"/>
          </a:xfrm>
        </p:grpSpPr>
        <p:sp>
          <p:nvSpPr>
            <p:cNvPr id="40" name="Rectangle 25">
              <a:extLst>
                <a:ext uri="{FF2B5EF4-FFF2-40B4-BE49-F238E27FC236}">
                  <a16:creationId xmlns:a16="http://schemas.microsoft.com/office/drawing/2014/main" id="{F0EC0C6B-CD53-DFC1-2DBF-E25AEC8D63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278323" cy="461665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수신 로그를 즉시 검색 가능한 구조로 저장하고 표준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Mapping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적용 </a:t>
              </a:r>
              <a:b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</a:b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(near real-time)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98A0F2C5-A2C5-4475-378B-CF1365851F6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실시간 저장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·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인덱싱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655BA15-494E-06C0-C0C2-2077196A7516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2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D1CD278-234E-C838-11EF-620DB00D4B41}"/>
              </a:ext>
            </a:extLst>
          </p:cNvPr>
          <p:cNvGrpSpPr/>
          <p:nvPr/>
        </p:nvGrpSpPr>
        <p:grpSpPr>
          <a:xfrm>
            <a:off x="6824388" y="4401108"/>
            <a:ext cx="2655779" cy="528620"/>
            <a:chOff x="6831904" y="2398664"/>
            <a:chExt cx="2655779" cy="528620"/>
          </a:xfrm>
        </p:grpSpPr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13055F83-F1CD-9D24-7C7B-580963F13F0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307777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분산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Index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와 최적화된 필드 구조 기반의 대량 데이터 검색성능 확보</a:t>
              </a:r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BEF52A89-D72C-D3FF-BBA3-0F0B18C37C2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대규모</a:t>
              </a:r>
              <a:r>
                <a:rPr lang="en-US" altLang="ko-KR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고속검색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16BA6F7-D206-1876-2217-17F7BEE409CD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3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FA16EAE-D1F8-C9FC-AC6A-4B7157AA868F}"/>
              </a:ext>
            </a:extLst>
          </p:cNvPr>
          <p:cNvGrpSpPr/>
          <p:nvPr/>
        </p:nvGrpSpPr>
        <p:grpSpPr>
          <a:xfrm>
            <a:off x="6824388" y="5348652"/>
            <a:ext cx="2655779" cy="528620"/>
            <a:chOff x="6831904" y="2398664"/>
            <a:chExt cx="2655779" cy="528620"/>
          </a:xfrm>
        </p:grpSpPr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72C2B2EB-B28F-CF2E-FACB-E2078B1F091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169" y="2619507"/>
              <a:ext cx="2384514" cy="307777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88900" indent="-88900" fontAlgn="base" latinLnBrk="0">
                <a:spcBef>
                  <a:spcPts val="300"/>
                </a:spcBef>
                <a:buFont typeface="Arial" panose="020B0604020202020204" pitchFamily="34" charset="0"/>
                <a:buChar char="•"/>
                <a:tabLst>
                  <a:tab pos="5648002" algn="l"/>
                </a:tabLst>
              </a:pP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거래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업무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시스템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오류 조건을 조합한 </a:t>
              </a:r>
              <a:b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</a:b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다양한 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Query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0000300000000000000" pitchFamily="2" charset="-127"/>
                  <a:ea typeface="KoPub돋움체 Light" panose="00000300000000000000" pitchFamily="2" charset="-127"/>
                  <a:cs typeface="Arial" panose="020B0604020202020204" pitchFamily="34" charset="0"/>
                </a:rPr>
                <a:t>와 상세검색 지원</a:t>
              </a:r>
            </a:p>
          </p:txBody>
        </p:sp>
        <p:sp>
          <p:nvSpPr>
            <p:cNvPr id="49" name="Rectangle 25">
              <a:extLst>
                <a:ext uri="{FF2B5EF4-FFF2-40B4-BE49-F238E27FC236}">
                  <a16:creationId xmlns:a16="http://schemas.microsoft.com/office/drawing/2014/main" id="{8BD036E0-7210-699A-0803-A97532FA8BF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090469" y="2398664"/>
              <a:ext cx="23972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 marL="139700" indent="-1397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44500" eaLnBrk="0" hangingPunct="0"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45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648325" algn="l"/>
                </a:tabLst>
                <a:defRPr kumimoji="1" sz="2500" baseline="-25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indent="0" defTabSz="914321" eaLnBrk="1" fontAlgn="base" latinLnBrk="0" hangingPunct="1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20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유연한 통합검색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73A79964-81D7-5E51-5B99-DEF0E976E5F1}"/>
                </a:ext>
              </a:extLst>
            </p:cNvPr>
            <p:cNvSpPr/>
            <p:nvPr/>
          </p:nvSpPr>
          <p:spPr>
            <a:xfrm>
              <a:off x="6831904" y="2400997"/>
              <a:ext cx="180000" cy="18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en-US" altLang="ko-KR" sz="1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4</a:t>
              </a:r>
              <a:endParaRPr lang="ko-KR" altLang="en-US" sz="10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104" name="AutoShape 227">
            <a:extLst>
              <a:ext uri="{FF2B5EF4-FFF2-40B4-BE49-F238E27FC236}">
                <a16:creationId xmlns:a16="http://schemas.microsoft.com/office/drawing/2014/main" id="{48EF1466-CC48-3022-16A5-68D3ED053F8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5200" y="1808820"/>
            <a:ext cx="1135723" cy="252000"/>
          </a:xfrm>
          <a:prstGeom prst="rect">
            <a:avLst/>
          </a:prstGeom>
          <a:solidFill>
            <a:srgbClr val="8DAC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100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수신 로그</a:t>
            </a:r>
          </a:p>
        </p:txBody>
      </p:sp>
      <p:sp>
        <p:nvSpPr>
          <p:cNvPr id="105" name="AutoShape 227">
            <a:extLst>
              <a:ext uri="{FF2B5EF4-FFF2-40B4-BE49-F238E27FC236}">
                <a16:creationId xmlns:a16="http://schemas.microsoft.com/office/drawing/2014/main" id="{8C511B2A-C2B8-DAF9-8A74-F12C898061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93078" y="1808820"/>
            <a:ext cx="1135723" cy="252000"/>
          </a:xfrm>
          <a:prstGeom prst="rect">
            <a:avLst/>
          </a:prstGeom>
          <a:solidFill>
            <a:srgbClr val="041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100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실시간 인덱싱</a:t>
            </a:r>
          </a:p>
        </p:txBody>
      </p:sp>
      <p:sp>
        <p:nvSpPr>
          <p:cNvPr id="106" name="AutoShape 227">
            <a:extLst>
              <a:ext uri="{FF2B5EF4-FFF2-40B4-BE49-F238E27FC236}">
                <a16:creationId xmlns:a16="http://schemas.microsoft.com/office/drawing/2014/main" id="{AD7D859E-074F-2B21-98BD-1ABFD58868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00452" y="1808820"/>
            <a:ext cx="1135723" cy="252000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100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저널</a:t>
            </a:r>
            <a:r>
              <a:rPr lang="en-US" altLang="ko-KR" sz="1100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/</a:t>
            </a:r>
            <a:r>
              <a:rPr lang="ko-KR" altLang="en-US" sz="1100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운영 </a:t>
            </a:r>
            <a:r>
              <a:rPr lang="en-US" altLang="ko-KR" sz="1100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Index</a:t>
            </a:r>
            <a:endParaRPr lang="ko-KR" altLang="en-US" sz="1100" dirty="0"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07" name="AutoShape 227">
            <a:extLst>
              <a:ext uri="{FF2B5EF4-FFF2-40B4-BE49-F238E27FC236}">
                <a16:creationId xmlns:a16="http://schemas.microsoft.com/office/drawing/2014/main" id="{C8FE56DE-4B65-A2DC-ACC3-549DDEBEAA6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07826" y="1808820"/>
            <a:ext cx="1135723" cy="252000"/>
          </a:xfrm>
          <a:prstGeom prst="rect">
            <a:avLst/>
          </a:prstGeom>
          <a:solidFill>
            <a:srgbClr val="4779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100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데이터 식별</a:t>
            </a:r>
            <a:r>
              <a:rPr lang="en-US" altLang="ko-KR" sz="1100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·</a:t>
            </a:r>
            <a:r>
              <a:rPr lang="ko-KR" altLang="en-US" sz="1100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분류</a:t>
            </a:r>
          </a:p>
        </p:txBody>
      </p:sp>
      <p:sp>
        <p:nvSpPr>
          <p:cNvPr id="108" name="AutoShape 227">
            <a:extLst>
              <a:ext uri="{FF2B5EF4-FFF2-40B4-BE49-F238E27FC236}">
                <a16:creationId xmlns:a16="http://schemas.microsoft.com/office/drawing/2014/main" id="{8327BBF4-D82E-CEFB-20DC-91CBA6B5C553}"/>
              </a:ext>
            </a:extLst>
          </p:cNvPr>
          <p:cNvSpPr>
            <a:spLocks noChangeArrowheads="1"/>
          </p:cNvSpPr>
          <p:nvPr/>
        </p:nvSpPr>
        <p:spPr bwMode="gray">
          <a:xfrm>
            <a:off x="5185702" y="1808820"/>
            <a:ext cx="1135723" cy="25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100" dirty="0">
                <a:solidFill>
                  <a:prstClr val="whit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통합검색</a:t>
            </a: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89930A06-053D-5A64-AEEB-54ECBC21C57B}"/>
              </a:ext>
            </a:extLst>
          </p:cNvPr>
          <p:cNvGrpSpPr/>
          <p:nvPr/>
        </p:nvGrpSpPr>
        <p:grpSpPr>
          <a:xfrm>
            <a:off x="1476673" y="1847131"/>
            <a:ext cx="187956" cy="187956"/>
            <a:chOff x="7123189" y="3530491"/>
            <a:chExt cx="201600" cy="201600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2E9F5B25-C112-2C98-6A0C-5C35D1220E61}"/>
                </a:ext>
              </a:extLst>
            </p:cNvPr>
            <p:cNvSpPr/>
            <p:nvPr/>
          </p:nvSpPr>
          <p:spPr>
            <a:xfrm rot="16200000">
              <a:off x="7123189" y="3530491"/>
              <a:ext cx="201600" cy="201600"/>
            </a:xfrm>
            <a:prstGeom prst="ellipse">
              <a:avLst/>
            </a:prstGeom>
            <a:solidFill>
              <a:srgbClr val="FFFFFF"/>
            </a:solidFill>
            <a:ln w="12700">
              <a:noFill/>
              <a:prstDash val="solid"/>
              <a:round/>
              <a:headEnd/>
              <a:tailEnd/>
            </a:ln>
          </p:spPr>
          <p:txBody>
            <a:bodyPr vert="horz" wrap="square" lIns="91421" tIns="45711" rIns="91421" bIns="45711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endPara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24" name="Freeform 8">
              <a:extLst>
                <a:ext uri="{FF2B5EF4-FFF2-40B4-BE49-F238E27FC236}">
                  <a16:creationId xmlns:a16="http://schemas.microsoft.com/office/drawing/2014/main" id="{12708C00-8545-47E6-50BE-FA92FBBEA95E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7174300" y="3581603"/>
              <a:ext cx="99376" cy="99377"/>
            </a:xfrm>
            <a:custGeom>
              <a:avLst/>
              <a:gdLst>
                <a:gd name="T0" fmla="*/ 222 w 263"/>
                <a:gd name="T1" fmla="*/ 264 h 264"/>
                <a:gd name="T2" fmla="*/ 231 w 263"/>
                <a:gd name="T3" fmla="*/ 263 h 264"/>
                <a:gd name="T4" fmla="*/ 245 w 263"/>
                <a:gd name="T5" fmla="*/ 257 h 264"/>
                <a:gd name="T6" fmla="*/ 256 w 263"/>
                <a:gd name="T7" fmla="*/ 246 h 264"/>
                <a:gd name="T8" fmla="*/ 262 w 263"/>
                <a:gd name="T9" fmla="*/ 232 h 264"/>
                <a:gd name="T10" fmla="*/ 263 w 263"/>
                <a:gd name="T11" fmla="*/ 52 h 264"/>
                <a:gd name="T12" fmla="*/ 262 w 263"/>
                <a:gd name="T13" fmla="*/ 43 h 264"/>
                <a:gd name="T14" fmla="*/ 256 w 263"/>
                <a:gd name="T15" fmla="*/ 29 h 264"/>
                <a:gd name="T16" fmla="*/ 245 w 263"/>
                <a:gd name="T17" fmla="*/ 18 h 264"/>
                <a:gd name="T18" fmla="*/ 231 w 263"/>
                <a:gd name="T19" fmla="*/ 13 h 264"/>
                <a:gd name="T20" fmla="*/ 222 w 263"/>
                <a:gd name="T21" fmla="*/ 11 h 264"/>
                <a:gd name="T22" fmla="*/ 207 w 263"/>
                <a:gd name="T23" fmla="*/ 15 h 264"/>
                <a:gd name="T24" fmla="*/ 194 w 263"/>
                <a:gd name="T25" fmla="*/ 24 h 264"/>
                <a:gd name="T26" fmla="*/ 189 w 263"/>
                <a:gd name="T27" fmla="*/ 29 h 264"/>
                <a:gd name="T28" fmla="*/ 183 w 263"/>
                <a:gd name="T29" fmla="*/ 43 h 264"/>
                <a:gd name="T30" fmla="*/ 183 w 263"/>
                <a:gd name="T31" fmla="*/ 52 h 264"/>
                <a:gd name="T32" fmla="*/ 69 w 263"/>
                <a:gd name="T33" fmla="*/ 13 h 264"/>
                <a:gd name="T34" fmla="*/ 62 w 263"/>
                <a:gd name="T35" fmla="*/ 7 h 264"/>
                <a:gd name="T36" fmla="*/ 48 w 263"/>
                <a:gd name="T37" fmla="*/ 1 h 264"/>
                <a:gd name="T38" fmla="*/ 33 w 263"/>
                <a:gd name="T39" fmla="*/ 1 h 264"/>
                <a:gd name="T40" fmla="*/ 19 w 263"/>
                <a:gd name="T41" fmla="*/ 7 h 264"/>
                <a:gd name="T42" fmla="*/ 12 w 263"/>
                <a:gd name="T43" fmla="*/ 13 h 264"/>
                <a:gd name="T44" fmla="*/ 3 w 263"/>
                <a:gd name="T45" fmla="*/ 25 h 264"/>
                <a:gd name="T46" fmla="*/ 0 w 263"/>
                <a:gd name="T47" fmla="*/ 41 h 264"/>
                <a:gd name="T48" fmla="*/ 3 w 263"/>
                <a:gd name="T49" fmla="*/ 56 h 264"/>
                <a:gd name="T50" fmla="*/ 12 w 263"/>
                <a:gd name="T51" fmla="*/ 69 h 264"/>
                <a:gd name="T52" fmla="*/ 51 w 263"/>
                <a:gd name="T53" fmla="*/ 183 h 264"/>
                <a:gd name="T54" fmla="*/ 44 w 263"/>
                <a:gd name="T55" fmla="*/ 184 h 264"/>
                <a:gd name="T56" fmla="*/ 29 w 263"/>
                <a:gd name="T57" fmla="*/ 190 h 264"/>
                <a:gd name="T58" fmla="*/ 19 w 263"/>
                <a:gd name="T59" fmla="*/ 201 h 264"/>
                <a:gd name="T60" fmla="*/ 12 w 263"/>
                <a:gd name="T61" fmla="*/ 215 h 264"/>
                <a:gd name="T62" fmla="*/ 12 w 263"/>
                <a:gd name="T63" fmla="*/ 223 h 264"/>
                <a:gd name="T64" fmla="*/ 15 w 263"/>
                <a:gd name="T65" fmla="*/ 239 h 264"/>
                <a:gd name="T66" fmla="*/ 23 w 263"/>
                <a:gd name="T67" fmla="*/ 251 h 264"/>
                <a:gd name="T68" fmla="*/ 36 w 263"/>
                <a:gd name="T69" fmla="*/ 261 h 264"/>
                <a:gd name="T70" fmla="*/ 51 w 263"/>
                <a:gd name="T71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3" h="264">
                  <a:moveTo>
                    <a:pt x="51" y="264"/>
                  </a:moveTo>
                  <a:lnTo>
                    <a:pt x="222" y="264"/>
                  </a:lnTo>
                  <a:lnTo>
                    <a:pt x="222" y="264"/>
                  </a:lnTo>
                  <a:lnTo>
                    <a:pt x="231" y="263"/>
                  </a:lnTo>
                  <a:lnTo>
                    <a:pt x="238" y="261"/>
                  </a:lnTo>
                  <a:lnTo>
                    <a:pt x="245" y="257"/>
                  </a:lnTo>
                  <a:lnTo>
                    <a:pt x="252" y="251"/>
                  </a:lnTo>
                  <a:lnTo>
                    <a:pt x="256" y="246"/>
                  </a:lnTo>
                  <a:lnTo>
                    <a:pt x="260" y="239"/>
                  </a:lnTo>
                  <a:lnTo>
                    <a:pt x="262" y="232"/>
                  </a:lnTo>
                  <a:lnTo>
                    <a:pt x="263" y="223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2" y="43"/>
                  </a:lnTo>
                  <a:lnTo>
                    <a:pt x="260" y="36"/>
                  </a:lnTo>
                  <a:lnTo>
                    <a:pt x="256" y="29"/>
                  </a:lnTo>
                  <a:lnTo>
                    <a:pt x="252" y="24"/>
                  </a:lnTo>
                  <a:lnTo>
                    <a:pt x="245" y="18"/>
                  </a:lnTo>
                  <a:lnTo>
                    <a:pt x="238" y="15"/>
                  </a:lnTo>
                  <a:lnTo>
                    <a:pt x="231" y="13"/>
                  </a:lnTo>
                  <a:lnTo>
                    <a:pt x="222" y="11"/>
                  </a:lnTo>
                  <a:lnTo>
                    <a:pt x="222" y="11"/>
                  </a:lnTo>
                  <a:lnTo>
                    <a:pt x="214" y="13"/>
                  </a:lnTo>
                  <a:lnTo>
                    <a:pt x="207" y="15"/>
                  </a:lnTo>
                  <a:lnTo>
                    <a:pt x="200" y="18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89" y="29"/>
                  </a:lnTo>
                  <a:lnTo>
                    <a:pt x="186" y="36"/>
                  </a:lnTo>
                  <a:lnTo>
                    <a:pt x="183" y="43"/>
                  </a:lnTo>
                  <a:lnTo>
                    <a:pt x="183" y="52"/>
                  </a:lnTo>
                  <a:lnTo>
                    <a:pt x="183" y="52"/>
                  </a:lnTo>
                  <a:lnTo>
                    <a:pt x="183" y="126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2" y="7"/>
                  </a:lnTo>
                  <a:lnTo>
                    <a:pt x="55" y="3"/>
                  </a:lnTo>
                  <a:lnTo>
                    <a:pt x="48" y="1"/>
                  </a:lnTo>
                  <a:lnTo>
                    <a:pt x="40" y="0"/>
                  </a:lnTo>
                  <a:lnTo>
                    <a:pt x="33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5"/>
                  </a:lnTo>
                  <a:lnTo>
                    <a:pt x="0" y="34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3" y="56"/>
                  </a:lnTo>
                  <a:lnTo>
                    <a:pt x="6" y="63"/>
                  </a:lnTo>
                  <a:lnTo>
                    <a:pt x="12" y="69"/>
                  </a:lnTo>
                  <a:lnTo>
                    <a:pt x="126" y="183"/>
                  </a:lnTo>
                  <a:lnTo>
                    <a:pt x="51" y="183"/>
                  </a:lnTo>
                  <a:lnTo>
                    <a:pt x="51" y="183"/>
                  </a:lnTo>
                  <a:lnTo>
                    <a:pt x="44" y="184"/>
                  </a:lnTo>
                  <a:lnTo>
                    <a:pt x="36" y="185"/>
                  </a:lnTo>
                  <a:lnTo>
                    <a:pt x="29" y="190"/>
                  </a:lnTo>
                  <a:lnTo>
                    <a:pt x="23" y="195"/>
                  </a:lnTo>
                  <a:lnTo>
                    <a:pt x="19" y="201"/>
                  </a:lnTo>
                  <a:lnTo>
                    <a:pt x="15" y="208"/>
                  </a:lnTo>
                  <a:lnTo>
                    <a:pt x="12" y="215"/>
                  </a:lnTo>
                  <a:lnTo>
                    <a:pt x="12" y="223"/>
                  </a:lnTo>
                  <a:lnTo>
                    <a:pt x="12" y="223"/>
                  </a:lnTo>
                  <a:lnTo>
                    <a:pt x="12" y="232"/>
                  </a:lnTo>
                  <a:lnTo>
                    <a:pt x="15" y="239"/>
                  </a:lnTo>
                  <a:lnTo>
                    <a:pt x="19" y="246"/>
                  </a:lnTo>
                  <a:lnTo>
                    <a:pt x="23" y="251"/>
                  </a:lnTo>
                  <a:lnTo>
                    <a:pt x="29" y="257"/>
                  </a:lnTo>
                  <a:lnTo>
                    <a:pt x="36" y="261"/>
                  </a:lnTo>
                  <a:lnTo>
                    <a:pt x="44" y="263"/>
                  </a:lnTo>
                  <a:lnTo>
                    <a:pt x="51" y="264"/>
                  </a:lnTo>
                  <a:lnTo>
                    <a:pt x="51" y="26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9ACEF46E-1394-331E-3FC6-E273BE846D1F}"/>
              </a:ext>
            </a:extLst>
          </p:cNvPr>
          <p:cNvGrpSpPr/>
          <p:nvPr/>
        </p:nvGrpSpPr>
        <p:grpSpPr>
          <a:xfrm>
            <a:off x="2673122" y="1847131"/>
            <a:ext cx="187956" cy="187956"/>
            <a:chOff x="7123189" y="3530491"/>
            <a:chExt cx="201600" cy="201600"/>
          </a:xfrm>
        </p:grpSpPr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1C08E121-9FB7-7ED0-77D9-F880CF44D060}"/>
                </a:ext>
              </a:extLst>
            </p:cNvPr>
            <p:cNvSpPr/>
            <p:nvPr/>
          </p:nvSpPr>
          <p:spPr>
            <a:xfrm rot="16200000">
              <a:off x="7123189" y="3530491"/>
              <a:ext cx="201600" cy="201600"/>
            </a:xfrm>
            <a:prstGeom prst="ellipse">
              <a:avLst/>
            </a:prstGeom>
            <a:solidFill>
              <a:srgbClr val="FFFFFF"/>
            </a:solidFill>
            <a:ln w="12700">
              <a:noFill/>
              <a:prstDash val="solid"/>
              <a:round/>
              <a:headEnd/>
              <a:tailEnd/>
            </a:ln>
          </p:spPr>
          <p:txBody>
            <a:bodyPr vert="horz" wrap="square" lIns="91421" tIns="45711" rIns="91421" bIns="45711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endPara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27" name="Freeform 8">
              <a:extLst>
                <a:ext uri="{FF2B5EF4-FFF2-40B4-BE49-F238E27FC236}">
                  <a16:creationId xmlns:a16="http://schemas.microsoft.com/office/drawing/2014/main" id="{BE318D12-B49B-D12B-FADA-DDBE9A86D546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7174300" y="3581603"/>
              <a:ext cx="99376" cy="99377"/>
            </a:xfrm>
            <a:custGeom>
              <a:avLst/>
              <a:gdLst>
                <a:gd name="T0" fmla="*/ 222 w 263"/>
                <a:gd name="T1" fmla="*/ 264 h 264"/>
                <a:gd name="T2" fmla="*/ 231 w 263"/>
                <a:gd name="T3" fmla="*/ 263 h 264"/>
                <a:gd name="T4" fmla="*/ 245 w 263"/>
                <a:gd name="T5" fmla="*/ 257 h 264"/>
                <a:gd name="T6" fmla="*/ 256 w 263"/>
                <a:gd name="T7" fmla="*/ 246 h 264"/>
                <a:gd name="T8" fmla="*/ 262 w 263"/>
                <a:gd name="T9" fmla="*/ 232 h 264"/>
                <a:gd name="T10" fmla="*/ 263 w 263"/>
                <a:gd name="T11" fmla="*/ 52 h 264"/>
                <a:gd name="T12" fmla="*/ 262 w 263"/>
                <a:gd name="T13" fmla="*/ 43 h 264"/>
                <a:gd name="T14" fmla="*/ 256 w 263"/>
                <a:gd name="T15" fmla="*/ 29 h 264"/>
                <a:gd name="T16" fmla="*/ 245 w 263"/>
                <a:gd name="T17" fmla="*/ 18 h 264"/>
                <a:gd name="T18" fmla="*/ 231 w 263"/>
                <a:gd name="T19" fmla="*/ 13 h 264"/>
                <a:gd name="T20" fmla="*/ 222 w 263"/>
                <a:gd name="T21" fmla="*/ 11 h 264"/>
                <a:gd name="T22" fmla="*/ 207 w 263"/>
                <a:gd name="T23" fmla="*/ 15 h 264"/>
                <a:gd name="T24" fmla="*/ 194 w 263"/>
                <a:gd name="T25" fmla="*/ 24 h 264"/>
                <a:gd name="T26" fmla="*/ 189 w 263"/>
                <a:gd name="T27" fmla="*/ 29 h 264"/>
                <a:gd name="T28" fmla="*/ 183 w 263"/>
                <a:gd name="T29" fmla="*/ 43 h 264"/>
                <a:gd name="T30" fmla="*/ 183 w 263"/>
                <a:gd name="T31" fmla="*/ 52 h 264"/>
                <a:gd name="T32" fmla="*/ 69 w 263"/>
                <a:gd name="T33" fmla="*/ 13 h 264"/>
                <a:gd name="T34" fmla="*/ 62 w 263"/>
                <a:gd name="T35" fmla="*/ 7 h 264"/>
                <a:gd name="T36" fmla="*/ 48 w 263"/>
                <a:gd name="T37" fmla="*/ 1 h 264"/>
                <a:gd name="T38" fmla="*/ 33 w 263"/>
                <a:gd name="T39" fmla="*/ 1 h 264"/>
                <a:gd name="T40" fmla="*/ 19 w 263"/>
                <a:gd name="T41" fmla="*/ 7 h 264"/>
                <a:gd name="T42" fmla="*/ 12 w 263"/>
                <a:gd name="T43" fmla="*/ 13 h 264"/>
                <a:gd name="T44" fmla="*/ 3 w 263"/>
                <a:gd name="T45" fmla="*/ 25 h 264"/>
                <a:gd name="T46" fmla="*/ 0 w 263"/>
                <a:gd name="T47" fmla="*/ 41 h 264"/>
                <a:gd name="T48" fmla="*/ 3 w 263"/>
                <a:gd name="T49" fmla="*/ 56 h 264"/>
                <a:gd name="T50" fmla="*/ 12 w 263"/>
                <a:gd name="T51" fmla="*/ 69 h 264"/>
                <a:gd name="T52" fmla="*/ 51 w 263"/>
                <a:gd name="T53" fmla="*/ 183 h 264"/>
                <a:gd name="T54" fmla="*/ 44 w 263"/>
                <a:gd name="T55" fmla="*/ 184 h 264"/>
                <a:gd name="T56" fmla="*/ 29 w 263"/>
                <a:gd name="T57" fmla="*/ 190 h 264"/>
                <a:gd name="T58" fmla="*/ 19 w 263"/>
                <a:gd name="T59" fmla="*/ 201 h 264"/>
                <a:gd name="T60" fmla="*/ 12 w 263"/>
                <a:gd name="T61" fmla="*/ 215 h 264"/>
                <a:gd name="T62" fmla="*/ 12 w 263"/>
                <a:gd name="T63" fmla="*/ 223 h 264"/>
                <a:gd name="T64" fmla="*/ 15 w 263"/>
                <a:gd name="T65" fmla="*/ 239 h 264"/>
                <a:gd name="T66" fmla="*/ 23 w 263"/>
                <a:gd name="T67" fmla="*/ 251 h 264"/>
                <a:gd name="T68" fmla="*/ 36 w 263"/>
                <a:gd name="T69" fmla="*/ 261 h 264"/>
                <a:gd name="T70" fmla="*/ 51 w 263"/>
                <a:gd name="T71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3" h="264">
                  <a:moveTo>
                    <a:pt x="51" y="264"/>
                  </a:moveTo>
                  <a:lnTo>
                    <a:pt x="222" y="264"/>
                  </a:lnTo>
                  <a:lnTo>
                    <a:pt x="222" y="264"/>
                  </a:lnTo>
                  <a:lnTo>
                    <a:pt x="231" y="263"/>
                  </a:lnTo>
                  <a:lnTo>
                    <a:pt x="238" y="261"/>
                  </a:lnTo>
                  <a:lnTo>
                    <a:pt x="245" y="257"/>
                  </a:lnTo>
                  <a:lnTo>
                    <a:pt x="252" y="251"/>
                  </a:lnTo>
                  <a:lnTo>
                    <a:pt x="256" y="246"/>
                  </a:lnTo>
                  <a:lnTo>
                    <a:pt x="260" y="239"/>
                  </a:lnTo>
                  <a:lnTo>
                    <a:pt x="262" y="232"/>
                  </a:lnTo>
                  <a:lnTo>
                    <a:pt x="263" y="223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2" y="43"/>
                  </a:lnTo>
                  <a:lnTo>
                    <a:pt x="260" y="36"/>
                  </a:lnTo>
                  <a:lnTo>
                    <a:pt x="256" y="29"/>
                  </a:lnTo>
                  <a:lnTo>
                    <a:pt x="252" y="24"/>
                  </a:lnTo>
                  <a:lnTo>
                    <a:pt x="245" y="18"/>
                  </a:lnTo>
                  <a:lnTo>
                    <a:pt x="238" y="15"/>
                  </a:lnTo>
                  <a:lnTo>
                    <a:pt x="231" y="13"/>
                  </a:lnTo>
                  <a:lnTo>
                    <a:pt x="222" y="11"/>
                  </a:lnTo>
                  <a:lnTo>
                    <a:pt x="222" y="11"/>
                  </a:lnTo>
                  <a:lnTo>
                    <a:pt x="214" y="13"/>
                  </a:lnTo>
                  <a:lnTo>
                    <a:pt x="207" y="15"/>
                  </a:lnTo>
                  <a:lnTo>
                    <a:pt x="200" y="18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89" y="29"/>
                  </a:lnTo>
                  <a:lnTo>
                    <a:pt x="186" y="36"/>
                  </a:lnTo>
                  <a:lnTo>
                    <a:pt x="183" y="43"/>
                  </a:lnTo>
                  <a:lnTo>
                    <a:pt x="183" y="52"/>
                  </a:lnTo>
                  <a:lnTo>
                    <a:pt x="183" y="52"/>
                  </a:lnTo>
                  <a:lnTo>
                    <a:pt x="183" y="126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2" y="7"/>
                  </a:lnTo>
                  <a:lnTo>
                    <a:pt x="55" y="3"/>
                  </a:lnTo>
                  <a:lnTo>
                    <a:pt x="48" y="1"/>
                  </a:lnTo>
                  <a:lnTo>
                    <a:pt x="40" y="0"/>
                  </a:lnTo>
                  <a:lnTo>
                    <a:pt x="33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5"/>
                  </a:lnTo>
                  <a:lnTo>
                    <a:pt x="0" y="34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3" y="56"/>
                  </a:lnTo>
                  <a:lnTo>
                    <a:pt x="6" y="63"/>
                  </a:lnTo>
                  <a:lnTo>
                    <a:pt x="12" y="69"/>
                  </a:lnTo>
                  <a:lnTo>
                    <a:pt x="126" y="183"/>
                  </a:lnTo>
                  <a:lnTo>
                    <a:pt x="51" y="183"/>
                  </a:lnTo>
                  <a:lnTo>
                    <a:pt x="51" y="183"/>
                  </a:lnTo>
                  <a:lnTo>
                    <a:pt x="44" y="184"/>
                  </a:lnTo>
                  <a:lnTo>
                    <a:pt x="36" y="185"/>
                  </a:lnTo>
                  <a:lnTo>
                    <a:pt x="29" y="190"/>
                  </a:lnTo>
                  <a:lnTo>
                    <a:pt x="23" y="195"/>
                  </a:lnTo>
                  <a:lnTo>
                    <a:pt x="19" y="201"/>
                  </a:lnTo>
                  <a:lnTo>
                    <a:pt x="15" y="208"/>
                  </a:lnTo>
                  <a:lnTo>
                    <a:pt x="12" y="215"/>
                  </a:lnTo>
                  <a:lnTo>
                    <a:pt x="12" y="223"/>
                  </a:lnTo>
                  <a:lnTo>
                    <a:pt x="12" y="223"/>
                  </a:lnTo>
                  <a:lnTo>
                    <a:pt x="12" y="232"/>
                  </a:lnTo>
                  <a:lnTo>
                    <a:pt x="15" y="239"/>
                  </a:lnTo>
                  <a:lnTo>
                    <a:pt x="19" y="246"/>
                  </a:lnTo>
                  <a:lnTo>
                    <a:pt x="23" y="251"/>
                  </a:lnTo>
                  <a:lnTo>
                    <a:pt x="29" y="257"/>
                  </a:lnTo>
                  <a:lnTo>
                    <a:pt x="36" y="261"/>
                  </a:lnTo>
                  <a:lnTo>
                    <a:pt x="44" y="263"/>
                  </a:lnTo>
                  <a:lnTo>
                    <a:pt x="51" y="264"/>
                  </a:lnTo>
                  <a:lnTo>
                    <a:pt x="51" y="26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6DC06965-8172-543E-A716-EE2319B58AF1}"/>
              </a:ext>
            </a:extLst>
          </p:cNvPr>
          <p:cNvGrpSpPr/>
          <p:nvPr/>
        </p:nvGrpSpPr>
        <p:grpSpPr>
          <a:xfrm>
            <a:off x="3869444" y="1847131"/>
            <a:ext cx="187956" cy="187956"/>
            <a:chOff x="7123189" y="3530491"/>
            <a:chExt cx="201600" cy="201600"/>
          </a:xfrm>
        </p:grpSpPr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3A725E60-563C-FC29-3987-EF0BD6D56420}"/>
                </a:ext>
              </a:extLst>
            </p:cNvPr>
            <p:cNvSpPr/>
            <p:nvPr/>
          </p:nvSpPr>
          <p:spPr>
            <a:xfrm rot="16200000">
              <a:off x="7123189" y="3530491"/>
              <a:ext cx="201600" cy="201600"/>
            </a:xfrm>
            <a:prstGeom prst="ellipse">
              <a:avLst/>
            </a:prstGeom>
            <a:solidFill>
              <a:srgbClr val="FFFFFF"/>
            </a:solidFill>
            <a:ln w="12700">
              <a:noFill/>
              <a:prstDash val="solid"/>
              <a:round/>
              <a:headEnd/>
              <a:tailEnd/>
            </a:ln>
          </p:spPr>
          <p:txBody>
            <a:bodyPr vert="horz" wrap="square" lIns="91421" tIns="45711" rIns="91421" bIns="45711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endPara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30" name="Freeform 8">
              <a:extLst>
                <a:ext uri="{FF2B5EF4-FFF2-40B4-BE49-F238E27FC236}">
                  <a16:creationId xmlns:a16="http://schemas.microsoft.com/office/drawing/2014/main" id="{D22DEDE5-7C3F-8129-6AD9-09E42866E8D3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7174300" y="3581603"/>
              <a:ext cx="99376" cy="99377"/>
            </a:xfrm>
            <a:custGeom>
              <a:avLst/>
              <a:gdLst>
                <a:gd name="T0" fmla="*/ 222 w 263"/>
                <a:gd name="T1" fmla="*/ 264 h 264"/>
                <a:gd name="T2" fmla="*/ 231 w 263"/>
                <a:gd name="T3" fmla="*/ 263 h 264"/>
                <a:gd name="T4" fmla="*/ 245 w 263"/>
                <a:gd name="T5" fmla="*/ 257 h 264"/>
                <a:gd name="T6" fmla="*/ 256 w 263"/>
                <a:gd name="T7" fmla="*/ 246 h 264"/>
                <a:gd name="T8" fmla="*/ 262 w 263"/>
                <a:gd name="T9" fmla="*/ 232 h 264"/>
                <a:gd name="T10" fmla="*/ 263 w 263"/>
                <a:gd name="T11" fmla="*/ 52 h 264"/>
                <a:gd name="T12" fmla="*/ 262 w 263"/>
                <a:gd name="T13" fmla="*/ 43 h 264"/>
                <a:gd name="T14" fmla="*/ 256 w 263"/>
                <a:gd name="T15" fmla="*/ 29 h 264"/>
                <a:gd name="T16" fmla="*/ 245 w 263"/>
                <a:gd name="T17" fmla="*/ 18 h 264"/>
                <a:gd name="T18" fmla="*/ 231 w 263"/>
                <a:gd name="T19" fmla="*/ 13 h 264"/>
                <a:gd name="T20" fmla="*/ 222 w 263"/>
                <a:gd name="T21" fmla="*/ 11 h 264"/>
                <a:gd name="T22" fmla="*/ 207 w 263"/>
                <a:gd name="T23" fmla="*/ 15 h 264"/>
                <a:gd name="T24" fmla="*/ 194 w 263"/>
                <a:gd name="T25" fmla="*/ 24 h 264"/>
                <a:gd name="T26" fmla="*/ 189 w 263"/>
                <a:gd name="T27" fmla="*/ 29 h 264"/>
                <a:gd name="T28" fmla="*/ 183 w 263"/>
                <a:gd name="T29" fmla="*/ 43 h 264"/>
                <a:gd name="T30" fmla="*/ 183 w 263"/>
                <a:gd name="T31" fmla="*/ 52 h 264"/>
                <a:gd name="T32" fmla="*/ 69 w 263"/>
                <a:gd name="T33" fmla="*/ 13 h 264"/>
                <a:gd name="T34" fmla="*/ 62 w 263"/>
                <a:gd name="T35" fmla="*/ 7 h 264"/>
                <a:gd name="T36" fmla="*/ 48 w 263"/>
                <a:gd name="T37" fmla="*/ 1 h 264"/>
                <a:gd name="T38" fmla="*/ 33 w 263"/>
                <a:gd name="T39" fmla="*/ 1 h 264"/>
                <a:gd name="T40" fmla="*/ 19 w 263"/>
                <a:gd name="T41" fmla="*/ 7 h 264"/>
                <a:gd name="T42" fmla="*/ 12 w 263"/>
                <a:gd name="T43" fmla="*/ 13 h 264"/>
                <a:gd name="T44" fmla="*/ 3 w 263"/>
                <a:gd name="T45" fmla="*/ 25 h 264"/>
                <a:gd name="T46" fmla="*/ 0 w 263"/>
                <a:gd name="T47" fmla="*/ 41 h 264"/>
                <a:gd name="T48" fmla="*/ 3 w 263"/>
                <a:gd name="T49" fmla="*/ 56 h 264"/>
                <a:gd name="T50" fmla="*/ 12 w 263"/>
                <a:gd name="T51" fmla="*/ 69 h 264"/>
                <a:gd name="T52" fmla="*/ 51 w 263"/>
                <a:gd name="T53" fmla="*/ 183 h 264"/>
                <a:gd name="T54" fmla="*/ 44 w 263"/>
                <a:gd name="T55" fmla="*/ 184 h 264"/>
                <a:gd name="T56" fmla="*/ 29 w 263"/>
                <a:gd name="T57" fmla="*/ 190 h 264"/>
                <a:gd name="T58" fmla="*/ 19 w 263"/>
                <a:gd name="T59" fmla="*/ 201 h 264"/>
                <a:gd name="T60" fmla="*/ 12 w 263"/>
                <a:gd name="T61" fmla="*/ 215 h 264"/>
                <a:gd name="T62" fmla="*/ 12 w 263"/>
                <a:gd name="T63" fmla="*/ 223 h 264"/>
                <a:gd name="T64" fmla="*/ 15 w 263"/>
                <a:gd name="T65" fmla="*/ 239 h 264"/>
                <a:gd name="T66" fmla="*/ 23 w 263"/>
                <a:gd name="T67" fmla="*/ 251 h 264"/>
                <a:gd name="T68" fmla="*/ 36 w 263"/>
                <a:gd name="T69" fmla="*/ 261 h 264"/>
                <a:gd name="T70" fmla="*/ 51 w 263"/>
                <a:gd name="T71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3" h="264">
                  <a:moveTo>
                    <a:pt x="51" y="264"/>
                  </a:moveTo>
                  <a:lnTo>
                    <a:pt x="222" y="264"/>
                  </a:lnTo>
                  <a:lnTo>
                    <a:pt x="222" y="264"/>
                  </a:lnTo>
                  <a:lnTo>
                    <a:pt x="231" y="263"/>
                  </a:lnTo>
                  <a:lnTo>
                    <a:pt x="238" y="261"/>
                  </a:lnTo>
                  <a:lnTo>
                    <a:pt x="245" y="257"/>
                  </a:lnTo>
                  <a:lnTo>
                    <a:pt x="252" y="251"/>
                  </a:lnTo>
                  <a:lnTo>
                    <a:pt x="256" y="246"/>
                  </a:lnTo>
                  <a:lnTo>
                    <a:pt x="260" y="239"/>
                  </a:lnTo>
                  <a:lnTo>
                    <a:pt x="262" y="232"/>
                  </a:lnTo>
                  <a:lnTo>
                    <a:pt x="263" y="223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2" y="43"/>
                  </a:lnTo>
                  <a:lnTo>
                    <a:pt x="260" y="36"/>
                  </a:lnTo>
                  <a:lnTo>
                    <a:pt x="256" y="29"/>
                  </a:lnTo>
                  <a:lnTo>
                    <a:pt x="252" y="24"/>
                  </a:lnTo>
                  <a:lnTo>
                    <a:pt x="245" y="18"/>
                  </a:lnTo>
                  <a:lnTo>
                    <a:pt x="238" y="15"/>
                  </a:lnTo>
                  <a:lnTo>
                    <a:pt x="231" y="13"/>
                  </a:lnTo>
                  <a:lnTo>
                    <a:pt x="222" y="11"/>
                  </a:lnTo>
                  <a:lnTo>
                    <a:pt x="222" y="11"/>
                  </a:lnTo>
                  <a:lnTo>
                    <a:pt x="214" y="13"/>
                  </a:lnTo>
                  <a:lnTo>
                    <a:pt x="207" y="15"/>
                  </a:lnTo>
                  <a:lnTo>
                    <a:pt x="200" y="18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89" y="29"/>
                  </a:lnTo>
                  <a:lnTo>
                    <a:pt x="186" y="36"/>
                  </a:lnTo>
                  <a:lnTo>
                    <a:pt x="183" y="43"/>
                  </a:lnTo>
                  <a:lnTo>
                    <a:pt x="183" y="52"/>
                  </a:lnTo>
                  <a:lnTo>
                    <a:pt x="183" y="52"/>
                  </a:lnTo>
                  <a:lnTo>
                    <a:pt x="183" y="126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2" y="7"/>
                  </a:lnTo>
                  <a:lnTo>
                    <a:pt x="55" y="3"/>
                  </a:lnTo>
                  <a:lnTo>
                    <a:pt x="48" y="1"/>
                  </a:lnTo>
                  <a:lnTo>
                    <a:pt x="40" y="0"/>
                  </a:lnTo>
                  <a:lnTo>
                    <a:pt x="33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5"/>
                  </a:lnTo>
                  <a:lnTo>
                    <a:pt x="0" y="34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3" y="56"/>
                  </a:lnTo>
                  <a:lnTo>
                    <a:pt x="6" y="63"/>
                  </a:lnTo>
                  <a:lnTo>
                    <a:pt x="12" y="69"/>
                  </a:lnTo>
                  <a:lnTo>
                    <a:pt x="126" y="183"/>
                  </a:lnTo>
                  <a:lnTo>
                    <a:pt x="51" y="183"/>
                  </a:lnTo>
                  <a:lnTo>
                    <a:pt x="51" y="183"/>
                  </a:lnTo>
                  <a:lnTo>
                    <a:pt x="44" y="184"/>
                  </a:lnTo>
                  <a:lnTo>
                    <a:pt x="36" y="185"/>
                  </a:lnTo>
                  <a:lnTo>
                    <a:pt x="29" y="190"/>
                  </a:lnTo>
                  <a:lnTo>
                    <a:pt x="23" y="195"/>
                  </a:lnTo>
                  <a:lnTo>
                    <a:pt x="19" y="201"/>
                  </a:lnTo>
                  <a:lnTo>
                    <a:pt x="15" y="208"/>
                  </a:lnTo>
                  <a:lnTo>
                    <a:pt x="12" y="215"/>
                  </a:lnTo>
                  <a:lnTo>
                    <a:pt x="12" y="223"/>
                  </a:lnTo>
                  <a:lnTo>
                    <a:pt x="12" y="223"/>
                  </a:lnTo>
                  <a:lnTo>
                    <a:pt x="12" y="232"/>
                  </a:lnTo>
                  <a:lnTo>
                    <a:pt x="15" y="239"/>
                  </a:lnTo>
                  <a:lnTo>
                    <a:pt x="19" y="246"/>
                  </a:lnTo>
                  <a:lnTo>
                    <a:pt x="23" y="251"/>
                  </a:lnTo>
                  <a:lnTo>
                    <a:pt x="29" y="257"/>
                  </a:lnTo>
                  <a:lnTo>
                    <a:pt x="36" y="261"/>
                  </a:lnTo>
                  <a:lnTo>
                    <a:pt x="44" y="263"/>
                  </a:lnTo>
                  <a:lnTo>
                    <a:pt x="51" y="264"/>
                  </a:lnTo>
                  <a:lnTo>
                    <a:pt x="51" y="26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024090F4-D2A6-5B0A-3BB3-010E6FCFD783}"/>
              </a:ext>
            </a:extLst>
          </p:cNvPr>
          <p:cNvGrpSpPr/>
          <p:nvPr/>
        </p:nvGrpSpPr>
        <p:grpSpPr>
          <a:xfrm>
            <a:off x="5063274" y="1840543"/>
            <a:ext cx="187956" cy="187956"/>
            <a:chOff x="7123189" y="3530491"/>
            <a:chExt cx="201600" cy="201600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6A5A3610-BE3B-7DCB-04D5-F53D0223A5A4}"/>
                </a:ext>
              </a:extLst>
            </p:cNvPr>
            <p:cNvSpPr/>
            <p:nvPr/>
          </p:nvSpPr>
          <p:spPr>
            <a:xfrm rot="16200000">
              <a:off x="7123189" y="3530491"/>
              <a:ext cx="201600" cy="201600"/>
            </a:xfrm>
            <a:prstGeom prst="ellipse">
              <a:avLst/>
            </a:prstGeom>
            <a:solidFill>
              <a:srgbClr val="FFFFFF"/>
            </a:solidFill>
            <a:ln w="12700">
              <a:noFill/>
              <a:prstDash val="solid"/>
              <a:round/>
              <a:headEnd/>
              <a:tailEnd/>
            </a:ln>
          </p:spPr>
          <p:txBody>
            <a:bodyPr vert="horz" wrap="square" lIns="91421" tIns="45711" rIns="91421" bIns="45711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latinLnBrk="0"/>
              <a:endPara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33" name="Freeform 8">
              <a:extLst>
                <a:ext uri="{FF2B5EF4-FFF2-40B4-BE49-F238E27FC236}">
                  <a16:creationId xmlns:a16="http://schemas.microsoft.com/office/drawing/2014/main" id="{B8B04EEE-607A-3D6F-2CDE-5D9FFCEC467E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7174300" y="3581603"/>
              <a:ext cx="99376" cy="99377"/>
            </a:xfrm>
            <a:custGeom>
              <a:avLst/>
              <a:gdLst>
                <a:gd name="T0" fmla="*/ 222 w 263"/>
                <a:gd name="T1" fmla="*/ 264 h 264"/>
                <a:gd name="T2" fmla="*/ 231 w 263"/>
                <a:gd name="T3" fmla="*/ 263 h 264"/>
                <a:gd name="T4" fmla="*/ 245 w 263"/>
                <a:gd name="T5" fmla="*/ 257 h 264"/>
                <a:gd name="T6" fmla="*/ 256 w 263"/>
                <a:gd name="T7" fmla="*/ 246 h 264"/>
                <a:gd name="T8" fmla="*/ 262 w 263"/>
                <a:gd name="T9" fmla="*/ 232 h 264"/>
                <a:gd name="T10" fmla="*/ 263 w 263"/>
                <a:gd name="T11" fmla="*/ 52 h 264"/>
                <a:gd name="T12" fmla="*/ 262 w 263"/>
                <a:gd name="T13" fmla="*/ 43 h 264"/>
                <a:gd name="T14" fmla="*/ 256 w 263"/>
                <a:gd name="T15" fmla="*/ 29 h 264"/>
                <a:gd name="T16" fmla="*/ 245 w 263"/>
                <a:gd name="T17" fmla="*/ 18 h 264"/>
                <a:gd name="T18" fmla="*/ 231 w 263"/>
                <a:gd name="T19" fmla="*/ 13 h 264"/>
                <a:gd name="T20" fmla="*/ 222 w 263"/>
                <a:gd name="T21" fmla="*/ 11 h 264"/>
                <a:gd name="T22" fmla="*/ 207 w 263"/>
                <a:gd name="T23" fmla="*/ 15 h 264"/>
                <a:gd name="T24" fmla="*/ 194 w 263"/>
                <a:gd name="T25" fmla="*/ 24 h 264"/>
                <a:gd name="T26" fmla="*/ 189 w 263"/>
                <a:gd name="T27" fmla="*/ 29 h 264"/>
                <a:gd name="T28" fmla="*/ 183 w 263"/>
                <a:gd name="T29" fmla="*/ 43 h 264"/>
                <a:gd name="T30" fmla="*/ 183 w 263"/>
                <a:gd name="T31" fmla="*/ 52 h 264"/>
                <a:gd name="T32" fmla="*/ 69 w 263"/>
                <a:gd name="T33" fmla="*/ 13 h 264"/>
                <a:gd name="T34" fmla="*/ 62 w 263"/>
                <a:gd name="T35" fmla="*/ 7 h 264"/>
                <a:gd name="T36" fmla="*/ 48 w 263"/>
                <a:gd name="T37" fmla="*/ 1 h 264"/>
                <a:gd name="T38" fmla="*/ 33 w 263"/>
                <a:gd name="T39" fmla="*/ 1 h 264"/>
                <a:gd name="T40" fmla="*/ 19 w 263"/>
                <a:gd name="T41" fmla="*/ 7 h 264"/>
                <a:gd name="T42" fmla="*/ 12 w 263"/>
                <a:gd name="T43" fmla="*/ 13 h 264"/>
                <a:gd name="T44" fmla="*/ 3 w 263"/>
                <a:gd name="T45" fmla="*/ 25 h 264"/>
                <a:gd name="T46" fmla="*/ 0 w 263"/>
                <a:gd name="T47" fmla="*/ 41 h 264"/>
                <a:gd name="T48" fmla="*/ 3 w 263"/>
                <a:gd name="T49" fmla="*/ 56 h 264"/>
                <a:gd name="T50" fmla="*/ 12 w 263"/>
                <a:gd name="T51" fmla="*/ 69 h 264"/>
                <a:gd name="T52" fmla="*/ 51 w 263"/>
                <a:gd name="T53" fmla="*/ 183 h 264"/>
                <a:gd name="T54" fmla="*/ 44 w 263"/>
                <a:gd name="T55" fmla="*/ 184 h 264"/>
                <a:gd name="T56" fmla="*/ 29 w 263"/>
                <a:gd name="T57" fmla="*/ 190 h 264"/>
                <a:gd name="T58" fmla="*/ 19 w 263"/>
                <a:gd name="T59" fmla="*/ 201 h 264"/>
                <a:gd name="T60" fmla="*/ 12 w 263"/>
                <a:gd name="T61" fmla="*/ 215 h 264"/>
                <a:gd name="T62" fmla="*/ 12 w 263"/>
                <a:gd name="T63" fmla="*/ 223 h 264"/>
                <a:gd name="T64" fmla="*/ 15 w 263"/>
                <a:gd name="T65" fmla="*/ 239 h 264"/>
                <a:gd name="T66" fmla="*/ 23 w 263"/>
                <a:gd name="T67" fmla="*/ 251 h 264"/>
                <a:gd name="T68" fmla="*/ 36 w 263"/>
                <a:gd name="T69" fmla="*/ 261 h 264"/>
                <a:gd name="T70" fmla="*/ 51 w 263"/>
                <a:gd name="T71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3" h="264">
                  <a:moveTo>
                    <a:pt x="51" y="264"/>
                  </a:moveTo>
                  <a:lnTo>
                    <a:pt x="222" y="264"/>
                  </a:lnTo>
                  <a:lnTo>
                    <a:pt x="222" y="264"/>
                  </a:lnTo>
                  <a:lnTo>
                    <a:pt x="231" y="263"/>
                  </a:lnTo>
                  <a:lnTo>
                    <a:pt x="238" y="261"/>
                  </a:lnTo>
                  <a:lnTo>
                    <a:pt x="245" y="257"/>
                  </a:lnTo>
                  <a:lnTo>
                    <a:pt x="252" y="251"/>
                  </a:lnTo>
                  <a:lnTo>
                    <a:pt x="256" y="246"/>
                  </a:lnTo>
                  <a:lnTo>
                    <a:pt x="260" y="239"/>
                  </a:lnTo>
                  <a:lnTo>
                    <a:pt x="262" y="232"/>
                  </a:lnTo>
                  <a:lnTo>
                    <a:pt x="263" y="223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2" y="43"/>
                  </a:lnTo>
                  <a:lnTo>
                    <a:pt x="260" y="36"/>
                  </a:lnTo>
                  <a:lnTo>
                    <a:pt x="256" y="29"/>
                  </a:lnTo>
                  <a:lnTo>
                    <a:pt x="252" y="24"/>
                  </a:lnTo>
                  <a:lnTo>
                    <a:pt x="245" y="18"/>
                  </a:lnTo>
                  <a:lnTo>
                    <a:pt x="238" y="15"/>
                  </a:lnTo>
                  <a:lnTo>
                    <a:pt x="231" y="13"/>
                  </a:lnTo>
                  <a:lnTo>
                    <a:pt x="222" y="11"/>
                  </a:lnTo>
                  <a:lnTo>
                    <a:pt x="222" y="11"/>
                  </a:lnTo>
                  <a:lnTo>
                    <a:pt x="214" y="13"/>
                  </a:lnTo>
                  <a:lnTo>
                    <a:pt x="207" y="15"/>
                  </a:lnTo>
                  <a:lnTo>
                    <a:pt x="200" y="18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89" y="29"/>
                  </a:lnTo>
                  <a:lnTo>
                    <a:pt x="186" y="36"/>
                  </a:lnTo>
                  <a:lnTo>
                    <a:pt x="183" y="43"/>
                  </a:lnTo>
                  <a:lnTo>
                    <a:pt x="183" y="52"/>
                  </a:lnTo>
                  <a:lnTo>
                    <a:pt x="183" y="52"/>
                  </a:lnTo>
                  <a:lnTo>
                    <a:pt x="183" y="126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2" y="7"/>
                  </a:lnTo>
                  <a:lnTo>
                    <a:pt x="55" y="3"/>
                  </a:lnTo>
                  <a:lnTo>
                    <a:pt x="48" y="1"/>
                  </a:lnTo>
                  <a:lnTo>
                    <a:pt x="40" y="0"/>
                  </a:lnTo>
                  <a:lnTo>
                    <a:pt x="33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5"/>
                  </a:lnTo>
                  <a:lnTo>
                    <a:pt x="0" y="34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3" y="56"/>
                  </a:lnTo>
                  <a:lnTo>
                    <a:pt x="6" y="63"/>
                  </a:lnTo>
                  <a:lnTo>
                    <a:pt x="12" y="69"/>
                  </a:lnTo>
                  <a:lnTo>
                    <a:pt x="126" y="183"/>
                  </a:lnTo>
                  <a:lnTo>
                    <a:pt x="51" y="183"/>
                  </a:lnTo>
                  <a:lnTo>
                    <a:pt x="51" y="183"/>
                  </a:lnTo>
                  <a:lnTo>
                    <a:pt x="44" y="184"/>
                  </a:lnTo>
                  <a:lnTo>
                    <a:pt x="36" y="185"/>
                  </a:lnTo>
                  <a:lnTo>
                    <a:pt x="29" y="190"/>
                  </a:lnTo>
                  <a:lnTo>
                    <a:pt x="23" y="195"/>
                  </a:lnTo>
                  <a:lnTo>
                    <a:pt x="19" y="201"/>
                  </a:lnTo>
                  <a:lnTo>
                    <a:pt x="15" y="208"/>
                  </a:lnTo>
                  <a:lnTo>
                    <a:pt x="12" y="215"/>
                  </a:lnTo>
                  <a:lnTo>
                    <a:pt x="12" y="223"/>
                  </a:lnTo>
                  <a:lnTo>
                    <a:pt x="12" y="223"/>
                  </a:lnTo>
                  <a:lnTo>
                    <a:pt x="12" y="232"/>
                  </a:lnTo>
                  <a:lnTo>
                    <a:pt x="15" y="239"/>
                  </a:lnTo>
                  <a:lnTo>
                    <a:pt x="19" y="246"/>
                  </a:lnTo>
                  <a:lnTo>
                    <a:pt x="23" y="251"/>
                  </a:lnTo>
                  <a:lnTo>
                    <a:pt x="29" y="257"/>
                  </a:lnTo>
                  <a:lnTo>
                    <a:pt x="36" y="261"/>
                  </a:lnTo>
                  <a:lnTo>
                    <a:pt x="44" y="263"/>
                  </a:lnTo>
                  <a:lnTo>
                    <a:pt x="51" y="264"/>
                  </a:lnTo>
                  <a:lnTo>
                    <a:pt x="51" y="26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593C52D3-A24D-2FFB-4740-BB356402B031}"/>
              </a:ext>
            </a:extLst>
          </p:cNvPr>
          <p:cNvGrpSpPr/>
          <p:nvPr/>
        </p:nvGrpSpPr>
        <p:grpSpPr>
          <a:xfrm>
            <a:off x="415199" y="2339086"/>
            <a:ext cx="5924290" cy="167501"/>
            <a:chOff x="395015" y="2670800"/>
            <a:chExt cx="5852282" cy="167501"/>
          </a:xfrm>
        </p:grpSpPr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6D11BA48-0074-F16C-6630-9F86BFEEF821}"/>
                </a:ext>
              </a:extLst>
            </p:cNvPr>
            <p:cNvSpPr/>
            <p:nvPr/>
          </p:nvSpPr>
          <p:spPr>
            <a:xfrm>
              <a:off x="395015" y="2718551"/>
              <a:ext cx="1163654" cy="72000"/>
            </a:xfrm>
            <a:prstGeom prst="rect">
              <a:avLst/>
            </a:prstGeom>
            <a:solidFill>
              <a:srgbClr val="8DAC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sz="1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03EC8549-6606-0402-9CEE-D238E4FFD74D}"/>
                </a:ext>
              </a:extLst>
            </p:cNvPr>
            <p:cNvSpPr/>
            <p:nvPr/>
          </p:nvSpPr>
          <p:spPr>
            <a:xfrm>
              <a:off x="1585704" y="2718551"/>
              <a:ext cx="1163654" cy="72000"/>
            </a:xfrm>
            <a:prstGeom prst="rect">
              <a:avLst/>
            </a:prstGeom>
            <a:solidFill>
              <a:srgbClr val="4779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445DB8C8-3E02-9822-0A5E-BE928F323896}"/>
                </a:ext>
              </a:extLst>
            </p:cNvPr>
            <p:cNvSpPr/>
            <p:nvPr/>
          </p:nvSpPr>
          <p:spPr>
            <a:xfrm>
              <a:off x="2720752" y="2718551"/>
              <a:ext cx="1163654" cy="72000"/>
            </a:xfrm>
            <a:prstGeom prst="rect">
              <a:avLst/>
            </a:prstGeom>
            <a:solidFill>
              <a:srgbClr val="015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1785F44C-D9FF-7745-052F-C26CCFD726DB}"/>
                </a:ext>
              </a:extLst>
            </p:cNvPr>
            <p:cNvSpPr/>
            <p:nvPr/>
          </p:nvSpPr>
          <p:spPr>
            <a:xfrm>
              <a:off x="3908884" y="2718551"/>
              <a:ext cx="1163654" cy="72000"/>
            </a:xfrm>
            <a:prstGeom prst="rect">
              <a:avLst/>
            </a:prstGeom>
            <a:solidFill>
              <a:srgbClr val="041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78C1CE2E-E880-5F3F-C91F-573C9DE3EF64}"/>
                </a:ext>
              </a:extLst>
            </p:cNvPr>
            <p:cNvSpPr/>
            <p:nvPr/>
          </p:nvSpPr>
          <p:spPr>
            <a:xfrm>
              <a:off x="5099573" y="2718551"/>
              <a:ext cx="1121714" cy="72000"/>
            </a:xfrm>
            <a:prstGeom prst="rect">
              <a:avLst/>
            </a:prstGeom>
            <a:solidFill>
              <a:srgbClr val="0209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56" name="이등변 삼각형 155">
              <a:extLst>
                <a:ext uri="{FF2B5EF4-FFF2-40B4-BE49-F238E27FC236}">
                  <a16:creationId xmlns:a16="http://schemas.microsoft.com/office/drawing/2014/main" id="{8E155E54-596A-6EC1-C2CC-5C3A328CBE54}"/>
                </a:ext>
              </a:extLst>
            </p:cNvPr>
            <p:cNvSpPr/>
            <p:nvPr/>
          </p:nvSpPr>
          <p:spPr>
            <a:xfrm rot="5400000">
              <a:off x="6128466" y="2719470"/>
              <a:ext cx="167501" cy="70161"/>
            </a:xfrm>
            <a:prstGeom prst="triangle">
              <a:avLst/>
            </a:prstGeom>
            <a:solidFill>
              <a:srgbClr val="0209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sz="120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2D45AC79-15C5-FE6A-A4CF-B4F9C08690BA}"/>
              </a:ext>
            </a:extLst>
          </p:cNvPr>
          <p:cNvSpPr/>
          <p:nvPr/>
        </p:nvSpPr>
        <p:spPr>
          <a:xfrm>
            <a:off x="1748644" y="2168832"/>
            <a:ext cx="213544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200" spc="-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Index·Mapping</a:t>
            </a:r>
            <a:r>
              <a:rPr lang="ko-KR" altLang="en-US" sz="12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설계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0AEF3DA-4D4E-0AFC-0705-AFA63FAA532E}"/>
              </a:ext>
            </a:extLst>
          </p:cNvPr>
          <p:cNvSpPr/>
          <p:nvPr/>
        </p:nvSpPr>
        <p:spPr>
          <a:xfrm>
            <a:off x="515126" y="2168832"/>
            <a:ext cx="92343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2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수신 로그 분류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BB2393B9-4B30-7CEB-A06E-DB585FDFDDC3}"/>
              </a:ext>
            </a:extLst>
          </p:cNvPr>
          <p:cNvSpPr/>
          <p:nvPr/>
        </p:nvSpPr>
        <p:spPr>
          <a:xfrm>
            <a:off x="4023036" y="2168832"/>
            <a:ext cx="105174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2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실시간 인덱싱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4E74956E-5AFA-42C3-B51A-6EE71E6D17BF}"/>
              </a:ext>
            </a:extLst>
          </p:cNvPr>
          <p:cNvSpPr/>
          <p:nvPr/>
        </p:nvSpPr>
        <p:spPr>
          <a:xfrm>
            <a:off x="5192755" y="2168832"/>
            <a:ext cx="105174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2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통합검색</a:t>
            </a:r>
          </a:p>
        </p:txBody>
      </p:sp>
      <p:sp>
        <p:nvSpPr>
          <p:cNvPr id="179" name="Rectangle 25">
            <a:extLst>
              <a:ext uri="{FF2B5EF4-FFF2-40B4-BE49-F238E27FC236}">
                <a16:creationId xmlns:a16="http://schemas.microsoft.com/office/drawing/2014/main" id="{64DCBB3B-5411-8B0E-F122-C5FEC1A49E7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4047" y="2538308"/>
            <a:ext cx="1106875" cy="93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저널 데이터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애플리케이션 로그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시스템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서버 로그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채널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인터페이스 로그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배치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스케줄 로그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오류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예외 로그</a:t>
            </a:r>
          </a:p>
        </p:txBody>
      </p:sp>
      <p:sp>
        <p:nvSpPr>
          <p:cNvPr id="182" name="AutoShape 227">
            <a:extLst>
              <a:ext uri="{FF2B5EF4-FFF2-40B4-BE49-F238E27FC236}">
                <a16:creationId xmlns:a16="http://schemas.microsoft.com/office/drawing/2014/main" id="{C91F3D1D-E025-F60D-47D7-8B4324B5BA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36160" y="2498385"/>
            <a:ext cx="517770" cy="13849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latinLnBrk="0"/>
            <a:r>
              <a:rPr lang="ko-KR" altLang="en-US" sz="9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저널 </a:t>
            </a:r>
            <a:r>
              <a:rPr lang="en-US" altLang="ko-KR" sz="9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185" name="AutoShape 227">
            <a:extLst>
              <a:ext uri="{FF2B5EF4-FFF2-40B4-BE49-F238E27FC236}">
                <a16:creationId xmlns:a16="http://schemas.microsoft.com/office/drawing/2014/main" id="{28B5BD26-3153-2EB6-587A-33C8000519E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68994" y="2492868"/>
            <a:ext cx="771045" cy="13849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latinLnBrk="0"/>
            <a:r>
              <a:rPr lang="ko-KR" altLang="en-US" sz="9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운영</a:t>
            </a:r>
            <a:r>
              <a:rPr lang="en-US" altLang="ko-KR" sz="9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9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로그</a:t>
            </a:r>
            <a:r>
              <a:rPr lang="en-US" altLang="ko-KR" sz="9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Index</a:t>
            </a:r>
          </a:p>
        </p:txBody>
      </p:sp>
      <p:sp>
        <p:nvSpPr>
          <p:cNvPr id="187" name="Rectangle 25">
            <a:extLst>
              <a:ext uri="{FF2B5EF4-FFF2-40B4-BE49-F238E27FC236}">
                <a16:creationId xmlns:a16="http://schemas.microsoft.com/office/drawing/2014/main" id="{4C5003DF-7E86-2B7D-B7A2-9EE73D25E58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20539" y="2687185"/>
            <a:ext cx="116492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거래고유번호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전문번호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거래 발생시각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처리시간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업무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서비스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채널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처리단계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결과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오류코드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E2E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추적 식별자</a:t>
            </a:r>
          </a:p>
        </p:txBody>
      </p:sp>
      <p:sp>
        <p:nvSpPr>
          <p:cNvPr id="188" name="Rectangle 25">
            <a:extLst>
              <a:ext uri="{FF2B5EF4-FFF2-40B4-BE49-F238E27FC236}">
                <a16:creationId xmlns:a16="http://schemas.microsoft.com/office/drawing/2014/main" id="{9E248461-8C66-1736-02E4-FE0643602A2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85463" y="2683955"/>
            <a:ext cx="120275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로그 발생시각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로그 레벨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시스템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서버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애플리케이션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메시지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오류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예외 정보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배치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인터페이스 정보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원천 로그 출처</a:t>
            </a:r>
          </a:p>
        </p:txBody>
      </p: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8AF15A38-5790-1C19-567C-231303A7ECEE}"/>
              </a:ext>
            </a:extLst>
          </p:cNvPr>
          <p:cNvCxnSpPr>
            <a:cxnSpLocks/>
          </p:cNvCxnSpPr>
          <p:nvPr/>
        </p:nvCxnSpPr>
        <p:spPr>
          <a:xfrm>
            <a:off x="1607826" y="2663019"/>
            <a:ext cx="2339698" cy="0"/>
          </a:xfrm>
          <a:prstGeom prst="line">
            <a:avLst/>
          </a:prstGeom>
          <a:ln w="9525">
            <a:solidFill>
              <a:srgbClr val="0209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25">
            <a:extLst>
              <a:ext uri="{FF2B5EF4-FFF2-40B4-BE49-F238E27FC236}">
                <a16:creationId xmlns:a16="http://schemas.microsoft.com/office/drawing/2014/main" id="{C3A0A07A-78C4-9EF3-EC6E-D18E1F04E2D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999358" y="2506907"/>
            <a:ext cx="1106875" cy="117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즉시 검색 가능한 구조로 인덱싱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Index Template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표준화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Data Stream /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기간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Index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용량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기간 기반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Rollover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Alias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다중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Index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통합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ILM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보존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이관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삭제</a:t>
            </a:r>
          </a:p>
        </p:txBody>
      </p:sp>
      <p:sp>
        <p:nvSpPr>
          <p:cNvPr id="192" name="Rectangle 25">
            <a:extLst>
              <a:ext uri="{FF2B5EF4-FFF2-40B4-BE49-F238E27FC236}">
                <a16:creationId xmlns:a16="http://schemas.microsoft.com/office/drawing/2014/main" id="{04484C49-B627-2342-101A-5932A850322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81644" y="2502914"/>
            <a:ext cx="1106875" cy="93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시간 범위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조건 검색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거래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전문번호 추적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레벨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오류코드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키워드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Boolean Query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조합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필터링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정렬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드릴다운</a:t>
            </a:r>
          </a:p>
          <a:p>
            <a: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검색조건 저장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재사용</a:t>
            </a:r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35938D27-A22A-A825-3C5E-426FC9160C8C}"/>
              </a:ext>
            </a:extLst>
          </p:cNvPr>
          <p:cNvCxnSpPr>
            <a:cxnSpLocks/>
          </p:cNvCxnSpPr>
          <p:nvPr/>
        </p:nvCxnSpPr>
        <p:spPr>
          <a:xfrm>
            <a:off x="1124232" y="4533509"/>
            <a:ext cx="4628768" cy="0"/>
          </a:xfrm>
          <a:prstGeom prst="line">
            <a:avLst/>
          </a:prstGeom>
          <a:ln w="28575" cap="rnd">
            <a:solidFill>
              <a:srgbClr val="BFBF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타원 243">
            <a:extLst>
              <a:ext uri="{FF2B5EF4-FFF2-40B4-BE49-F238E27FC236}">
                <a16:creationId xmlns:a16="http://schemas.microsoft.com/office/drawing/2014/main" id="{FA1DFC5B-5147-7E65-0071-D8578CCA5DBA}"/>
              </a:ext>
            </a:extLst>
          </p:cNvPr>
          <p:cNvSpPr/>
          <p:nvPr/>
        </p:nvSpPr>
        <p:spPr>
          <a:xfrm>
            <a:off x="415199" y="4017838"/>
            <a:ext cx="1045847" cy="1031342"/>
          </a:xfrm>
          <a:prstGeom prst="ellipse">
            <a:avLst/>
          </a:prstGeom>
          <a:solidFill>
            <a:srgbClr val="01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>
                <a:latin typeface="페이퍼로지 6 SemiBold" pitchFamily="2" charset="-127"/>
                <a:ea typeface="페이퍼로지 6 SemiBold" pitchFamily="2" charset="-127"/>
              </a:rPr>
              <a:t>식별</a:t>
            </a:r>
            <a:r>
              <a:rPr lang="en-US" altLang="ko-KR" sz="1200" dirty="0"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200" dirty="0">
                <a:latin typeface="페이퍼로지 6 SemiBold" pitchFamily="2" charset="-127"/>
                <a:ea typeface="페이퍼로지 6 SemiBold" pitchFamily="2" charset="-127"/>
              </a:rPr>
              <a:t>분류</a:t>
            </a:r>
            <a:endParaRPr lang="en-US" altLang="ko-KR" sz="1200" dirty="0">
              <a:latin typeface="페이퍼로지 6 SemiBold" pitchFamily="2" charset="-127"/>
              <a:ea typeface="페이퍼로지 6 SemiBold" pitchFamily="2" charset="-127"/>
            </a:endParaRPr>
          </a:p>
          <a:p>
            <a:pPr algn="ctr" latinLnBrk="0"/>
            <a:endParaRPr lang="en-US" altLang="ko-KR" sz="1200" dirty="0">
              <a:latin typeface="페이퍼로지 6 SemiBold" pitchFamily="2" charset="-127"/>
              <a:ea typeface="페이퍼로지 6 SemiBold" pitchFamily="2" charset="-127"/>
            </a:endParaRPr>
          </a:p>
          <a:p>
            <a:pPr algn="ctr" latinLnBrk="0"/>
            <a:endParaRPr lang="ko-KR" altLang="en-US" sz="12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45" name="타원 244">
            <a:extLst>
              <a:ext uri="{FF2B5EF4-FFF2-40B4-BE49-F238E27FC236}">
                <a16:creationId xmlns:a16="http://schemas.microsoft.com/office/drawing/2014/main" id="{AC4BF620-65E7-1FDB-26F6-6DA225F5F2B7}"/>
              </a:ext>
            </a:extLst>
          </p:cNvPr>
          <p:cNvSpPr/>
          <p:nvPr/>
        </p:nvSpPr>
        <p:spPr>
          <a:xfrm>
            <a:off x="5275578" y="4017838"/>
            <a:ext cx="1045847" cy="1031342"/>
          </a:xfrm>
          <a:prstGeom prst="ellipse">
            <a:avLst/>
          </a:prstGeom>
          <a:solidFill>
            <a:srgbClr val="01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>
                <a:latin typeface="페이퍼로지 6 SemiBold" pitchFamily="2" charset="-127"/>
                <a:ea typeface="페이퍼로지 6 SemiBold" pitchFamily="2" charset="-127"/>
              </a:rPr>
              <a:t>인덱싱 통제</a:t>
            </a:r>
            <a:endParaRPr lang="en-US" altLang="ko-KR" sz="1200" dirty="0">
              <a:latin typeface="페이퍼로지 6 SemiBold" pitchFamily="2" charset="-127"/>
              <a:ea typeface="페이퍼로지 6 SemiBold" pitchFamily="2" charset="-127"/>
            </a:endParaRPr>
          </a:p>
          <a:p>
            <a:pPr algn="ctr" latinLnBrk="0"/>
            <a:endParaRPr lang="en-US" altLang="ko-KR" sz="1200" dirty="0">
              <a:latin typeface="페이퍼로지 6 SemiBold" pitchFamily="2" charset="-127"/>
              <a:ea typeface="페이퍼로지 6 SemiBold" pitchFamily="2" charset="-127"/>
            </a:endParaRPr>
          </a:p>
          <a:p>
            <a:pPr algn="ctr" latinLnBrk="0"/>
            <a:endParaRPr lang="ko-KR" altLang="en-US" sz="12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46" name="타원 245">
            <a:extLst>
              <a:ext uri="{FF2B5EF4-FFF2-40B4-BE49-F238E27FC236}">
                <a16:creationId xmlns:a16="http://schemas.microsoft.com/office/drawing/2014/main" id="{9A97CB8B-3416-15E5-CAF8-8C5F862DA30B}"/>
              </a:ext>
            </a:extLst>
          </p:cNvPr>
          <p:cNvSpPr/>
          <p:nvPr/>
        </p:nvSpPr>
        <p:spPr>
          <a:xfrm>
            <a:off x="3655451" y="4017838"/>
            <a:ext cx="1045847" cy="1031342"/>
          </a:xfrm>
          <a:prstGeom prst="ellipse">
            <a:avLst/>
          </a:prstGeom>
          <a:solidFill>
            <a:srgbClr val="01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>
                <a:latin typeface="페이퍼로지 6 SemiBold" pitchFamily="2" charset="-127"/>
                <a:ea typeface="페이퍼로지 6 SemiBold" pitchFamily="2" charset="-127"/>
              </a:rPr>
              <a:t>시간</a:t>
            </a:r>
            <a:r>
              <a:rPr lang="en-US" altLang="ko-KR" sz="1200" dirty="0"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200" dirty="0">
                <a:latin typeface="페이퍼로지 6 SemiBold" pitchFamily="2" charset="-127"/>
                <a:ea typeface="페이퍼로지 6 SemiBold" pitchFamily="2" charset="-127"/>
              </a:rPr>
              <a:t>수치</a:t>
            </a:r>
            <a:endParaRPr lang="en-US" altLang="ko-KR" sz="1200" dirty="0">
              <a:latin typeface="페이퍼로지 6 SemiBold" pitchFamily="2" charset="-127"/>
              <a:ea typeface="페이퍼로지 6 SemiBold" pitchFamily="2" charset="-127"/>
            </a:endParaRPr>
          </a:p>
          <a:p>
            <a:pPr algn="ctr" latinLnBrk="0"/>
            <a:endParaRPr lang="en-US" altLang="ko-KR" sz="1200" dirty="0">
              <a:latin typeface="페이퍼로지 6 SemiBold" pitchFamily="2" charset="-127"/>
              <a:ea typeface="페이퍼로지 6 SemiBold" pitchFamily="2" charset="-127"/>
            </a:endParaRPr>
          </a:p>
          <a:p>
            <a:pPr algn="ctr" latinLnBrk="0"/>
            <a:endParaRPr lang="ko-KR" altLang="en-US" sz="12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47" name="타원 246">
            <a:extLst>
              <a:ext uri="{FF2B5EF4-FFF2-40B4-BE49-F238E27FC236}">
                <a16:creationId xmlns:a16="http://schemas.microsoft.com/office/drawing/2014/main" id="{F53F7B02-4F8D-0462-F832-94F58724C72B}"/>
              </a:ext>
            </a:extLst>
          </p:cNvPr>
          <p:cNvSpPr/>
          <p:nvPr/>
        </p:nvSpPr>
        <p:spPr>
          <a:xfrm>
            <a:off x="2035325" y="4017838"/>
            <a:ext cx="1045847" cy="1031342"/>
          </a:xfrm>
          <a:prstGeom prst="ellipse">
            <a:avLst/>
          </a:prstGeom>
          <a:solidFill>
            <a:srgbClr val="01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>
                <a:latin typeface="페이퍼로지 6 SemiBold" pitchFamily="2" charset="-127"/>
                <a:ea typeface="페이퍼로지 6 SemiBold" pitchFamily="2" charset="-127"/>
              </a:rPr>
              <a:t>본문 검색</a:t>
            </a:r>
            <a:endParaRPr lang="en-US" altLang="ko-KR" sz="1200" dirty="0">
              <a:latin typeface="페이퍼로지 6 SemiBold" pitchFamily="2" charset="-127"/>
              <a:ea typeface="페이퍼로지 6 SemiBold" pitchFamily="2" charset="-127"/>
            </a:endParaRPr>
          </a:p>
          <a:p>
            <a:pPr algn="ctr" latinLnBrk="0"/>
            <a:endParaRPr lang="en-US" altLang="ko-KR" sz="1200" dirty="0">
              <a:latin typeface="페이퍼로지 6 SemiBold" pitchFamily="2" charset="-127"/>
              <a:ea typeface="페이퍼로지 6 SemiBold" pitchFamily="2" charset="-127"/>
            </a:endParaRPr>
          </a:p>
          <a:p>
            <a:pPr algn="ctr" latinLnBrk="0"/>
            <a:endParaRPr lang="ko-KR" altLang="en-US" sz="12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1518B8BC-0B7D-DEF2-473D-E0BA75919BD3}"/>
              </a:ext>
            </a:extLst>
          </p:cNvPr>
          <p:cNvGrpSpPr/>
          <p:nvPr/>
        </p:nvGrpSpPr>
        <p:grpSpPr>
          <a:xfrm>
            <a:off x="1637693" y="4424549"/>
            <a:ext cx="220985" cy="217920"/>
            <a:chOff x="4255080" y="2943725"/>
            <a:chExt cx="213051" cy="213051"/>
          </a:xfrm>
        </p:grpSpPr>
        <p:sp>
          <p:nvSpPr>
            <p:cNvPr id="249" name="타원 248">
              <a:extLst>
                <a:ext uri="{FF2B5EF4-FFF2-40B4-BE49-F238E27FC236}">
                  <a16:creationId xmlns:a16="http://schemas.microsoft.com/office/drawing/2014/main" id="{755C75FC-3466-ECEC-37EE-08E6703888D6}"/>
                </a:ext>
              </a:extLst>
            </p:cNvPr>
            <p:cNvSpPr/>
            <p:nvPr/>
          </p:nvSpPr>
          <p:spPr>
            <a:xfrm>
              <a:off x="4255080" y="2943725"/>
              <a:ext cx="213051" cy="21305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250" name="십자형 249">
              <a:extLst>
                <a:ext uri="{FF2B5EF4-FFF2-40B4-BE49-F238E27FC236}">
                  <a16:creationId xmlns:a16="http://schemas.microsoft.com/office/drawing/2014/main" id="{23506460-42D4-BE94-234C-B59D21FB00AD}"/>
                </a:ext>
              </a:extLst>
            </p:cNvPr>
            <p:cNvSpPr/>
            <p:nvPr/>
          </p:nvSpPr>
          <p:spPr>
            <a:xfrm>
              <a:off x="4298525" y="2987170"/>
              <a:ext cx="126157" cy="126157"/>
            </a:xfrm>
            <a:prstGeom prst="plus">
              <a:avLst>
                <a:gd name="adj" fmla="val 40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100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251" name="그룹 250">
            <a:extLst>
              <a:ext uri="{FF2B5EF4-FFF2-40B4-BE49-F238E27FC236}">
                <a16:creationId xmlns:a16="http://schemas.microsoft.com/office/drawing/2014/main" id="{3D953E08-8F3C-BE4E-573E-50E1B8D829CD}"/>
              </a:ext>
            </a:extLst>
          </p:cNvPr>
          <p:cNvGrpSpPr/>
          <p:nvPr/>
        </p:nvGrpSpPr>
        <p:grpSpPr>
          <a:xfrm>
            <a:off x="3257819" y="4424549"/>
            <a:ext cx="220985" cy="217920"/>
            <a:chOff x="4255080" y="2943725"/>
            <a:chExt cx="213051" cy="213051"/>
          </a:xfrm>
        </p:grpSpPr>
        <p:sp>
          <p:nvSpPr>
            <p:cNvPr id="252" name="타원 251">
              <a:extLst>
                <a:ext uri="{FF2B5EF4-FFF2-40B4-BE49-F238E27FC236}">
                  <a16:creationId xmlns:a16="http://schemas.microsoft.com/office/drawing/2014/main" id="{584CCED7-92FE-C527-107D-903BADBEFD7D}"/>
                </a:ext>
              </a:extLst>
            </p:cNvPr>
            <p:cNvSpPr/>
            <p:nvPr/>
          </p:nvSpPr>
          <p:spPr>
            <a:xfrm>
              <a:off x="4255080" y="2943725"/>
              <a:ext cx="213051" cy="21305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253" name="십자형 252">
              <a:extLst>
                <a:ext uri="{FF2B5EF4-FFF2-40B4-BE49-F238E27FC236}">
                  <a16:creationId xmlns:a16="http://schemas.microsoft.com/office/drawing/2014/main" id="{D9A34BAB-1A25-A05E-3365-A526846314EB}"/>
                </a:ext>
              </a:extLst>
            </p:cNvPr>
            <p:cNvSpPr/>
            <p:nvPr/>
          </p:nvSpPr>
          <p:spPr>
            <a:xfrm>
              <a:off x="4298525" y="2987170"/>
              <a:ext cx="126157" cy="126157"/>
            </a:xfrm>
            <a:prstGeom prst="plus">
              <a:avLst>
                <a:gd name="adj" fmla="val 40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100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90B9C813-FD86-0C47-E5E7-257FAB7C5012}"/>
              </a:ext>
            </a:extLst>
          </p:cNvPr>
          <p:cNvGrpSpPr/>
          <p:nvPr/>
        </p:nvGrpSpPr>
        <p:grpSpPr>
          <a:xfrm>
            <a:off x="4877945" y="4424549"/>
            <a:ext cx="220985" cy="217920"/>
            <a:chOff x="4255080" y="2943725"/>
            <a:chExt cx="213051" cy="213051"/>
          </a:xfrm>
        </p:grpSpPr>
        <p:sp>
          <p:nvSpPr>
            <p:cNvPr id="255" name="타원 254">
              <a:extLst>
                <a:ext uri="{FF2B5EF4-FFF2-40B4-BE49-F238E27FC236}">
                  <a16:creationId xmlns:a16="http://schemas.microsoft.com/office/drawing/2014/main" id="{653650ED-BD3B-803D-ED5B-1F6C076F0C52}"/>
                </a:ext>
              </a:extLst>
            </p:cNvPr>
            <p:cNvSpPr/>
            <p:nvPr/>
          </p:nvSpPr>
          <p:spPr>
            <a:xfrm>
              <a:off x="4255080" y="2943725"/>
              <a:ext cx="213051" cy="21305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dirty="0"/>
            </a:p>
          </p:txBody>
        </p:sp>
        <p:sp>
          <p:nvSpPr>
            <p:cNvPr id="256" name="십자형 255">
              <a:extLst>
                <a:ext uri="{FF2B5EF4-FFF2-40B4-BE49-F238E27FC236}">
                  <a16:creationId xmlns:a16="http://schemas.microsoft.com/office/drawing/2014/main" id="{DAF3E4D7-1770-5C15-937C-E33B531438CA}"/>
                </a:ext>
              </a:extLst>
            </p:cNvPr>
            <p:cNvSpPr/>
            <p:nvPr/>
          </p:nvSpPr>
          <p:spPr>
            <a:xfrm>
              <a:off x="4298525" y="2987170"/>
              <a:ext cx="126157" cy="126157"/>
            </a:xfrm>
            <a:prstGeom prst="plus">
              <a:avLst>
                <a:gd name="adj" fmla="val 40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100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619FB367-B710-6FEF-4DF3-F03FF9433AC7}"/>
              </a:ext>
            </a:extLst>
          </p:cNvPr>
          <p:cNvGrpSpPr/>
          <p:nvPr/>
        </p:nvGrpSpPr>
        <p:grpSpPr>
          <a:xfrm>
            <a:off x="416358" y="3694382"/>
            <a:ext cx="2029815" cy="215444"/>
            <a:chOff x="416358" y="1564175"/>
            <a:chExt cx="2029815" cy="215444"/>
          </a:xfrm>
        </p:grpSpPr>
        <p:sp>
          <p:nvSpPr>
            <p:cNvPr id="259" name="Text Box 79">
              <a:extLst>
                <a:ext uri="{FF2B5EF4-FFF2-40B4-BE49-F238E27FC236}">
                  <a16:creationId xmlns:a16="http://schemas.microsoft.com/office/drawing/2014/main" id="{84B8407E-03A6-08CF-BF58-83A54EC651A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6101" y="1564175"/>
              <a:ext cx="1900072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fontAlgn="base">
                <a:spcBef>
                  <a:spcPts val="200"/>
                </a:spcBef>
                <a:buClr>
                  <a:srgbClr val="4D4D4D"/>
                </a:buClr>
              </a:pPr>
              <a:r>
                <a:rPr lang="en-US" altLang="ko-KR" sz="1400" dirty="0" err="1"/>
                <a:t>Index·Maping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설계 원칙</a:t>
              </a:r>
            </a:p>
          </p:txBody>
        </p: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47D46AF0-AB31-66CC-39EE-044F10ED7C24}"/>
                </a:ext>
              </a:extLst>
            </p:cNvPr>
            <p:cNvGrpSpPr/>
            <p:nvPr/>
          </p:nvGrpSpPr>
          <p:grpSpPr>
            <a:xfrm>
              <a:off x="416358" y="1591470"/>
              <a:ext cx="103211" cy="165425"/>
              <a:chOff x="-120217" y="1731639"/>
              <a:chExt cx="98259" cy="157488"/>
            </a:xfrm>
          </p:grpSpPr>
          <p:sp>
            <p:nvSpPr>
              <p:cNvPr id="261" name="자유형 25">
                <a:extLst>
                  <a:ext uri="{FF2B5EF4-FFF2-40B4-BE49-F238E27FC236}">
                    <a16:creationId xmlns:a16="http://schemas.microsoft.com/office/drawing/2014/main" id="{7595DB00-329F-9FA9-0C4A-680DCA333DB2}"/>
                  </a:ext>
                </a:extLst>
              </p:cNvPr>
              <p:cNvSpPr/>
              <p:nvPr/>
            </p:nvSpPr>
            <p:spPr>
              <a:xfrm rot="5400000">
                <a:off x="-110611" y="1722036"/>
                <a:ext cx="79048" cy="98257"/>
              </a:xfrm>
              <a:custGeom>
                <a:avLst/>
                <a:gdLst>
                  <a:gd name="connsiteX0" fmla="*/ 0 w 79048"/>
                  <a:gd name="connsiteY0" fmla="*/ 98257 h 98257"/>
                  <a:gd name="connsiteX1" fmla="*/ 15638 w 79048"/>
                  <a:gd name="connsiteY1" fmla="*/ 78743 h 98257"/>
                  <a:gd name="connsiteX2" fmla="*/ 78742 w 79048"/>
                  <a:gd name="connsiteY2" fmla="*/ 0 h 98257"/>
                  <a:gd name="connsiteX3" fmla="*/ 79048 w 79048"/>
                  <a:gd name="connsiteY3" fmla="*/ 382 h 98257"/>
                  <a:gd name="connsiteX4" fmla="*/ 79048 w 79048"/>
                  <a:gd name="connsiteY4" fmla="*/ 54925 h 98257"/>
                  <a:gd name="connsiteX5" fmla="*/ 78743 w 79048"/>
                  <a:gd name="connsiteY5" fmla="*/ 54544 h 98257"/>
                  <a:gd name="connsiteX6" fmla="*/ 43712 w 79048"/>
                  <a:gd name="connsiteY6" fmla="*/ 98257 h 98257"/>
                  <a:gd name="connsiteX7" fmla="*/ 0 w 79048"/>
                  <a:gd name="connsiteY7" fmla="*/ 98257 h 9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048" h="98257">
                    <a:moveTo>
                      <a:pt x="0" y="98257"/>
                    </a:moveTo>
                    <a:lnTo>
                      <a:pt x="15638" y="78743"/>
                    </a:lnTo>
                    <a:lnTo>
                      <a:pt x="78742" y="0"/>
                    </a:lnTo>
                    <a:lnTo>
                      <a:pt x="79048" y="382"/>
                    </a:lnTo>
                    <a:lnTo>
                      <a:pt x="79048" y="54925"/>
                    </a:lnTo>
                    <a:lnTo>
                      <a:pt x="78743" y="54544"/>
                    </a:lnTo>
                    <a:lnTo>
                      <a:pt x="43712" y="98257"/>
                    </a:lnTo>
                    <a:lnTo>
                      <a:pt x="0" y="98257"/>
                    </a:lnTo>
                    <a:close/>
                  </a:path>
                </a:pathLst>
              </a:custGeom>
              <a:solidFill>
                <a:srgbClr val="0158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62" name="자유형 26">
                <a:extLst>
                  <a:ext uri="{FF2B5EF4-FFF2-40B4-BE49-F238E27FC236}">
                    <a16:creationId xmlns:a16="http://schemas.microsoft.com/office/drawing/2014/main" id="{6734DEEE-BE6A-A590-FC75-E0E7C6A7A2FA}"/>
                  </a:ext>
                </a:extLst>
              </p:cNvPr>
              <p:cNvSpPr/>
              <p:nvPr/>
            </p:nvSpPr>
            <p:spPr>
              <a:xfrm rot="5400000">
                <a:off x="-132316" y="1743738"/>
                <a:ext cx="43714" cy="19515"/>
              </a:xfrm>
              <a:custGeom>
                <a:avLst/>
                <a:gdLst>
                  <a:gd name="connsiteX0" fmla="*/ 0 w 43714"/>
                  <a:gd name="connsiteY0" fmla="*/ 19515 h 19515"/>
                  <a:gd name="connsiteX1" fmla="*/ 15640 w 43714"/>
                  <a:gd name="connsiteY1" fmla="*/ 0 h 19515"/>
                  <a:gd name="connsiteX2" fmla="*/ 2 w 43714"/>
                  <a:gd name="connsiteY2" fmla="*/ 19514 h 19515"/>
                  <a:gd name="connsiteX3" fmla="*/ 43714 w 43714"/>
                  <a:gd name="connsiteY3" fmla="*/ 19514 h 19515"/>
                  <a:gd name="connsiteX4" fmla="*/ 43713 w 43714"/>
                  <a:gd name="connsiteY4" fmla="*/ 19515 h 19515"/>
                  <a:gd name="connsiteX5" fmla="*/ 0 w 43714"/>
                  <a:gd name="connsiteY5" fmla="*/ 19515 h 1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714" h="19515">
                    <a:moveTo>
                      <a:pt x="0" y="19515"/>
                    </a:moveTo>
                    <a:lnTo>
                      <a:pt x="15640" y="0"/>
                    </a:lnTo>
                    <a:lnTo>
                      <a:pt x="2" y="19514"/>
                    </a:lnTo>
                    <a:lnTo>
                      <a:pt x="43714" y="19514"/>
                    </a:lnTo>
                    <a:lnTo>
                      <a:pt x="43713" y="19515"/>
                    </a:lnTo>
                    <a:lnTo>
                      <a:pt x="0" y="1951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63" name="자유형 27">
                <a:extLst>
                  <a:ext uri="{FF2B5EF4-FFF2-40B4-BE49-F238E27FC236}">
                    <a16:creationId xmlns:a16="http://schemas.microsoft.com/office/drawing/2014/main" id="{6AE58D04-17A8-0110-A91F-BCA5270888AC}"/>
                  </a:ext>
                </a:extLst>
              </p:cNvPr>
              <p:cNvSpPr/>
              <p:nvPr/>
            </p:nvSpPr>
            <p:spPr>
              <a:xfrm rot="5400000">
                <a:off x="-93035" y="1739611"/>
                <a:ext cx="63410" cy="78744"/>
              </a:xfrm>
              <a:custGeom>
                <a:avLst/>
                <a:gdLst>
                  <a:gd name="connsiteX0" fmla="*/ 0 w 63410"/>
                  <a:gd name="connsiteY0" fmla="*/ 78744 h 78744"/>
                  <a:gd name="connsiteX1" fmla="*/ 63104 w 63410"/>
                  <a:gd name="connsiteY1" fmla="*/ 0 h 78744"/>
                  <a:gd name="connsiteX2" fmla="*/ 63410 w 63410"/>
                  <a:gd name="connsiteY2" fmla="*/ 381 h 78744"/>
                  <a:gd name="connsiteX3" fmla="*/ 63410 w 63410"/>
                  <a:gd name="connsiteY3" fmla="*/ 383 h 78744"/>
                  <a:gd name="connsiteX4" fmla="*/ 63104 w 63410"/>
                  <a:gd name="connsiteY4" fmla="*/ 1 h 78744"/>
                  <a:gd name="connsiteX5" fmla="*/ 0 w 63410"/>
                  <a:gd name="connsiteY5" fmla="*/ 78744 h 7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10" h="78744">
                    <a:moveTo>
                      <a:pt x="0" y="78744"/>
                    </a:moveTo>
                    <a:lnTo>
                      <a:pt x="63104" y="0"/>
                    </a:lnTo>
                    <a:lnTo>
                      <a:pt x="63410" y="381"/>
                    </a:lnTo>
                    <a:lnTo>
                      <a:pt x="63410" y="383"/>
                    </a:lnTo>
                    <a:lnTo>
                      <a:pt x="63104" y="1"/>
                    </a:lnTo>
                    <a:lnTo>
                      <a:pt x="0" y="787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64" name="자유형 28">
                <a:extLst>
                  <a:ext uri="{FF2B5EF4-FFF2-40B4-BE49-F238E27FC236}">
                    <a16:creationId xmlns:a16="http://schemas.microsoft.com/office/drawing/2014/main" id="{F0C3AF27-F6B2-0D7F-992D-FE36207F546D}"/>
                  </a:ext>
                </a:extLst>
              </p:cNvPr>
              <p:cNvSpPr/>
              <p:nvPr/>
            </p:nvSpPr>
            <p:spPr>
              <a:xfrm rot="5400000">
                <a:off x="-110497" y="1800971"/>
                <a:ext cx="78437" cy="97876"/>
              </a:xfrm>
              <a:custGeom>
                <a:avLst/>
                <a:gdLst>
                  <a:gd name="connsiteX0" fmla="*/ 0 w 78437"/>
                  <a:gd name="connsiteY0" fmla="*/ 54543 h 97876"/>
                  <a:gd name="connsiteX1" fmla="*/ 0 w 78437"/>
                  <a:gd name="connsiteY1" fmla="*/ 0 h 97876"/>
                  <a:gd name="connsiteX2" fmla="*/ 78437 w 78437"/>
                  <a:gd name="connsiteY2" fmla="*/ 97876 h 97876"/>
                  <a:gd name="connsiteX3" fmla="*/ 34726 w 78437"/>
                  <a:gd name="connsiteY3" fmla="*/ 97876 h 97876"/>
                  <a:gd name="connsiteX4" fmla="*/ 0 w 78437"/>
                  <a:gd name="connsiteY4" fmla="*/ 54543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37" h="97876">
                    <a:moveTo>
                      <a:pt x="0" y="54543"/>
                    </a:moveTo>
                    <a:lnTo>
                      <a:pt x="0" y="0"/>
                    </a:lnTo>
                    <a:lnTo>
                      <a:pt x="78437" y="97876"/>
                    </a:lnTo>
                    <a:lnTo>
                      <a:pt x="34726" y="97876"/>
                    </a:lnTo>
                    <a:lnTo>
                      <a:pt x="0" y="54543"/>
                    </a:lnTo>
                    <a:close/>
                  </a:path>
                </a:pathLst>
              </a:custGeom>
              <a:solidFill>
                <a:srgbClr val="0209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srgbClr val="01033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D784129A-D7D6-AE9F-6EAA-6622A8443B7E}"/>
              </a:ext>
            </a:extLst>
          </p:cNvPr>
          <p:cNvSpPr txBox="1"/>
          <p:nvPr/>
        </p:nvSpPr>
        <p:spPr>
          <a:xfrm>
            <a:off x="509472" y="4502281"/>
            <a:ext cx="857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거래</a:t>
            </a:r>
            <a:r>
              <a:rPr lang="en-US" altLang="ko-KR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전문</a:t>
            </a:r>
            <a:r>
              <a:rPr lang="en-US" altLang="ko-KR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br>
              <a:rPr lang="en-US" altLang="ko-KR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시스템 코드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B708E967-B4E3-F8A7-9AFF-510718DEF96C}"/>
              </a:ext>
            </a:extLst>
          </p:cNvPr>
          <p:cNvSpPr txBox="1"/>
          <p:nvPr/>
        </p:nvSpPr>
        <p:spPr>
          <a:xfrm>
            <a:off x="3619772" y="4502281"/>
            <a:ext cx="11172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시각</a:t>
            </a:r>
            <a:r>
              <a:rPr lang="en-US" altLang="ko-KR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처리시간</a:t>
            </a:r>
            <a:r>
              <a:rPr lang="en-US" altLang="ko-KR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건수</a:t>
            </a:r>
            <a:r>
              <a:rPr lang="en-US" altLang="ko-KR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·TPS</a:t>
            </a:r>
            <a:endParaRPr lang="ko-KR" altLang="en-US" sz="1100" dirty="0"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CF9F2DA2-C67B-68FF-C16B-9DAB16E8471E}"/>
              </a:ext>
            </a:extLst>
          </p:cNvPr>
          <p:cNvSpPr txBox="1"/>
          <p:nvPr/>
        </p:nvSpPr>
        <p:spPr>
          <a:xfrm>
            <a:off x="2093594" y="4502281"/>
            <a:ext cx="9293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오류 메시지</a:t>
            </a:r>
            <a:r>
              <a:rPr lang="en-US" altLang="ko-KR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로그 본문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22CC4DB5-37A1-AFC0-40E2-9F4DD2389472}"/>
              </a:ext>
            </a:extLst>
          </p:cNvPr>
          <p:cNvSpPr txBox="1"/>
          <p:nvPr/>
        </p:nvSpPr>
        <p:spPr>
          <a:xfrm>
            <a:off x="5213520" y="4502281"/>
            <a:ext cx="11699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불필요 필드</a:t>
            </a:r>
            <a:r>
              <a:rPr lang="en-US" altLang="ko-KR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11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동적 증가 방지</a:t>
            </a: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E85D139D-A768-8ADC-E27F-FAA49AB1D6E4}"/>
              </a:ext>
            </a:extLst>
          </p:cNvPr>
          <p:cNvGrpSpPr/>
          <p:nvPr/>
        </p:nvGrpSpPr>
        <p:grpSpPr>
          <a:xfrm>
            <a:off x="409700" y="5085184"/>
            <a:ext cx="2636840" cy="215444"/>
            <a:chOff x="416358" y="1564175"/>
            <a:chExt cx="2636840" cy="215444"/>
          </a:xfrm>
        </p:grpSpPr>
        <p:sp>
          <p:nvSpPr>
            <p:cNvPr id="270" name="Text Box 79">
              <a:extLst>
                <a:ext uri="{FF2B5EF4-FFF2-40B4-BE49-F238E27FC236}">
                  <a16:creationId xmlns:a16="http://schemas.microsoft.com/office/drawing/2014/main" id="{C6636167-4C9B-316C-9792-62187E4971E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6101" y="1564175"/>
              <a:ext cx="2507097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fontAlgn="base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400" dirty="0"/>
                <a:t>거래 식별정보 기반 장애 원인 추적</a:t>
              </a:r>
            </a:p>
          </p:txBody>
        </p: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859975A4-8244-5D35-205D-CA8CDBE0473E}"/>
                </a:ext>
              </a:extLst>
            </p:cNvPr>
            <p:cNvGrpSpPr/>
            <p:nvPr/>
          </p:nvGrpSpPr>
          <p:grpSpPr>
            <a:xfrm>
              <a:off x="416358" y="1591470"/>
              <a:ext cx="103211" cy="165425"/>
              <a:chOff x="-120217" y="1731639"/>
              <a:chExt cx="98259" cy="157488"/>
            </a:xfrm>
          </p:grpSpPr>
          <p:sp>
            <p:nvSpPr>
              <p:cNvPr id="272" name="자유형 25">
                <a:extLst>
                  <a:ext uri="{FF2B5EF4-FFF2-40B4-BE49-F238E27FC236}">
                    <a16:creationId xmlns:a16="http://schemas.microsoft.com/office/drawing/2014/main" id="{48FDAC11-3BAE-D5F7-B593-F0EAE3C89B68}"/>
                  </a:ext>
                </a:extLst>
              </p:cNvPr>
              <p:cNvSpPr/>
              <p:nvPr/>
            </p:nvSpPr>
            <p:spPr>
              <a:xfrm rot="5400000">
                <a:off x="-110611" y="1722036"/>
                <a:ext cx="79048" cy="98257"/>
              </a:xfrm>
              <a:custGeom>
                <a:avLst/>
                <a:gdLst>
                  <a:gd name="connsiteX0" fmla="*/ 0 w 79048"/>
                  <a:gd name="connsiteY0" fmla="*/ 98257 h 98257"/>
                  <a:gd name="connsiteX1" fmla="*/ 15638 w 79048"/>
                  <a:gd name="connsiteY1" fmla="*/ 78743 h 98257"/>
                  <a:gd name="connsiteX2" fmla="*/ 78742 w 79048"/>
                  <a:gd name="connsiteY2" fmla="*/ 0 h 98257"/>
                  <a:gd name="connsiteX3" fmla="*/ 79048 w 79048"/>
                  <a:gd name="connsiteY3" fmla="*/ 382 h 98257"/>
                  <a:gd name="connsiteX4" fmla="*/ 79048 w 79048"/>
                  <a:gd name="connsiteY4" fmla="*/ 54925 h 98257"/>
                  <a:gd name="connsiteX5" fmla="*/ 78743 w 79048"/>
                  <a:gd name="connsiteY5" fmla="*/ 54544 h 98257"/>
                  <a:gd name="connsiteX6" fmla="*/ 43712 w 79048"/>
                  <a:gd name="connsiteY6" fmla="*/ 98257 h 98257"/>
                  <a:gd name="connsiteX7" fmla="*/ 0 w 79048"/>
                  <a:gd name="connsiteY7" fmla="*/ 98257 h 9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048" h="98257">
                    <a:moveTo>
                      <a:pt x="0" y="98257"/>
                    </a:moveTo>
                    <a:lnTo>
                      <a:pt x="15638" y="78743"/>
                    </a:lnTo>
                    <a:lnTo>
                      <a:pt x="78742" y="0"/>
                    </a:lnTo>
                    <a:lnTo>
                      <a:pt x="79048" y="382"/>
                    </a:lnTo>
                    <a:lnTo>
                      <a:pt x="79048" y="54925"/>
                    </a:lnTo>
                    <a:lnTo>
                      <a:pt x="78743" y="54544"/>
                    </a:lnTo>
                    <a:lnTo>
                      <a:pt x="43712" y="98257"/>
                    </a:lnTo>
                    <a:lnTo>
                      <a:pt x="0" y="98257"/>
                    </a:lnTo>
                    <a:close/>
                  </a:path>
                </a:pathLst>
              </a:custGeom>
              <a:solidFill>
                <a:srgbClr val="0158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73" name="자유형 26">
                <a:extLst>
                  <a:ext uri="{FF2B5EF4-FFF2-40B4-BE49-F238E27FC236}">
                    <a16:creationId xmlns:a16="http://schemas.microsoft.com/office/drawing/2014/main" id="{BEC5F10C-2591-2250-291D-6E8831E5C197}"/>
                  </a:ext>
                </a:extLst>
              </p:cNvPr>
              <p:cNvSpPr/>
              <p:nvPr/>
            </p:nvSpPr>
            <p:spPr>
              <a:xfrm rot="5400000">
                <a:off x="-132316" y="1743738"/>
                <a:ext cx="43714" cy="19515"/>
              </a:xfrm>
              <a:custGeom>
                <a:avLst/>
                <a:gdLst>
                  <a:gd name="connsiteX0" fmla="*/ 0 w 43714"/>
                  <a:gd name="connsiteY0" fmla="*/ 19515 h 19515"/>
                  <a:gd name="connsiteX1" fmla="*/ 15640 w 43714"/>
                  <a:gd name="connsiteY1" fmla="*/ 0 h 19515"/>
                  <a:gd name="connsiteX2" fmla="*/ 2 w 43714"/>
                  <a:gd name="connsiteY2" fmla="*/ 19514 h 19515"/>
                  <a:gd name="connsiteX3" fmla="*/ 43714 w 43714"/>
                  <a:gd name="connsiteY3" fmla="*/ 19514 h 19515"/>
                  <a:gd name="connsiteX4" fmla="*/ 43713 w 43714"/>
                  <a:gd name="connsiteY4" fmla="*/ 19515 h 19515"/>
                  <a:gd name="connsiteX5" fmla="*/ 0 w 43714"/>
                  <a:gd name="connsiteY5" fmla="*/ 19515 h 1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714" h="19515">
                    <a:moveTo>
                      <a:pt x="0" y="19515"/>
                    </a:moveTo>
                    <a:lnTo>
                      <a:pt x="15640" y="0"/>
                    </a:lnTo>
                    <a:lnTo>
                      <a:pt x="2" y="19514"/>
                    </a:lnTo>
                    <a:lnTo>
                      <a:pt x="43714" y="19514"/>
                    </a:lnTo>
                    <a:lnTo>
                      <a:pt x="43713" y="19515"/>
                    </a:lnTo>
                    <a:lnTo>
                      <a:pt x="0" y="1951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74" name="자유형 27">
                <a:extLst>
                  <a:ext uri="{FF2B5EF4-FFF2-40B4-BE49-F238E27FC236}">
                    <a16:creationId xmlns:a16="http://schemas.microsoft.com/office/drawing/2014/main" id="{C4E24377-F2E5-EF58-2E5F-363F08341AD0}"/>
                  </a:ext>
                </a:extLst>
              </p:cNvPr>
              <p:cNvSpPr/>
              <p:nvPr/>
            </p:nvSpPr>
            <p:spPr>
              <a:xfrm rot="5400000">
                <a:off x="-93035" y="1739611"/>
                <a:ext cx="63410" cy="78744"/>
              </a:xfrm>
              <a:custGeom>
                <a:avLst/>
                <a:gdLst>
                  <a:gd name="connsiteX0" fmla="*/ 0 w 63410"/>
                  <a:gd name="connsiteY0" fmla="*/ 78744 h 78744"/>
                  <a:gd name="connsiteX1" fmla="*/ 63104 w 63410"/>
                  <a:gd name="connsiteY1" fmla="*/ 0 h 78744"/>
                  <a:gd name="connsiteX2" fmla="*/ 63410 w 63410"/>
                  <a:gd name="connsiteY2" fmla="*/ 381 h 78744"/>
                  <a:gd name="connsiteX3" fmla="*/ 63410 w 63410"/>
                  <a:gd name="connsiteY3" fmla="*/ 383 h 78744"/>
                  <a:gd name="connsiteX4" fmla="*/ 63104 w 63410"/>
                  <a:gd name="connsiteY4" fmla="*/ 1 h 78744"/>
                  <a:gd name="connsiteX5" fmla="*/ 0 w 63410"/>
                  <a:gd name="connsiteY5" fmla="*/ 78744 h 7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10" h="78744">
                    <a:moveTo>
                      <a:pt x="0" y="78744"/>
                    </a:moveTo>
                    <a:lnTo>
                      <a:pt x="63104" y="0"/>
                    </a:lnTo>
                    <a:lnTo>
                      <a:pt x="63410" y="381"/>
                    </a:lnTo>
                    <a:lnTo>
                      <a:pt x="63410" y="383"/>
                    </a:lnTo>
                    <a:lnTo>
                      <a:pt x="63104" y="1"/>
                    </a:lnTo>
                    <a:lnTo>
                      <a:pt x="0" y="787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275" name="자유형 28">
                <a:extLst>
                  <a:ext uri="{FF2B5EF4-FFF2-40B4-BE49-F238E27FC236}">
                    <a16:creationId xmlns:a16="http://schemas.microsoft.com/office/drawing/2014/main" id="{9C3E65E4-CBFF-B2A9-FDF6-19804273B9F1}"/>
                  </a:ext>
                </a:extLst>
              </p:cNvPr>
              <p:cNvSpPr/>
              <p:nvPr/>
            </p:nvSpPr>
            <p:spPr>
              <a:xfrm rot="5400000">
                <a:off x="-110497" y="1800971"/>
                <a:ext cx="78437" cy="97876"/>
              </a:xfrm>
              <a:custGeom>
                <a:avLst/>
                <a:gdLst>
                  <a:gd name="connsiteX0" fmla="*/ 0 w 78437"/>
                  <a:gd name="connsiteY0" fmla="*/ 54543 h 97876"/>
                  <a:gd name="connsiteX1" fmla="*/ 0 w 78437"/>
                  <a:gd name="connsiteY1" fmla="*/ 0 h 97876"/>
                  <a:gd name="connsiteX2" fmla="*/ 78437 w 78437"/>
                  <a:gd name="connsiteY2" fmla="*/ 97876 h 97876"/>
                  <a:gd name="connsiteX3" fmla="*/ 34726 w 78437"/>
                  <a:gd name="connsiteY3" fmla="*/ 97876 h 97876"/>
                  <a:gd name="connsiteX4" fmla="*/ 0 w 78437"/>
                  <a:gd name="connsiteY4" fmla="*/ 54543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37" h="97876">
                    <a:moveTo>
                      <a:pt x="0" y="54543"/>
                    </a:moveTo>
                    <a:lnTo>
                      <a:pt x="0" y="0"/>
                    </a:lnTo>
                    <a:lnTo>
                      <a:pt x="78437" y="97876"/>
                    </a:lnTo>
                    <a:lnTo>
                      <a:pt x="34726" y="97876"/>
                    </a:lnTo>
                    <a:lnTo>
                      <a:pt x="0" y="54543"/>
                    </a:lnTo>
                    <a:close/>
                  </a:path>
                </a:pathLst>
              </a:custGeom>
              <a:solidFill>
                <a:srgbClr val="0209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srgbClr val="01033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546C4478-1944-2A53-DB5B-42B99AFFD0AA}"/>
              </a:ext>
            </a:extLst>
          </p:cNvPr>
          <p:cNvSpPr/>
          <p:nvPr/>
        </p:nvSpPr>
        <p:spPr>
          <a:xfrm>
            <a:off x="417127" y="5407908"/>
            <a:ext cx="1332463" cy="942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endParaRPr lang="ko-KR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31C8CC43-64B8-F927-0A0B-18B24C670DE7}"/>
              </a:ext>
            </a:extLst>
          </p:cNvPr>
          <p:cNvSpPr/>
          <p:nvPr/>
        </p:nvSpPr>
        <p:spPr>
          <a:xfrm>
            <a:off x="417127" y="5408668"/>
            <a:ext cx="1332463" cy="25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거래 식별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EAE1C2C1-090A-B7FE-4D1A-B1EC729F495A}"/>
              </a:ext>
            </a:extLst>
          </p:cNvPr>
          <p:cNvSpPr txBox="1"/>
          <p:nvPr/>
        </p:nvSpPr>
        <p:spPr>
          <a:xfrm>
            <a:off x="530758" y="5732676"/>
            <a:ext cx="1105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고객 문의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실패 거래 대상 특정</a:t>
            </a:r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F6017B6A-B75A-71ED-BEA5-8A26D8E67A16}"/>
              </a:ext>
            </a:extLst>
          </p:cNvPr>
          <p:cNvSpPr/>
          <p:nvPr/>
        </p:nvSpPr>
        <p:spPr>
          <a:xfrm>
            <a:off x="1937705" y="5402465"/>
            <a:ext cx="1332463" cy="942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endParaRPr lang="ko-KR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3CDFCA33-C6B2-5AF2-DE48-417F245FDE0F}"/>
              </a:ext>
            </a:extLst>
          </p:cNvPr>
          <p:cNvSpPr/>
          <p:nvPr/>
        </p:nvSpPr>
        <p:spPr>
          <a:xfrm>
            <a:off x="1937705" y="5403225"/>
            <a:ext cx="1332463" cy="25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흐름 조회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366DB12F-BA59-45A0-F282-3889890117B2}"/>
              </a:ext>
            </a:extLst>
          </p:cNvPr>
          <p:cNvSpPr txBox="1"/>
          <p:nvPr/>
        </p:nvSpPr>
        <p:spPr>
          <a:xfrm>
            <a:off x="2051336" y="5727233"/>
            <a:ext cx="1105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채널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·E2E·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계정계 처리단계 확인</a:t>
            </a:r>
          </a:p>
        </p:txBody>
      </p:sp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DFEDFD76-B3F7-E1FA-10C3-8F0CC7AFAE56}"/>
              </a:ext>
            </a:extLst>
          </p:cNvPr>
          <p:cNvSpPr/>
          <p:nvPr/>
        </p:nvSpPr>
        <p:spPr>
          <a:xfrm>
            <a:off x="3458283" y="5414142"/>
            <a:ext cx="1332463" cy="942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endParaRPr lang="ko-KR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E7CDB45A-D31C-7296-28F4-FFCF924D82D1}"/>
              </a:ext>
            </a:extLst>
          </p:cNvPr>
          <p:cNvSpPr/>
          <p:nvPr/>
        </p:nvSpPr>
        <p:spPr>
          <a:xfrm>
            <a:off x="3458283" y="5414902"/>
            <a:ext cx="1332463" cy="25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연관검색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735F1A58-4417-BDFB-A970-F6DAC3C75DE1}"/>
              </a:ext>
            </a:extLst>
          </p:cNvPr>
          <p:cNvSpPr txBox="1"/>
          <p:nvPr/>
        </p:nvSpPr>
        <p:spPr>
          <a:xfrm>
            <a:off x="3571914" y="5738910"/>
            <a:ext cx="12188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동일 시간대의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시스템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오류코드 조회</a:t>
            </a:r>
          </a:p>
        </p:txBody>
      </p: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396B40EF-24D0-E251-D52B-9C86AD4E43C3}"/>
              </a:ext>
            </a:extLst>
          </p:cNvPr>
          <p:cNvSpPr/>
          <p:nvPr/>
        </p:nvSpPr>
        <p:spPr>
          <a:xfrm>
            <a:off x="4978861" y="5402465"/>
            <a:ext cx="1332463" cy="942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endParaRPr lang="ko-KR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6" name="직사각형 285">
            <a:extLst>
              <a:ext uri="{FF2B5EF4-FFF2-40B4-BE49-F238E27FC236}">
                <a16:creationId xmlns:a16="http://schemas.microsoft.com/office/drawing/2014/main" id="{58DA2186-1E34-A698-F2D3-6B59F92C7A99}"/>
              </a:ext>
            </a:extLst>
          </p:cNvPr>
          <p:cNvSpPr/>
          <p:nvPr/>
        </p:nvSpPr>
        <p:spPr>
          <a:xfrm>
            <a:off x="4978861" y="5403225"/>
            <a:ext cx="1332463" cy="25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원인 확인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F4AA413C-12FD-A20B-14D0-F2BD70D8B9B0}"/>
              </a:ext>
            </a:extLst>
          </p:cNvPr>
          <p:cNvSpPr txBox="1"/>
          <p:nvPr/>
        </p:nvSpPr>
        <p:spPr>
          <a:xfrm>
            <a:off x="5092492" y="5727233"/>
            <a:ext cx="1105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지연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실패 구간 및 오류 메시지 식별</a:t>
            </a:r>
          </a:p>
        </p:txBody>
      </p:sp>
      <p:grpSp>
        <p:nvGrpSpPr>
          <p:cNvPr id="298" name="그룹 297">
            <a:extLst>
              <a:ext uri="{FF2B5EF4-FFF2-40B4-BE49-F238E27FC236}">
                <a16:creationId xmlns:a16="http://schemas.microsoft.com/office/drawing/2014/main" id="{D24FDECF-D133-66C8-BA3F-E61DFC1159A7}"/>
              </a:ext>
            </a:extLst>
          </p:cNvPr>
          <p:cNvGrpSpPr/>
          <p:nvPr/>
        </p:nvGrpSpPr>
        <p:grpSpPr>
          <a:xfrm>
            <a:off x="1766115" y="5738910"/>
            <a:ext cx="185125" cy="122254"/>
            <a:chOff x="1381738" y="3617647"/>
            <a:chExt cx="265632" cy="175420"/>
          </a:xfrm>
          <a:solidFill>
            <a:schemeClr val="bg1">
              <a:lumMod val="75000"/>
            </a:schemeClr>
          </a:solidFill>
        </p:grpSpPr>
        <p:sp>
          <p:nvSpPr>
            <p:cNvPr id="299" name="Freeform 5">
              <a:extLst>
                <a:ext uri="{FF2B5EF4-FFF2-40B4-BE49-F238E27FC236}">
                  <a16:creationId xmlns:a16="http://schemas.microsoft.com/office/drawing/2014/main" id="{9FF31348-AF36-3929-8B55-ADD3BC68A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582" y="3617647"/>
              <a:ext cx="110788" cy="175420"/>
            </a:xfrm>
            <a:custGeom>
              <a:avLst/>
              <a:gdLst>
                <a:gd name="T0" fmla="*/ 2 w 34"/>
                <a:gd name="T1" fmla="*/ 53 h 53"/>
                <a:gd name="T2" fmla="*/ 1 w 34"/>
                <a:gd name="T3" fmla="*/ 52 h 53"/>
                <a:gd name="T4" fmla="*/ 1 w 34"/>
                <a:gd name="T5" fmla="*/ 49 h 53"/>
                <a:gd name="T6" fmla="*/ 28 w 34"/>
                <a:gd name="T7" fmla="*/ 26 h 53"/>
                <a:gd name="T8" fmla="*/ 1 w 34"/>
                <a:gd name="T9" fmla="*/ 4 h 53"/>
                <a:gd name="T10" fmla="*/ 1 w 34"/>
                <a:gd name="T11" fmla="*/ 1 h 53"/>
                <a:gd name="T12" fmla="*/ 4 w 34"/>
                <a:gd name="T13" fmla="*/ 1 h 53"/>
                <a:gd name="T14" fmla="*/ 34 w 34"/>
                <a:gd name="T15" fmla="*/ 26 h 53"/>
                <a:gd name="T16" fmla="*/ 4 w 34"/>
                <a:gd name="T17" fmla="*/ 52 h 53"/>
                <a:gd name="T18" fmla="*/ 2 w 34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3">
                  <a:moveTo>
                    <a:pt x="2" y="53"/>
                  </a:moveTo>
                  <a:cubicBezTo>
                    <a:pt x="2" y="53"/>
                    <a:pt x="1" y="52"/>
                    <a:pt x="1" y="52"/>
                  </a:cubicBezTo>
                  <a:cubicBezTo>
                    <a:pt x="0" y="51"/>
                    <a:pt x="0" y="50"/>
                    <a:pt x="1" y="49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3"/>
                    <a:pt x="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/>
            </a:bodyPr>
            <a:lstStyle/>
            <a:p>
              <a:pPr latinLnBrk="0"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300" name="Freeform 6">
              <a:extLst>
                <a:ext uri="{FF2B5EF4-FFF2-40B4-BE49-F238E27FC236}">
                  <a16:creationId xmlns:a16="http://schemas.microsoft.com/office/drawing/2014/main" id="{345DF23D-CEB7-0C21-F0D9-68D4608F9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9160" y="3617647"/>
              <a:ext cx="112106" cy="175420"/>
            </a:xfrm>
            <a:custGeom>
              <a:avLst/>
              <a:gdLst>
                <a:gd name="T0" fmla="*/ 3 w 34"/>
                <a:gd name="T1" fmla="*/ 53 h 53"/>
                <a:gd name="T2" fmla="*/ 1 w 34"/>
                <a:gd name="T3" fmla="*/ 52 h 53"/>
                <a:gd name="T4" fmla="*/ 1 w 34"/>
                <a:gd name="T5" fmla="*/ 49 h 53"/>
                <a:gd name="T6" fmla="*/ 28 w 34"/>
                <a:gd name="T7" fmla="*/ 26 h 53"/>
                <a:gd name="T8" fmla="*/ 1 w 34"/>
                <a:gd name="T9" fmla="*/ 4 h 53"/>
                <a:gd name="T10" fmla="*/ 1 w 34"/>
                <a:gd name="T11" fmla="*/ 1 h 53"/>
                <a:gd name="T12" fmla="*/ 4 w 34"/>
                <a:gd name="T13" fmla="*/ 1 h 53"/>
                <a:gd name="T14" fmla="*/ 34 w 34"/>
                <a:gd name="T15" fmla="*/ 26 h 53"/>
                <a:gd name="T16" fmla="*/ 4 w 34"/>
                <a:gd name="T17" fmla="*/ 52 h 53"/>
                <a:gd name="T18" fmla="*/ 3 w 34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3">
                  <a:moveTo>
                    <a:pt x="3" y="53"/>
                  </a:moveTo>
                  <a:cubicBezTo>
                    <a:pt x="2" y="53"/>
                    <a:pt x="1" y="52"/>
                    <a:pt x="1" y="52"/>
                  </a:cubicBezTo>
                  <a:cubicBezTo>
                    <a:pt x="0" y="51"/>
                    <a:pt x="0" y="50"/>
                    <a:pt x="1" y="49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3"/>
                    <a:pt x="3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/>
            </a:bodyPr>
            <a:lstStyle/>
            <a:p>
              <a:pPr latinLnBrk="0"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301" name="Freeform 6">
              <a:extLst>
                <a:ext uri="{FF2B5EF4-FFF2-40B4-BE49-F238E27FC236}">
                  <a16:creationId xmlns:a16="http://schemas.microsoft.com/office/drawing/2014/main" id="{76927745-788C-74F8-DE3F-2203F7176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738" y="3617647"/>
              <a:ext cx="112106" cy="175420"/>
            </a:xfrm>
            <a:custGeom>
              <a:avLst/>
              <a:gdLst>
                <a:gd name="T0" fmla="*/ 3 w 34"/>
                <a:gd name="T1" fmla="*/ 53 h 53"/>
                <a:gd name="T2" fmla="*/ 1 w 34"/>
                <a:gd name="T3" fmla="*/ 52 h 53"/>
                <a:gd name="T4" fmla="*/ 1 w 34"/>
                <a:gd name="T5" fmla="*/ 49 h 53"/>
                <a:gd name="T6" fmla="*/ 28 w 34"/>
                <a:gd name="T7" fmla="*/ 26 h 53"/>
                <a:gd name="T8" fmla="*/ 1 w 34"/>
                <a:gd name="T9" fmla="*/ 4 h 53"/>
                <a:gd name="T10" fmla="*/ 1 w 34"/>
                <a:gd name="T11" fmla="*/ 1 h 53"/>
                <a:gd name="T12" fmla="*/ 4 w 34"/>
                <a:gd name="T13" fmla="*/ 1 h 53"/>
                <a:gd name="T14" fmla="*/ 34 w 34"/>
                <a:gd name="T15" fmla="*/ 26 h 53"/>
                <a:gd name="T16" fmla="*/ 4 w 34"/>
                <a:gd name="T17" fmla="*/ 52 h 53"/>
                <a:gd name="T18" fmla="*/ 3 w 34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3">
                  <a:moveTo>
                    <a:pt x="3" y="53"/>
                  </a:moveTo>
                  <a:cubicBezTo>
                    <a:pt x="2" y="53"/>
                    <a:pt x="1" y="52"/>
                    <a:pt x="1" y="52"/>
                  </a:cubicBezTo>
                  <a:cubicBezTo>
                    <a:pt x="0" y="51"/>
                    <a:pt x="0" y="50"/>
                    <a:pt x="1" y="49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3"/>
                    <a:pt x="3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/>
            </a:bodyPr>
            <a:lstStyle/>
            <a:p>
              <a:pPr latinLnBrk="0"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627BB2F6-7316-0240-11C1-6B851BC6029B}"/>
              </a:ext>
            </a:extLst>
          </p:cNvPr>
          <p:cNvGrpSpPr/>
          <p:nvPr/>
        </p:nvGrpSpPr>
        <p:grpSpPr>
          <a:xfrm>
            <a:off x="3282194" y="5738910"/>
            <a:ext cx="185125" cy="122254"/>
            <a:chOff x="1381738" y="3617647"/>
            <a:chExt cx="265632" cy="175420"/>
          </a:xfrm>
          <a:solidFill>
            <a:schemeClr val="bg1">
              <a:lumMod val="75000"/>
            </a:schemeClr>
          </a:solidFill>
        </p:grpSpPr>
        <p:sp>
          <p:nvSpPr>
            <p:cNvPr id="303" name="Freeform 5">
              <a:extLst>
                <a:ext uri="{FF2B5EF4-FFF2-40B4-BE49-F238E27FC236}">
                  <a16:creationId xmlns:a16="http://schemas.microsoft.com/office/drawing/2014/main" id="{A36D0381-FA04-0337-25EB-2680A9231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582" y="3617647"/>
              <a:ext cx="110788" cy="175420"/>
            </a:xfrm>
            <a:custGeom>
              <a:avLst/>
              <a:gdLst>
                <a:gd name="T0" fmla="*/ 2 w 34"/>
                <a:gd name="T1" fmla="*/ 53 h 53"/>
                <a:gd name="T2" fmla="*/ 1 w 34"/>
                <a:gd name="T3" fmla="*/ 52 h 53"/>
                <a:gd name="T4" fmla="*/ 1 w 34"/>
                <a:gd name="T5" fmla="*/ 49 h 53"/>
                <a:gd name="T6" fmla="*/ 28 w 34"/>
                <a:gd name="T7" fmla="*/ 26 h 53"/>
                <a:gd name="T8" fmla="*/ 1 w 34"/>
                <a:gd name="T9" fmla="*/ 4 h 53"/>
                <a:gd name="T10" fmla="*/ 1 w 34"/>
                <a:gd name="T11" fmla="*/ 1 h 53"/>
                <a:gd name="T12" fmla="*/ 4 w 34"/>
                <a:gd name="T13" fmla="*/ 1 h 53"/>
                <a:gd name="T14" fmla="*/ 34 w 34"/>
                <a:gd name="T15" fmla="*/ 26 h 53"/>
                <a:gd name="T16" fmla="*/ 4 w 34"/>
                <a:gd name="T17" fmla="*/ 52 h 53"/>
                <a:gd name="T18" fmla="*/ 2 w 34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3">
                  <a:moveTo>
                    <a:pt x="2" y="53"/>
                  </a:moveTo>
                  <a:cubicBezTo>
                    <a:pt x="2" y="53"/>
                    <a:pt x="1" y="52"/>
                    <a:pt x="1" y="52"/>
                  </a:cubicBezTo>
                  <a:cubicBezTo>
                    <a:pt x="0" y="51"/>
                    <a:pt x="0" y="50"/>
                    <a:pt x="1" y="49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3"/>
                    <a:pt x="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/>
            </a:bodyPr>
            <a:lstStyle/>
            <a:p>
              <a:pPr latinLnBrk="0"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304" name="Freeform 6">
              <a:extLst>
                <a:ext uri="{FF2B5EF4-FFF2-40B4-BE49-F238E27FC236}">
                  <a16:creationId xmlns:a16="http://schemas.microsoft.com/office/drawing/2014/main" id="{9EB65137-D359-B394-2DF4-E115E42A9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9160" y="3617647"/>
              <a:ext cx="112106" cy="175420"/>
            </a:xfrm>
            <a:custGeom>
              <a:avLst/>
              <a:gdLst>
                <a:gd name="T0" fmla="*/ 3 w 34"/>
                <a:gd name="T1" fmla="*/ 53 h 53"/>
                <a:gd name="T2" fmla="*/ 1 w 34"/>
                <a:gd name="T3" fmla="*/ 52 h 53"/>
                <a:gd name="T4" fmla="*/ 1 w 34"/>
                <a:gd name="T5" fmla="*/ 49 h 53"/>
                <a:gd name="T6" fmla="*/ 28 w 34"/>
                <a:gd name="T7" fmla="*/ 26 h 53"/>
                <a:gd name="T8" fmla="*/ 1 w 34"/>
                <a:gd name="T9" fmla="*/ 4 h 53"/>
                <a:gd name="T10" fmla="*/ 1 w 34"/>
                <a:gd name="T11" fmla="*/ 1 h 53"/>
                <a:gd name="T12" fmla="*/ 4 w 34"/>
                <a:gd name="T13" fmla="*/ 1 h 53"/>
                <a:gd name="T14" fmla="*/ 34 w 34"/>
                <a:gd name="T15" fmla="*/ 26 h 53"/>
                <a:gd name="T16" fmla="*/ 4 w 34"/>
                <a:gd name="T17" fmla="*/ 52 h 53"/>
                <a:gd name="T18" fmla="*/ 3 w 34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3">
                  <a:moveTo>
                    <a:pt x="3" y="53"/>
                  </a:moveTo>
                  <a:cubicBezTo>
                    <a:pt x="2" y="53"/>
                    <a:pt x="1" y="52"/>
                    <a:pt x="1" y="52"/>
                  </a:cubicBezTo>
                  <a:cubicBezTo>
                    <a:pt x="0" y="51"/>
                    <a:pt x="0" y="50"/>
                    <a:pt x="1" y="49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3"/>
                    <a:pt x="3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/>
            </a:bodyPr>
            <a:lstStyle/>
            <a:p>
              <a:pPr latinLnBrk="0"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305" name="Freeform 6">
              <a:extLst>
                <a:ext uri="{FF2B5EF4-FFF2-40B4-BE49-F238E27FC236}">
                  <a16:creationId xmlns:a16="http://schemas.microsoft.com/office/drawing/2014/main" id="{93BD8F15-3A54-CE69-A0AD-98C973216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738" y="3617647"/>
              <a:ext cx="112106" cy="175420"/>
            </a:xfrm>
            <a:custGeom>
              <a:avLst/>
              <a:gdLst>
                <a:gd name="T0" fmla="*/ 3 w 34"/>
                <a:gd name="T1" fmla="*/ 53 h 53"/>
                <a:gd name="T2" fmla="*/ 1 w 34"/>
                <a:gd name="T3" fmla="*/ 52 h 53"/>
                <a:gd name="T4" fmla="*/ 1 w 34"/>
                <a:gd name="T5" fmla="*/ 49 h 53"/>
                <a:gd name="T6" fmla="*/ 28 w 34"/>
                <a:gd name="T7" fmla="*/ 26 h 53"/>
                <a:gd name="T8" fmla="*/ 1 w 34"/>
                <a:gd name="T9" fmla="*/ 4 h 53"/>
                <a:gd name="T10" fmla="*/ 1 w 34"/>
                <a:gd name="T11" fmla="*/ 1 h 53"/>
                <a:gd name="T12" fmla="*/ 4 w 34"/>
                <a:gd name="T13" fmla="*/ 1 h 53"/>
                <a:gd name="T14" fmla="*/ 34 w 34"/>
                <a:gd name="T15" fmla="*/ 26 h 53"/>
                <a:gd name="T16" fmla="*/ 4 w 34"/>
                <a:gd name="T17" fmla="*/ 52 h 53"/>
                <a:gd name="T18" fmla="*/ 3 w 34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3">
                  <a:moveTo>
                    <a:pt x="3" y="53"/>
                  </a:moveTo>
                  <a:cubicBezTo>
                    <a:pt x="2" y="53"/>
                    <a:pt x="1" y="52"/>
                    <a:pt x="1" y="52"/>
                  </a:cubicBezTo>
                  <a:cubicBezTo>
                    <a:pt x="0" y="51"/>
                    <a:pt x="0" y="50"/>
                    <a:pt x="1" y="49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3"/>
                    <a:pt x="3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/>
            </a:bodyPr>
            <a:lstStyle/>
            <a:p>
              <a:pPr latinLnBrk="0"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6D6F7E42-0817-3813-48AD-226C17EE7B71}"/>
              </a:ext>
            </a:extLst>
          </p:cNvPr>
          <p:cNvGrpSpPr/>
          <p:nvPr/>
        </p:nvGrpSpPr>
        <p:grpSpPr>
          <a:xfrm>
            <a:off x="4798273" y="5738910"/>
            <a:ext cx="185125" cy="122254"/>
            <a:chOff x="1381738" y="3617647"/>
            <a:chExt cx="265632" cy="175420"/>
          </a:xfrm>
          <a:solidFill>
            <a:schemeClr val="bg1">
              <a:lumMod val="75000"/>
            </a:schemeClr>
          </a:solidFill>
        </p:grpSpPr>
        <p:sp>
          <p:nvSpPr>
            <p:cNvPr id="307" name="Freeform 5">
              <a:extLst>
                <a:ext uri="{FF2B5EF4-FFF2-40B4-BE49-F238E27FC236}">
                  <a16:creationId xmlns:a16="http://schemas.microsoft.com/office/drawing/2014/main" id="{F780A8E8-7F64-222F-4828-443EC88F1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582" y="3617647"/>
              <a:ext cx="110788" cy="175420"/>
            </a:xfrm>
            <a:custGeom>
              <a:avLst/>
              <a:gdLst>
                <a:gd name="T0" fmla="*/ 2 w 34"/>
                <a:gd name="T1" fmla="*/ 53 h 53"/>
                <a:gd name="T2" fmla="*/ 1 w 34"/>
                <a:gd name="T3" fmla="*/ 52 h 53"/>
                <a:gd name="T4" fmla="*/ 1 w 34"/>
                <a:gd name="T5" fmla="*/ 49 h 53"/>
                <a:gd name="T6" fmla="*/ 28 w 34"/>
                <a:gd name="T7" fmla="*/ 26 h 53"/>
                <a:gd name="T8" fmla="*/ 1 w 34"/>
                <a:gd name="T9" fmla="*/ 4 h 53"/>
                <a:gd name="T10" fmla="*/ 1 w 34"/>
                <a:gd name="T11" fmla="*/ 1 h 53"/>
                <a:gd name="T12" fmla="*/ 4 w 34"/>
                <a:gd name="T13" fmla="*/ 1 h 53"/>
                <a:gd name="T14" fmla="*/ 34 w 34"/>
                <a:gd name="T15" fmla="*/ 26 h 53"/>
                <a:gd name="T16" fmla="*/ 4 w 34"/>
                <a:gd name="T17" fmla="*/ 52 h 53"/>
                <a:gd name="T18" fmla="*/ 2 w 34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3">
                  <a:moveTo>
                    <a:pt x="2" y="53"/>
                  </a:moveTo>
                  <a:cubicBezTo>
                    <a:pt x="2" y="53"/>
                    <a:pt x="1" y="52"/>
                    <a:pt x="1" y="52"/>
                  </a:cubicBezTo>
                  <a:cubicBezTo>
                    <a:pt x="0" y="51"/>
                    <a:pt x="0" y="50"/>
                    <a:pt x="1" y="49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3"/>
                    <a:pt x="2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/>
            </a:bodyPr>
            <a:lstStyle/>
            <a:p>
              <a:pPr latinLnBrk="0"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308" name="Freeform 6">
              <a:extLst>
                <a:ext uri="{FF2B5EF4-FFF2-40B4-BE49-F238E27FC236}">
                  <a16:creationId xmlns:a16="http://schemas.microsoft.com/office/drawing/2014/main" id="{EE1D6FC7-5DCD-AA46-2360-A853C3D40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9160" y="3617647"/>
              <a:ext cx="112106" cy="175420"/>
            </a:xfrm>
            <a:custGeom>
              <a:avLst/>
              <a:gdLst>
                <a:gd name="T0" fmla="*/ 3 w 34"/>
                <a:gd name="T1" fmla="*/ 53 h 53"/>
                <a:gd name="T2" fmla="*/ 1 w 34"/>
                <a:gd name="T3" fmla="*/ 52 h 53"/>
                <a:gd name="T4" fmla="*/ 1 w 34"/>
                <a:gd name="T5" fmla="*/ 49 h 53"/>
                <a:gd name="T6" fmla="*/ 28 w 34"/>
                <a:gd name="T7" fmla="*/ 26 h 53"/>
                <a:gd name="T8" fmla="*/ 1 w 34"/>
                <a:gd name="T9" fmla="*/ 4 h 53"/>
                <a:gd name="T10" fmla="*/ 1 w 34"/>
                <a:gd name="T11" fmla="*/ 1 h 53"/>
                <a:gd name="T12" fmla="*/ 4 w 34"/>
                <a:gd name="T13" fmla="*/ 1 h 53"/>
                <a:gd name="T14" fmla="*/ 34 w 34"/>
                <a:gd name="T15" fmla="*/ 26 h 53"/>
                <a:gd name="T16" fmla="*/ 4 w 34"/>
                <a:gd name="T17" fmla="*/ 52 h 53"/>
                <a:gd name="T18" fmla="*/ 3 w 34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3">
                  <a:moveTo>
                    <a:pt x="3" y="53"/>
                  </a:moveTo>
                  <a:cubicBezTo>
                    <a:pt x="2" y="53"/>
                    <a:pt x="1" y="52"/>
                    <a:pt x="1" y="52"/>
                  </a:cubicBezTo>
                  <a:cubicBezTo>
                    <a:pt x="0" y="51"/>
                    <a:pt x="0" y="50"/>
                    <a:pt x="1" y="49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3"/>
                    <a:pt x="3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/>
            </a:bodyPr>
            <a:lstStyle/>
            <a:p>
              <a:pPr latinLnBrk="0"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309" name="Freeform 6">
              <a:extLst>
                <a:ext uri="{FF2B5EF4-FFF2-40B4-BE49-F238E27FC236}">
                  <a16:creationId xmlns:a16="http://schemas.microsoft.com/office/drawing/2014/main" id="{9FAB0563-39E4-67DB-E6F9-3BD5CFD9E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738" y="3617647"/>
              <a:ext cx="112106" cy="175420"/>
            </a:xfrm>
            <a:custGeom>
              <a:avLst/>
              <a:gdLst>
                <a:gd name="T0" fmla="*/ 3 w 34"/>
                <a:gd name="T1" fmla="*/ 53 h 53"/>
                <a:gd name="T2" fmla="*/ 1 w 34"/>
                <a:gd name="T3" fmla="*/ 52 h 53"/>
                <a:gd name="T4" fmla="*/ 1 w 34"/>
                <a:gd name="T5" fmla="*/ 49 h 53"/>
                <a:gd name="T6" fmla="*/ 28 w 34"/>
                <a:gd name="T7" fmla="*/ 26 h 53"/>
                <a:gd name="T8" fmla="*/ 1 w 34"/>
                <a:gd name="T9" fmla="*/ 4 h 53"/>
                <a:gd name="T10" fmla="*/ 1 w 34"/>
                <a:gd name="T11" fmla="*/ 1 h 53"/>
                <a:gd name="T12" fmla="*/ 4 w 34"/>
                <a:gd name="T13" fmla="*/ 1 h 53"/>
                <a:gd name="T14" fmla="*/ 34 w 34"/>
                <a:gd name="T15" fmla="*/ 26 h 53"/>
                <a:gd name="T16" fmla="*/ 4 w 34"/>
                <a:gd name="T17" fmla="*/ 52 h 53"/>
                <a:gd name="T18" fmla="*/ 3 w 34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3">
                  <a:moveTo>
                    <a:pt x="3" y="53"/>
                  </a:moveTo>
                  <a:cubicBezTo>
                    <a:pt x="2" y="53"/>
                    <a:pt x="1" y="52"/>
                    <a:pt x="1" y="52"/>
                  </a:cubicBezTo>
                  <a:cubicBezTo>
                    <a:pt x="0" y="51"/>
                    <a:pt x="0" y="50"/>
                    <a:pt x="1" y="49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3"/>
                    <a:pt x="3" y="5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/>
            </a:bodyPr>
            <a:lstStyle/>
            <a:p>
              <a:pPr latinLnBrk="0"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837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그룹 133"/>
          <p:cNvGrpSpPr/>
          <p:nvPr/>
        </p:nvGrpSpPr>
        <p:grpSpPr>
          <a:xfrm>
            <a:off x="415199" y="383253"/>
            <a:ext cx="4481035" cy="419085"/>
            <a:chOff x="415199" y="383253"/>
            <a:chExt cx="4481035" cy="419085"/>
          </a:xfrm>
        </p:grpSpPr>
        <p:sp>
          <p:nvSpPr>
            <p:cNvPr id="135" name="Rectangle 4"/>
            <p:cNvSpPr>
              <a:spLocks noChangeArrowheads="1"/>
            </p:cNvSpPr>
            <p:nvPr/>
          </p:nvSpPr>
          <p:spPr bwMode="auto">
            <a:xfrm>
              <a:off x="415199" y="383253"/>
              <a:ext cx="448103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217475" lvl="0" indent="-217475" defTabSz="957689" fontAlgn="t" latinLnBrk="0">
                <a:spcAft>
                  <a:spcPts val="200"/>
                </a:spcAft>
              </a:pP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3.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상세 구축방안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&gt; 3.1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기능  요구사항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 IT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운영관리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3.1.7.1 </a:t>
              </a:r>
              <a:r>
                <a:rPr lang="ko-KR" altLang="en-US" sz="900" spc="-30" dirty="0" err="1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통합로그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기반 모니터링 환경 구축</a:t>
              </a:r>
              <a:endParaRPr lang="en-US" altLang="ko-KR" sz="900" spc="-30" dirty="0">
                <a:solidFill>
                  <a:schemeClr val="bg1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6" name="Rectangle 4"/>
            <p:cNvSpPr>
              <a:spLocks noChangeArrowheads="1"/>
            </p:cNvSpPr>
            <p:nvPr/>
          </p:nvSpPr>
          <p:spPr bwMode="auto">
            <a:xfrm>
              <a:off x="415199" y="556117"/>
              <a:ext cx="3426451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1pPr>
              <a:lvl2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fontAlgn="t" latinLnBrk="0"/>
              <a:r>
                <a:rPr lang="en-US" altLang="ko-KR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3.1.7.1.6 </a:t>
              </a:r>
              <a:r>
                <a:rPr lang="ko-KR" altLang="en-US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로그 수집 위한 주요 시스템 연계</a:t>
              </a:r>
              <a:endParaRPr lang="en-US" altLang="ko-KR" sz="1600" spc="-3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415199" y="931585"/>
            <a:ext cx="6018978" cy="393793"/>
            <a:chOff x="415199" y="959742"/>
            <a:chExt cx="6018978" cy="393793"/>
          </a:xfrm>
        </p:grpSpPr>
        <p:grpSp>
          <p:nvGrpSpPr>
            <p:cNvPr id="79" name="그룹 78"/>
            <p:cNvGrpSpPr/>
            <p:nvPr/>
          </p:nvGrpSpPr>
          <p:grpSpPr>
            <a:xfrm>
              <a:off x="415199" y="959742"/>
              <a:ext cx="5419057" cy="184666"/>
              <a:chOff x="415199" y="959742"/>
              <a:chExt cx="5419057" cy="184666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415199" y="994131"/>
                <a:ext cx="120786" cy="115888"/>
                <a:chOff x="477838" y="1011238"/>
                <a:chExt cx="117476" cy="11271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87" name="Freeform 10"/>
                <p:cNvSpPr>
                  <a:spLocks/>
                </p:cNvSpPr>
                <p:nvPr/>
              </p:nvSpPr>
              <p:spPr bwMode="auto">
                <a:xfrm>
                  <a:off x="498476" y="1022350"/>
                  <a:ext cx="96838" cy="71437"/>
                </a:xfrm>
                <a:custGeom>
                  <a:avLst/>
                  <a:gdLst>
                    <a:gd name="T0" fmla="*/ 22 w 61"/>
                    <a:gd name="T1" fmla="*/ 45 h 45"/>
                    <a:gd name="T2" fmla="*/ 0 w 61"/>
                    <a:gd name="T3" fmla="*/ 23 h 45"/>
                    <a:gd name="T4" fmla="*/ 7 w 61"/>
                    <a:gd name="T5" fmla="*/ 17 h 45"/>
                    <a:gd name="T6" fmla="*/ 22 w 61"/>
                    <a:gd name="T7" fmla="*/ 32 h 45"/>
                    <a:gd name="T8" fmla="*/ 54 w 61"/>
                    <a:gd name="T9" fmla="*/ 0 h 45"/>
                    <a:gd name="T10" fmla="*/ 61 w 61"/>
                    <a:gd name="T11" fmla="*/ 7 h 45"/>
                    <a:gd name="T12" fmla="*/ 22 w 61"/>
                    <a:gd name="T13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1" h="45">
                      <a:moveTo>
                        <a:pt x="22" y="45"/>
                      </a:moveTo>
                      <a:lnTo>
                        <a:pt x="0" y="23"/>
                      </a:lnTo>
                      <a:lnTo>
                        <a:pt x="7" y="17"/>
                      </a:lnTo>
                      <a:lnTo>
                        <a:pt x="22" y="32"/>
                      </a:lnTo>
                      <a:lnTo>
                        <a:pt x="54" y="0"/>
                      </a:lnTo>
                      <a:lnTo>
                        <a:pt x="61" y="7"/>
                      </a:lnTo>
                      <a:lnTo>
                        <a:pt x="22" y="4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8" name="Freeform 11"/>
                <p:cNvSpPr>
                  <a:spLocks/>
                </p:cNvSpPr>
                <p:nvPr/>
              </p:nvSpPr>
              <p:spPr bwMode="auto">
                <a:xfrm>
                  <a:off x="477838" y="1011238"/>
                  <a:ext cx="112713" cy="112712"/>
                </a:xfrm>
                <a:custGeom>
                  <a:avLst/>
                  <a:gdLst>
                    <a:gd name="T0" fmla="*/ 926 w 1040"/>
                    <a:gd name="T1" fmla="*/ 500 h 1041"/>
                    <a:gd name="T2" fmla="*/ 927 w 1040"/>
                    <a:gd name="T3" fmla="*/ 521 h 1041"/>
                    <a:gd name="T4" fmla="*/ 520 w 1040"/>
                    <a:gd name="T5" fmla="*/ 928 h 1041"/>
                    <a:gd name="T6" fmla="*/ 113 w 1040"/>
                    <a:gd name="T7" fmla="*/ 521 h 1041"/>
                    <a:gd name="T8" fmla="*/ 520 w 1040"/>
                    <a:gd name="T9" fmla="*/ 114 h 1041"/>
                    <a:gd name="T10" fmla="*/ 747 w 1040"/>
                    <a:gd name="T11" fmla="*/ 183 h 1041"/>
                    <a:gd name="T12" fmla="*/ 830 w 1040"/>
                    <a:gd name="T13" fmla="*/ 103 h 1041"/>
                    <a:gd name="T14" fmla="*/ 520 w 1040"/>
                    <a:gd name="T15" fmla="*/ 1 h 1041"/>
                    <a:gd name="T16" fmla="*/ 0 w 1040"/>
                    <a:gd name="T17" fmla="*/ 521 h 1041"/>
                    <a:gd name="T18" fmla="*/ 520 w 1040"/>
                    <a:gd name="T19" fmla="*/ 1041 h 1041"/>
                    <a:gd name="T20" fmla="*/ 1040 w 1040"/>
                    <a:gd name="T21" fmla="*/ 520 h 1041"/>
                    <a:gd name="T22" fmla="*/ 1027 w 1040"/>
                    <a:gd name="T23" fmla="*/ 403 h 1041"/>
                    <a:gd name="T24" fmla="*/ 926 w 1040"/>
                    <a:gd name="T25" fmla="*/ 500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40" h="1041">
                      <a:moveTo>
                        <a:pt x="926" y="500"/>
                      </a:moveTo>
                      <a:cubicBezTo>
                        <a:pt x="927" y="506"/>
                        <a:pt x="927" y="513"/>
                        <a:pt x="927" y="521"/>
                      </a:cubicBezTo>
                      <a:cubicBezTo>
                        <a:pt x="927" y="745"/>
                        <a:pt x="745" y="927"/>
                        <a:pt x="520" y="928"/>
                      </a:cubicBezTo>
                      <a:cubicBezTo>
                        <a:pt x="295" y="928"/>
                        <a:pt x="113" y="746"/>
                        <a:pt x="113" y="521"/>
                      </a:cubicBezTo>
                      <a:cubicBezTo>
                        <a:pt x="113" y="296"/>
                        <a:pt x="295" y="114"/>
                        <a:pt x="520" y="114"/>
                      </a:cubicBezTo>
                      <a:cubicBezTo>
                        <a:pt x="604" y="114"/>
                        <a:pt x="682" y="139"/>
                        <a:pt x="747" y="183"/>
                      </a:cubicBezTo>
                      <a:cubicBezTo>
                        <a:pt x="830" y="103"/>
                        <a:pt x="830" y="103"/>
                        <a:pt x="830" y="103"/>
                      </a:cubicBezTo>
                      <a:cubicBezTo>
                        <a:pt x="743" y="39"/>
                        <a:pt x="636" y="0"/>
                        <a:pt x="520" y="1"/>
                      </a:cubicBezTo>
                      <a:cubicBezTo>
                        <a:pt x="233" y="1"/>
                        <a:pt x="0" y="234"/>
                        <a:pt x="0" y="521"/>
                      </a:cubicBezTo>
                      <a:cubicBezTo>
                        <a:pt x="0" y="808"/>
                        <a:pt x="233" y="1041"/>
                        <a:pt x="520" y="1041"/>
                      </a:cubicBezTo>
                      <a:cubicBezTo>
                        <a:pt x="807" y="1041"/>
                        <a:pt x="1040" y="808"/>
                        <a:pt x="1040" y="520"/>
                      </a:cubicBezTo>
                      <a:cubicBezTo>
                        <a:pt x="1040" y="480"/>
                        <a:pt x="1036" y="441"/>
                        <a:pt x="1027" y="403"/>
                      </a:cubicBezTo>
                      <a:lnTo>
                        <a:pt x="926" y="50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6" name="TextBox 9"/>
              <p:cNvSpPr txBox="1"/>
              <p:nvPr/>
            </p:nvSpPr>
            <p:spPr>
              <a:xfrm>
                <a:off x="577123" y="959742"/>
                <a:ext cx="525713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21" latinLnBrk="0"/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주요 운영시스템의 로그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·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거래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·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장애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·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변경정보를 표준 수집체계로 통합합니다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. </a:t>
                </a:r>
              </a:p>
            </p:txBody>
          </p:sp>
        </p:grpSp>
        <p:grpSp>
          <p:nvGrpSpPr>
            <p:cNvPr id="80" name="그룹 79"/>
            <p:cNvGrpSpPr/>
            <p:nvPr/>
          </p:nvGrpSpPr>
          <p:grpSpPr>
            <a:xfrm>
              <a:off x="415199" y="1168869"/>
              <a:ext cx="6018978" cy="184666"/>
              <a:chOff x="415199" y="1168869"/>
              <a:chExt cx="6018978" cy="184666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415199" y="1203258"/>
                <a:ext cx="120786" cy="115888"/>
                <a:chOff x="477838" y="1011238"/>
                <a:chExt cx="117476" cy="11271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83" name="Freeform 10"/>
                <p:cNvSpPr>
                  <a:spLocks/>
                </p:cNvSpPr>
                <p:nvPr/>
              </p:nvSpPr>
              <p:spPr bwMode="auto">
                <a:xfrm>
                  <a:off x="498476" y="1022350"/>
                  <a:ext cx="96838" cy="71437"/>
                </a:xfrm>
                <a:custGeom>
                  <a:avLst/>
                  <a:gdLst>
                    <a:gd name="T0" fmla="*/ 22 w 61"/>
                    <a:gd name="T1" fmla="*/ 45 h 45"/>
                    <a:gd name="T2" fmla="*/ 0 w 61"/>
                    <a:gd name="T3" fmla="*/ 23 h 45"/>
                    <a:gd name="T4" fmla="*/ 7 w 61"/>
                    <a:gd name="T5" fmla="*/ 17 h 45"/>
                    <a:gd name="T6" fmla="*/ 22 w 61"/>
                    <a:gd name="T7" fmla="*/ 32 h 45"/>
                    <a:gd name="T8" fmla="*/ 54 w 61"/>
                    <a:gd name="T9" fmla="*/ 0 h 45"/>
                    <a:gd name="T10" fmla="*/ 61 w 61"/>
                    <a:gd name="T11" fmla="*/ 7 h 45"/>
                    <a:gd name="T12" fmla="*/ 22 w 61"/>
                    <a:gd name="T13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1" h="45">
                      <a:moveTo>
                        <a:pt x="22" y="45"/>
                      </a:moveTo>
                      <a:lnTo>
                        <a:pt x="0" y="23"/>
                      </a:lnTo>
                      <a:lnTo>
                        <a:pt x="7" y="17"/>
                      </a:lnTo>
                      <a:lnTo>
                        <a:pt x="22" y="32"/>
                      </a:lnTo>
                      <a:lnTo>
                        <a:pt x="54" y="0"/>
                      </a:lnTo>
                      <a:lnTo>
                        <a:pt x="61" y="7"/>
                      </a:lnTo>
                      <a:lnTo>
                        <a:pt x="22" y="4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4" name="Freeform 11"/>
                <p:cNvSpPr>
                  <a:spLocks/>
                </p:cNvSpPr>
                <p:nvPr/>
              </p:nvSpPr>
              <p:spPr bwMode="auto">
                <a:xfrm>
                  <a:off x="477838" y="1011238"/>
                  <a:ext cx="112713" cy="112712"/>
                </a:xfrm>
                <a:custGeom>
                  <a:avLst/>
                  <a:gdLst>
                    <a:gd name="T0" fmla="*/ 926 w 1040"/>
                    <a:gd name="T1" fmla="*/ 500 h 1041"/>
                    <a:gd name="T2" fmla="*/ 927 w 1040"/>
                    <a:gd name="T3" fmla="*/ 521 h 1041"/>
                    <a:gd name="T4" fmla="*/ 520 w 1040"/>
                    <a:gd name="T5" fmla="*/ 928 h 1041"/>
                    <a:gd name="T6" fmla="*/ 113 w 1040"/>
                    <a:gd name="T7" fmla="*/ 521 h 1041"/>
                    <a:gd name="T8" fmla="*/ 520 w 1040"/>
                    <a:gd name="T9" fmla="*/ 114 h 1041"/>
                    <a:gd name="T10" fmla="*/ 747 w 1040"/>
                    <a:gd name="T11" fmla="*/ 183 h 1041"/>
                    <a:gd name="T12" fmla="*/ 830 w 1040"/>
                    <a:gd name="T13" fmla="*/ 103 h 1041"/>
                    <a:gd name="T14" fmla="*/ 520 w 1040"/>
                    <a:gd name="T15" fmla="*/ 1 h 1041"/>
                    <a:gd name="T16" fmla="*/ 0 w 1040"/>
                    <a:gd name="T17" fmla="*/ 521 h 1041"/>
                    <a:gd name="T18" fmla="*/ 520 w 1040"/>
                    <a:gd name="T19" fmla="*/ 1041 h 1041"/>
                    <a:gd name="T20" fmla="*/ 1040 w 1040"/>
                    <a:gd name="T21" fmla="*/ 520 h 1041"/>
                    <a:gd name="T22" fmla="*/ 1027 w 1040"/>
                    <a:gd name="T23" fmla="*/ 403 h 1041"/>
                    <a:gd name="T24" fmla="*/ 926 w 1040"/>
                    <a:gd name="T25" fmla="*/ 500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40" h="1041">
                      <a:moveTo>
                        <a:pt x="926" y="500"/>
                      </a:moveTo>
                      <a:cubicBezTo>
                        <a:pt x="927" y="506"/>
                        <a:pt x="927" y="513"/>
                        <a:pt x="927" y="521"/>
                      </a:cubicBezTo>
                      <a:cubicBezTo>
                        <a:pt x="927" y="745"/>
                        <a:pt x="745" y="927"/>
                        <a:pt x="520" y="928"/>
                      </a:cubicBezTo>
                      <a:cubicBezTo>
                        <a:pt x="295" y="928"/>
                        <a:pt x="113" y="746"/>
                        <a:pt x="113" y="521"/>
                      </a:cubicBezTo>
                      <a:cubicBezTo>
                        <a:pt x="113" y="296"/>
                        <a:pt x="295" y="114"/>
                        <a:pt x="520" y="114"/>
                      </a:cubicBezTo>
                      <a:cubicBezTo>
                        <a:pt x="604" y="114"/>
                        <a:pt x="682" y="139"/>
                        <a:pt x="747" y="183"/>
                      </a:cubicBezTo>
                      <a:cubicBezTo>
                        <a:pt x="830" y="103"/>
                        <a:pt x="830" y="103"/>
                        <a:pt x="830" y="103"/>
                      </a:cubicBezTo>
                      <a:cubicBezTo>
                        <a:pt x="743" y="39"/>
                        <a:pt x="636" y="0"/>
                        <a:pt x="520" y="1"/>
                      </a:cubicBezTo>
                      <a:cubicBezTo>
                        <a:pt x="233" y="1"/>
                        <a:pt x="0" y="234"/>
                        <a:pt x="0" y="521"/>
                      </a:cubicBezTo>
                      <a:cubicBezTo>
                        <a:pt x="0" y="808"/>
                        <a:pt x="233" y="1041"/>
                        <a:pt x="520" y="1041"/>
                      </a:cubicBezTo>
                      <a:cubicBezTo>
                        <a:pt x="807" y="1041"/>
                        <a:pt x="1040" y="808"/>
                        <a:pt x="1040" y="520"/>
                      </a:cubicBezTo>
                      <a:cubicBezTo>
                        <a:pt x="1040" y="480"/>
                        <a:pt x="1036" y="441"/>
                        <a:pt x="1027" y="403"/>
                      </a:cubicBezTo>
                      <a:lnTo>
                        <a:pt x="926" y="50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2" name="TextBox 9"/>
              <p:cNvSpPr txBox="1"/>
              <p:nvPr/>
            </p:nvSpPr>
            <p:spPr>
              <a:xfrm>
                <a:off x="577124" y="1168869"/>
                <a:ext cx="585705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21" latinLnBrk="0"/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공통 식별정보를 기반으로 시스템별 로그를 연결하여 거래 흐름과 장애 영향을 신속하게 추적합니다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.</a:t>
                </a:r>
              </a:p>
            </p:txBody>
          </p:sp>
        </p:grpSp>
      </p:grpSp>
      <p:grpSp>
        <p:nvGrpSpPr>
          <p:cNvPr id="89" name="그룹 88"/>
          <p:cNvGrpSpPr/>
          <p:nvPr/>
        </p:nvGrpSpPr>
        <p:grpSpPr>
          <a:xfrm>
            <a:off x="8005397" y="1261597"/>
            <a:ext cx="1485589" cy="187106"/>
            <a:chOff x="4899641" y="1714485"/>
            <a:chExt cx="1621709" cy="187106"/>
          </a:xfrm>
        </p:grpSpPr>
        <p:grpSp>
          <p:nvGrpSpPr>
            <p:cNvPr id="90" name="그룹 89"/>
            <p:cNvGrpSpPr/>
            <p:nvPr/>
          </p:nvGrpSpPr>
          <p:grpSpPr>
            <a:xfrm>
              <a:off x="4903555" y="1714485"/>
              <a:ext cx="1617795" cy="187106"/>
              <a:chOff x="4586156" y="1714485"/>
              <a:chExt cx="1617795" cy="187106"/>
            </a:xfrm>
          </p:grpSpPr>
          <p:sp>
            <p:nvSpPr>
              <p:cNvPr id="92" name="직사각형 91"/>
              <p:cNvSpPr/>
              <p:nvPr/>
            </p:nvSpPr>
            <p:spPr bwMode="gray">
              <a:xfrm>
                <a:off x="4586156" y="1714485"/>
                <a:ext cx="806183" cy="1871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요구사항 번호</a:t>
                </a:r>
              </a:p>
            </p:txBody>
          </p:sp>
          <p:sp>
            <p:nvSpPr>
              <p:cNvPr id="93" name="직사각형 92"/>
              <p:cNvSpPr/>
              <p:nvPr/>
            </p:nvSpPr>
            <p:spPr bwMode="gray">
              <a:xfrm>
                <a:off x="5392339" y="1714485"/>
                <a:ext cx="811612" cy="187106"/>
              </a:xfrm>
              <a:prstGeom prst="rect">
                <a:avLst/>
              </a:prstGeom>
              <a:solidFill>
                <a:srgbClr val="F5F5F6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SFR-IT-01</a:t>
                </a:r>
              </a:p>
            </p:txBody>
          </p:sp>
        </p:grpSp>
        <p:sp>
          <p:nvSpPr>
            <p:cNvPr id="91" name="자유형 90"/>
            <p:cNvSpPr/>
            <p:nvPr/>
          </p:nvSpPr>
          <p:spPr>
            <a:xfrm rot="10800000" flipV="1">
              <a:off x="4899641" y="1714485"/>
              <a:ext cx="1621708" cy="187105"/>
            </a:xfrm>
            <a:custGeom>
              <a:avLst/>
              <a:gdLst>
                <a:gd name="connsiteX0" fmla="*/ 0 w 2557462"/>
                <a:gd name="connsiteY0" fmla="*/ 320675 h 320675"/>
                <a:gd name="connsiteX1" fmla="*/ 0 w 2557462"/>
                <a:gd name="connsiteY1" fmla="*/ 0 h 320675"/>
                <a:gd name="connsiteX2" fmla="*/ 2557462 w 2557462"/>
                <a:gd name="connsiteY2" fmla="*/ 0 h 320675"/>
                <a:gd name="connsiteX3" fmla="*/ 2557462 w 2557462"/>
                <a:gd name="connsiteY3" fmla="*/ 320675 h 32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7462" h="320675">
                  <a:moveTo>
                    <a:pt x="0" y="320675"/>
                  </a:moveTo>
                  <a:lnTo>
                    <a:pt x="0" y="0"/>
                  </a:lnTo>
                  <a:lnTo>
                    <a:pt x="2557462" y="0"/>
                  </a:lnTo>
                  <a:lnTo>
                    <a:pt x="2557462" y="320675"/>
                  </a:lnTo>
                </a:path>
              </a:pathLst>
            </a:custGeom>
            <a:noFill/>
            <a:ln w="9525" cap="flat">
              <a:solidFill>
                <a:srgbClr val="C5C8CD"/>
              </a:solidFill>
              <a:prstDash val="solid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>
                <a:solidFill>
                  <a:prstClr val="black"/>
                </a:solidFill>
                <a:latin typeface="Calibri" panose="020F0502020204030204"/>
                <a:ea typeface="페이퍼로지 4 Regular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49DE0E-F70D-15F8-0C75-9AF7DF0757D8}"/>
              </a:ext>
            </a:extLst>
          </p:cNvPr>
          <p:cNvGrpSpPr/>
          <p:nvPr/>
        </p:nvGrpSpPr>
        <p:grpSpPr>
          <a:xfrm>
            <a:off x="416358" y="1664804"/>
            <a:ext cx="1123605" cy="215444"/>
            <a:chOff x="416358" y="1564175"/>
            <a:chExt cx="1123605" cy="215444"/>
          </a:xfrm>
        </p:grpSpPr>
        <p:sp>
          <p:nvSpPr>
            <p:cNvPr id="4" name="Text Box 79">
              <a:extLst>
                <a:ext uri="{FF2B5EF4-FFF2-40B4-BE49-F238E27FC236}">
                  <a16:creationId xmlns:a16="http://schemas.microsoft.com/office/drawing/2014/main" id="{EF0B0008-1F9C-F261-B41E-860803E271B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6101" y="1564175"/>
              <a:ext cx="993862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latinLnBrk="0">
                <a:defRPr kumimoji="1" sz="120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fontAlgn="base">
                <a:spcBef>
                  <a:spcPts val="200"/>
                </a:spcBef>
                <a:buClr>
                  <a:srgbClr val="4D4D4D"/>
                </a:buClr>
              </a:pPr>
              <a:r>
                <a:rPr lang="ko-KR" altLang="en-US" sz="1400" dirty="0"/>
                <a:t>연계 아키텍처</a:t>
              </a: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13F2E54-3AAE-E7BD-8104-D27CF3F66876}"/>
                </a:ext>
              </a:extLst>
            </p:cNvPr>
            <p:cNvGrpSpPr/>
            <p:nvPr/>
          </p:nvGrpSpPr>
          <p:grpSpPr>
            <a:xfrm>
              <a:off x="416358" y="1591470"/>
              <a:ext cx="103211" cy="165425"/>
              <a:chOff x="-120217" y="1731639"/>
              <a:chExt cx="98259" cy="157488"/>
            </a:xfrm>
          </p:grpSpPr>
          <p:sp>
            <p:nvSpPr>
              <p:cNvPr id="6" name="자유형 25">
                <a:extLst>
                  <a:ext uri="{FF2B5EF4-FFF2-40B4-BE49-F238E27FC236}">
                    <a16:creationId xmlns:a16="http://schemas.microsoft.com/office/drawing/2014/main" id="{C8B183C2-B701-D491-796C-7B51A33BA311}"/>
                  </a:ext>
                </a:extLst>
              </p:cNvPr>
              <p:cNvSpPr/>
              <p:nvPr/>
            </p:nvSpPr>
            <p:spPr>
              <a:xfrm rot="5400000">
                <a:off x="-110611" y="1722036"/>
                <a:ext cx="79048" cy="98257"/>
              </a:xfrm>
              <a:custGeom>
                <a:avLst/>
                <a:gdLst>
                  <a:gd name="connsiteX0" fmla="*/ 0 w 79048"/>
                  <a:gd name="connsiteY0" fmla="*/ 98257 h 98257"/>
                  <a:gd name="connsiteX1" fmla="*/ 15638 w 79048"/>
                  <a:gd name="connsiteY1" fmla="*/ 78743 h 98257"/>
                  <a:gd name="connsiteX2" fmla="*/ 78742 w 79048"/>
                  <a:gd name="connsiteY2" fmla="*/ 0 h 98257"/>
                  <a:gd name="connsiteX3" fmla="*/ 79048 w 79048"/>
                  <a:gd name="connsiteY3" fmla="*/ 382 h 98257"/>
                  <a:gd name="connsiteX4" fmla="*/ 79048 w 79048"/>
                  <a:gd name="connsiteY4" fmla="*/ 54925 h 98257"/>
                  <a:gd name="connsiteX5" fmla="*/ 78743 w 79048"/>
                  <a:gd name="connsiteY5" fmla="*/ 54544 h 98257"/>
                  <a:gd name="connsiteX6" fmla="*/ 43712 w 79048"/>
                  <a:gd name="connsiteY6" fmla="*/ 98257 h 98257"/>
                  <a:gd name="connsiteX7" fmla="*/ 0 w 79048"/>
                  <a:gd name="connsiteY7" fmla="*/ 98257 h 98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048" h="98257">
                    <a:moveTo>
                      <a:pt x="0" y="98257"/>
                    </a:moveTo>
                    <a:lnTo>
                      <a:pt x="15638" y="78743"/>
                    </a:lnTo>
                    <a:lnTo>
                      <a:pt x="78742" y="0"/>
                    </a:lnTo>
                    <a:lnTo>
                      <a:pt x="79048" y="382"/>
                    </a:lnTo>
                    <a:lnTo>
                      <a:pt x="79048" y="54925"/>
                    </a:lnTo>
                    <a:lnTo>
                      <a:pt x="78743" y="54544"/>
                    </a:lnTo>
                    <a:lnTo>
                      <a:pt x="43712" y="98257"/>
                    </a:lnTo>
                    <a:lnTo>
                      <a:pt x="0" y="98257"/>
                    </a:lnTo>
                    <a:close/>
                  </a:path>
                </a:pathLst>
              </a:custGeom>
              <a:solidFill>
                <a:srgbClr val="0158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7" name="자유형 26">
                <a:extLst>
                  <a:ext uri="{FF2B5EF4-FFF2-40B4-BE49-F238E27FC236}">
                    <a16:creationId xmlns:a16="http://schemas.microsoft.com/office/drawing/2014/main" id="{ED50EB1D-F627-B310-4FC5-592E87F6B614}"/>
                  </a:ext>
                </a:extLst>
              </p:cNvPr>
              <p:cNvSpPr/>
              <p:nvPr/>
            </p:nvSpPr>
            <p:spPr>
              <a:xfrm rot="5400000">
                <a:off x="-132316" y="1743738"/>
                <a:ext cx="43714" cy="19515"/>
              </a:xfrm>
              <a:custGeom>
                <a:avLst/>
                <a:gdLst>
                  <a:gd name="connsiteX0" fmla="*/ 0 w 43714"/>
                  <a:gd name="connsiteY0" fmla="*/ 19515 h 19515"/>
                  <a:gd name="connsiteX1" fmla="*/ 15640 w 43714"/>
                  <a:gd name="connsiteY1" fmla="*/ 0 h 19515"/>
                  <a:gd name="connsiteX2" fmla="*/ 2 w 43714"/>
                  <a:gd name="connsiteY2" fmla="*/ 19514 h 19515"/>
                  <a:gd name="connsiteX3" fmla="*/ 43714 w 43714"/>
                  <a:gd name="connsiteY3" fmla="*/ 19514 h 19515"/>
                  <a:gd name="connsiteX4" fmla="*/ 43713 w 43714"/>
                  <a:gd name="connsiteY4" fmla="*/ 19515 h 19515"/>
                  <a:gd name="connsiteX5" fmla="*/ 0 w 43714"/>
                  <a:gd name="connsiteY5" fmla="*/ 19515 h 19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714" h="19515">
                    <a:moveTo>
                      <a:pt x="0" y="19515"/>
                    </a:moveTo>
                    <a:lnTo>
                      <a:pt x="15640" y="0"/>
                    </a:lnTo>
                    <a:lnTo>
                      <a:pt x="2" y="19514"/>
                    </a:lnTo>
                    <a:lnTo>
                      <a:pt x="43714" y="19514"/>
                    </a:lnTo>
                    <a:lnTo>
                      <a:pt x="43713" y="19515"/>
                    </a:lnTo>
                    <a:lnTo>
                      <a:pt x="0" y="1951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8" name="자유형 27">
                <a:extLst>
                  <a:ext uri="{FF2B5EF4-FFF2-40B4-BE49-F238E27FC236}">
                    <a16:creationId xmlns:a16="http://schemas.microsoft.com/office/drawing/2014/main" id="{C13F00AE-F152-8E3D-FC2D-9D1E6F96A66D}"/>
                  </a:ext>
                </a:extLst>
              </p:cNvPr>
              <p:cNvSpPr/>
              <p:nvPr/>
            </p:nvSpPr>
            <p:spPr>
              <a:xfrm rot="5400000">
                <a:off x="-93035" y="1739611"/>
                <a:ext cx="63410" cy="78744"/>
              </a:xfrm>
              <a:custGeom>
                <a:avLst/>
                <a:gdLst>
                  <a:gd name="connsiteX0" fmla="*/ 0 w 63410"/>
                  <a:gd name="connsiteY0" fmla="*/ 78744 h 78744"/>
                  <a:gd name="connsiteX1" fmla="*/ 63104 w 63410"/>
                  <a:gd name="connsiteY1" fmla="*/ 0 h 78744"/>
                  <a:gd name="connsiteX2" fmla="*/ 63410 w 63410"/>
                  <a:gd name="connsiteY2" fmla="*/ 381 h 78744"/>
                  <a:gd name="connsiteX3" fmla="*/ 63410 w 63410"/>
                  <a:gd name="connsiteY3" fmla="*/ 383 h 78744"/>
                  <a:gd name="connsiteX4" fmla="*/ 63104 w 63410"/>
                  <a:gd name="connsiteY4" fmla="*/ 1 h 78744"/>
                  <a:gd name="connsiteX5" fmla="*/ 0 w 63410"/>
                  <a:gd name="connsiteY5" fmla="*/ 78744 h 78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410" h="78744">
                    <a:moveTo>
                      <a:pt x="0" y="78744"/>
                    </a:moveTo>
                    <a:lnTo>
                      <a:pt x="63104" y="0"/>
                    </a:lnTo>
                    <a:lnTo>
                      <a:pt x="63410" y="381"/>
                    </a:lnTo>
                    <a:lnTo>
                      <a:pt x="63410" y="383"/>
                    </a:lnTo>
                    <a:lnTo>
                      <a:pt x="63104" y="1"/>
                    </a:lnTo>
                    <a:lnTo>
                      <a:pt x="0" y="787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/>
              </a:p>
            </p:txBody>
          </p:sp>
          <p:sp>
            <p:nvSpPr>
              <p:cNvPr id="9" name="자유형 28">
                <a:extLst>
                  <a:ext uri="{FF2B5EF4-FFF2-40B4-BE49-F238E27FC236}">
                    <a16:creationId xmlns:a16="http://schemas.microsoft.com/office/drawing/2014/main" id="{E7FD0465-6494-917A-D374-EB7EEE2EDE8A}"/>
                  </a:ext>
                </a:extLst>
              </p:cNvPr>
              <p:cNvSpPr/>
              <p:nvPr/>
            </p:nvSpPr>
            <p:spPr>
              <a:xfrm rot="5400000">
                <a:off x="-110497" y="1800971"/>
                <a:ext cx="78437" cy="97876"/>
              </a:xfrm>
              <a:custGeom>
                <a:avLst/>
                <a:gdLst>
                  <a:gd name="connsiteX0" fmla="*/ 0 w 78437"/>
                  <a:gd name="connsiteY0" fmla="*/ 54543 h 97876"/>
                  <a:gd name="connsiteX1" fmla="*/ 0 w 78437"/>
                  <a:gd name="connsiteY1" fmla="*/ 0 h 97876"/>
                  <a:gd name="connsiteX2" fmla="*/ 78437 w 78437"/>
                  <a:gd name="connsiteY2" fmla="*/ 97876 h 97876"/>
                  <a:gd name="connsiteX3" fmla="*/ 34726 w 78437"/>
                  <a:gd name="connsiteY3" fmla="*/ 97876 h 97876"/>
                  <a:gd name="connsiteX4" fmla="*/ 0 w 78437"/>
                  <a:gd name="connsiteY4" fmla="*/ 54543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37" h="97876">
                    <a:moveTo>
                      <a:pt x="0" y="54543"/>
                    </a:moveTo>
                    <a:lnTo>
                      <a:pt x="0" y="0"/>
                    </a:lnTo>
                    <a:lnTo>
                      <a:pt x="78437" y="97876"/>
                    </a:lnTo>
                    <a:lnTo>
                      <a:pt x="34726" y="97876"/>
                    </a:lnTo>
                    <a:lnTo>
                      <a:pt x="0" y="54543"/>
                    </a:lnTo>
                    <a:close/>
                  </a:path>
                </a:pathLst>
              </a:custGeom>
              <a:solidFill>
                <a:srgbClr val="0209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 latinLnBrk="0"/>
                <a:endParaRPr lang="ko-KR" altLang="en-US" sz="1100">
                  <a:solidFill>
                    <a:srgbClr val="01033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4A28F176-5C46-1829-30AE-9D9BC138A25C}"/>
              </a:ext>
            </a:extLst>
          </p:cNvPr>
          <p:cNvGrpSpPr/>
          <p:nvPr/>
        </p:nvGrpSpPr>
        <p:grpSpPr>
          <a:xfrm>
            <a:off x="884548" y="1916832"/>
            <a:ext cx="8207589" cy="2264289"/>
            <a:chOff x="884548" y="1956799"/>
            <a:chExt cx="8207589" cy="2624329"/>
          </a:xfrm>
        </p:grpSpPr>
        <p:sp>
          <p:nvSpPr>
            <p:cNvPr id="30" name="Shape 29">
              <a:extLst>
                <a:ext uri="{FF2B5EF4-FFF2-40B4-BE49-F238E27FC236}">
                  <a16:creationId xmlns:a16="http://schemas.microsoft.com/office/drawing/2014/main" id="{D953C7CD-BBC3-50C0-08A5-B25834A4CDD4}"/>
                </a:ext>
              </a:extLst>
            </p:cNvPr>
            <p:cNvSpPr/>
            <p:nvPr/>
          </p:nvSpPr>
          <p:spPr>
            <a:xfrm>
              <a:off x="3228217" y="1956799"/>
              <a:ext cx="2743200" cy="2624328"/>
            </a:xfrm>
            <a:prstGeom prst="roundRect">
              <a:avLst>
                <a:gd name="adj" fmla="val 2787"/>
              </a:avLst>
            </a:prstGeom>
            <a:solidFill>
              <a:srgbClr val="0B2A52"/>
            </a:solidFill>
            <a:ln w="12700">
              <a:solidFill>
                <a:srgbClr val="0B2A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1" name="Text 30">
              <a:extLst>
                <a:ext uri="{FF2B5EF4-FFF2-40B4-BE49-F238E27FC236}">
                  <a16:creationId xmlns:a16="http://schemas.microsoft.com/office/drawing/2014/main" id="{EAC10528-E7FF-1283-C2CF-3908B3AA7C21}"/>
                </a:ext>
              </a:extLst>
            </p:cNvPr>
            <p:cNvSpPr/>
            <p:nvPr/>
          </p:nvSpPr>
          <p:spPr>
            <a:xfrm>
              <a:off x="3228217" y="2029951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표준 연계·수집 계층</a:t>
              </a:r>
              <a:endParaRPr 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3" name="Shape 32">
              <a:extLst>
                <a:ext uri="{FF2B5EF4-FFF2-40B4-BE49-F238E27FC236}">
                  <a16:creationId xmlns:a16="http://schemas.microsoft.com/office/drawing/2014/main" id="{CD531F59-9A76-B82A-C54C-3FCAB9CF30AA}"/>
                </a:ext>
              </a:extLst>
            </p:cNvPr>
            <p:cNvSpPr/>
            <p:nvPr/>
          </p:nvSpPr>
          <p:spPr>
            <a:xfrm>
              <a:off x="3365377" y="2371072"/>
              <a:ext cx="2468880" cy="434411"/>
            </a:xfrm>
            <a:prstGeom prst="roundRect">
              <a:avLst>
                <a:gd name="adj" fmla="val 13158"/>
              </a:avLst>
            </a:prstGeom>
            <a:solidFill>
              <a:srgbClr val="11305C"/>
            </a:solidFill>
            <a:ln w="9525">
              <a:solidFill>
                <a:srgbClr val="1E4A8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4" name="Text 33">
              <a:extLst>
                <a:ext uri="{FF2B5EF4-FFF2-40B4-BE49-F238E27FC236}">
                  <a16:creationId xmlns:a16="http://schemas.microsoft.com/office/drawing/2014/main" id="{AF3F39F0-3DCD-8BCF-8F83-F24DC7DCA73A}"/>
                </a:ext>
              </a:extLst>
            </p:cNvPr>
            <p:cNvSpPr/>
            <p:nvPr/>
          </p:nvSpPr>
          <p:spPr>
            <a:xfrm>
              <a:off x="3484249" y="2389361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수집 어댑터</a:t>
              </a:r>
              <a:endParaRPr lang="en-US" sz="9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5" name="Text 34">
              <a:extLst>
                <a:ext uri="{FF2B5EF4-FFF2-40B4-BE49-F238E27FC236}">
                  <a16:creationId xmlns:a16="http://schemas.microsoft.com/office/drawing/2014/main" id="{DACD3532-FF2D-03A0-F8BA-3408A604C9FE}"/>
                </a:ext>
              </a:extLst>
            </p:cNvPr>
            <p:cNvSpPr/>
            <p:nvPr/>
          </p:nvSpPr>
          <p:spPr>
            <a:xfrm>
              <a:off x="3484249" y="2572241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BFD2E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파일·Syslog·API 등 원천 특성별 연계</a:t>
              </a:r>
              <a:endParaRPr lang="en-US" sz="8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6" name="Shape 35">
              <a:extLst>
                <a:ext uri="{FF2B5EF4-FFF2-40B4-BE49-F238E27FC236}">
                  <a16:creationId xmlns:a16="http://schemas.microsoft.com/office/drawing/2014/main" id="{D39AAA9D-92F4-D266-49F7-635DBAE6A4AF}"/>
                </a:ext>
              </a:extLst>
            </p:cNvPr>
            <p:cNvSpPr/>
            <p:nvPr/>
          </p:nvSpPr>
          <p:spPr>
            <a:xfrm>
              <a:off x="3365377" y="2839124"/>
              <a:ext cx="2468880" cy="384048"/>
            </a:xfrm>
            <a:prstGeom prst="roundRect">
              <a:avLst>
                <a:gd name="adj" fmla="val 13158"/>
              </a:avLst>
            </a:prstGeom>
            <a:solidFill>
              <a:srgbClr val="11305C"/>
            </a:solidFill>
            <a:ln w="9525">
              <a:solidFill>
                <a:srgbClr val="1E4A8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7" name="Text 36">
              <a:extLst>
                <a:ext uri="{FF2B5EF4-FFF2-40B4-BE49-F238E27FC236}">
                  <a16:creationId xmlns:a16="http://schemas.microsoft.com/office/drawing/2014/main" id="{A64B2069-0C5D-EF64-766E-29E45620E494}"/>
                </a:ext>
              </a:extLst>
            </p:cNvPr>
            <p:cNvSpPr/>
            <p:nvPr/>
          </p:nvSpPr>
          <p:spPr>
            <a:xfrm>
              <a:off x="3484249" y="2857412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파싱·정규화</a:t>
              </a:r>
              <a:endParaRPr lang="en-US" sz="9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8" name="Text 37">
              <a:extLst>
                <a:ext uri="{FF2B5EF4-FFF2-40B4-BE49-F238E27FC236}">
                  <a16:creationId xmlns:a16="http://schemas.microsoft.com/office/drawing/2014/main" id="{474C5056-107C-F390-8915-8855715CFFCF}"/>
                </a:ext>
              </a:extLst>
            </p:cNvPr>
            <p:cNvSpPr/>
            <p:nvPr/>
          </p:nvSpPr>
          <p:spPr>
            <a:xfrm>
              <a:off x="3484249" y="3040292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BFD2E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이기종 로그를 공통 구조로 변환</a:t>
              </a:r>
              <a:endParaRPr lang="en-US" sz="8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9" name="Shape 38">
              <a:extLst>
                <a:ext uri="{FF2B5EF4-FFF2-40B4-BE49-F238E27FC236}">
                  <a16:creationId xmlns:a16="http://schemas.microsoft.com/office/drawing/2014/main" id="{2B374842-3C59-DE79-5FCD-E3109828AE0B}"/>
                </a:ext>
              </a:extLst>
            </p:cNvPr>
            <p:cNvSpPr/>
            <p:nvPr/>
          </p:nvSpPr>
          <p:spPr>
            <a:xfrm>
              <a:off x="3365377" y="3264880"/>
              <a:ext cx="2468880" cy="384048"/>
            </a:xfrm>
            <a:prstGeom prst="roundRect">
              <a:avLst>
                <a:gd name="adj" fmla="val 13158"/>
              </a:avLst>
            </a:prstGeom>
            <a:solidFill>
              <a:srgbClr val="11305C"/>
            </a:solidFill>
            <a:ln w="9525">
              <a:solidFill>
                <a:srgbClr val="1E4A8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0" name="Text 39">
              <a:extLst>
                <a:ext uri="{FF2B5EF4-FFF2-40B4-BE49-F238E27FC236}">
                  <a16:creationId xmlns:a16="http://schemas.microsoft.com/office/drawing/2014/main" id="{A0CA44BA-7C04-792A-9E0C-F4C6DB8DDE34}"/>
                </a:ext>
              </a:extLst>
            </p:cNvPr>
            <p:cNvSpPr/>
            <p:nvPr/>
          </p:nvSpPr>
          <p:spPr>
            <a:xfrm>
              <a:off x="3484249" y="3283168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공통 메타데이터</a:t>
              </a:r>
              <a:endParaRPr lang="en-US" sz="9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A6E1B44D-B7CD-6E7F-D2EB-5FF43209972A}"/>
                </a:ext>
              </a:extLst>
            </p:cNvPr>
            <p:cNvSpPr/>
            <p:nvPr/>
          </p:nvSpPr>
          <p:spPr>
            <a:xfrm>
              <a:off x="3484249" y="3466048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BFD2E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시각·시스템·업무·채널·로그유형 부여</a:t>
              </a:r>
              <a:endParaRPr lang="en-US" sz="8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2" name="Shape 41">
              <a:extLst>
                <a:ext uri="{FF2B5EF4-FFF2-40B4-BE49-F238E27FC236}">
                  <a16:creationId xmlns:a16="http://schemas.microsoft.com/office/drawing/2014/main" id="{775EBC52-D791-8520-AF8D-0F154A5512E3}"/>
                </a:ext>
              </a:extLst>
            </p:cNvPr>
            <p:cNvSpPr/>
            <p:nvPr/>
          </p:nvSpPr>
          <p:spPr>
            <a:xfrm>
              <a:off x="3365377" y="3682665"/>
              <a:ext cx="2468880" cy="384048"/>
            </a:xfrm>
            <a:prstGeom prst="roundRect">
              <a:avLst>
                <a:gd name="adj" fmla="val 13158"/>
              </a:avLst>
            </a:prstGeom>
            <a:solidFill>
              <a:srgbClr val="11305C"/>
            </a:solidFill>
            <a:ln w="9525">
              <a:solidFill>
                <a:srgbClr val="1E4A8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3" name="Text 42">
              <a:extLst>
                <a:ext uri="{FF2B5EF4-FFF2-40B4-BE49-F238E27FC236}">
                  <a16:creationId xmlns:a16="http://schemas.microsoft.com/office/drawing/2014/main" id="{4118BEA0-4723-A31A-E809-7A4C05381412}"/>
                </a:ext>
              </a:extLst>
            </p:cNvPr>
            <p:cNvSpPr/>
            <p:nvPr/>
          </p:nvSpPr>
          <p:spPr>
            <a:xfrm>
              <a:off x="3484249" y="3700953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추적 식별정보</a:t>
              </a:r>
              <a:endParaRPr lang="en-US" sz="9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4" name="Text 43">
              <a:extLst>
                <a:ext uri="{FF2B5EF4-FFF2-40B4-BE49-F238E27FC236}">
                  <a16:creationId xmlns:a16="http://schemas.microsoft.com/office/drawing/2014/main" id="{1DECF947-19AC-B317-E23F-F7B9D53BE997}"/>
                </a:ext>
              </a:extLst>
            </p:cNvPr>
            <p:cNvSpPr/>
            <p:nvPr/>
          </p:nvSpPr>
          <p:spPr>
            <a:xfrm>
              <a:off x="3484249" y="3883833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BFD2E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거래번호·전문번호·작업ID·변경ID 매핑</a:t>
              </a:r>
              <a:endParaRPr lang="en-US" sz="8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5" name="Shape 44">
              <a:extLst>
                <a:ext uri="{FF2B5EF4-FFF2-40B4-BE49-F238E27FC236}">
                  <a16:creationId xmlns:a16="http://schemas.microsoft.com/office/drawing/2014/main" id="{5678C019-DAFB-C2BD-C00C-95B3086E86FD}"/>
                </a:ext>
              </a:extLst>
            </p:cNvPr>
            <p:cNvSpPr/>
            <p:nvPr/>
          </p:nvSpPr>
          <p:spPr>
            <a:xfrm>
              <a:off x="3365377" y="4111260"/>
              <a:ext cx="2468880" cy="384048"/>
            </a:xfrm>
            <a:prstGeom prst="roundRect">
              <a:avLst>
                <a:gd name="adj" fmla="val 13158"/>
              </a:avLst>
            </a:prstGeom>
            <a:solidFill>
              <a:srgbClr val="11305C"/>
            </a:solidFill>
            <a:ln w="9525">
              <a:solidFill>
                <a:srgbClr val="1E4A8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6" name="Text 45">
              <a:extLst>
                <a:ext uri="{FF2B5EF4-FFF2-40B4-BE49-F238E27FC236}">
                  <a16:creationId xmlns:a16="http://schemas.microsoft.com/office/drawing/2014/main" id="{36470CF1-E96B-C313-DC1B-A2CC7FC0EB69}"/>
                </a:ext>
              </a:extLst>
            </p:cNvPr>
            <p:cNvSpPr/>
            <p:nvPr/>
          </p:nvSpPr>
          <p:spPr>
            <a:xfrm>
              <a:off x="3484249" y="4135268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연계 상태 관리</a:t>
              </a:r>
              <a:endParaRPr lang="en-US" sz="95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7" name="Text 46">
              <a:extLst>
                <a:ext uri="{FF2B5EF4-FFF2-40B4-BE49-F238E27FC236}">
                  <a16:creationId xmlns:a16="http://schemas.microsoft.com/office/drawing/2014/main" id="{F2530F83-0904-69E0-B4B3-93AACC25C29E}"/>
                </a:ext>
              </a:extLst>
            </p:cNvPr>
            <p:cNvSpPr/>
            <p:nvPr/>
          </p:nvSpPr>
          <p:spPr>
            <a:xfrm>
              <a:off x="3484249" y="429414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BFD2E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맑은 고딕" pitchFamily="34" charset="-120"/>
                </a:rPr>
                <a:t>성공·실패·지연·누락 모니터링</a:t>
              </a:r>
              <a:endParaRPr lang="en-US" sz="8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8" name="Shape 47">
              <a:extLst>
                <a:ext uri="{FF2B5EF4-FFF2-40B4-BE49-F238E27FC236}">
                  <a16:creationId xmlns:a16="http://schemas.microsoft.com/office/drawing/2014/main" id="{03285119-F8D6-8F37-BA8A-47CF59B10932}"/>
                </a:ext>
              </a:extLst>
            </p:cNvPr>
            <p:cNvSpPr/>
            <p:nvPr/>
          </p:nvSpPr>
          <p:spPr>
            <a:xfrm>
              <a:off x="2400377" y="2231119"/>
              <a:ext cx="827840" cy="9144"/>
            </a:xfrm>
            <a:prstGeom prst="line">
              <a:avLst/>
            </a:prstGeom>
            <a:noFill/>
            <a:ln w="15875">
              <a:solidFill>
                <a:srgbClr val="1E63B8"/>
              </a:solidFill>
              <a:prstDash val="dash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8">
              <a:extLst>
                <a:ext uri="{FF2B5EF4-FFF2-40B4-BE49-F238E27FC236}">
                  <a16:creationId xmlns:a16="http://schemas.microsoft.com/office/drawing/2014/main" id="{8BCA38A3-09EC-2948-68E6-EBD449B42C96}"/>
                </a:ext>
              </a:extLst>
            </p:cNvPr>
            <p:cNvSpPr/>
            <p:nvPr/>
          </p:nvSpPr>
          <p:spPr>
            <a:xfrm>
              <a:off x="2295593" y="2039095"/>
              <a:ext cx="1003128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B6B8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배치 결과·스케줄</a:t>
              </a:r>
              <a:endParaRPr lang="en-US" sz="75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50" name="Shape 49">
              <a:extLst>
                <a:ext uri="{FF2B5EF4-FFF2-40B4-BE49-F238E27FC236}">
                  <a16:creationId xmlns:a16="http://schemas.microsoft.com/office/drawing/2014/main" id="{25B07CA8-4E25-24EE-7DE1-AECE7CDE5FA7}"/>
                </a:ext>
              </a:extLst>
            </p:cNvPr>
            <p:cNvSpPr/>
            <p:nvPr/>
          </p:nvSpPr>
          <p:spPr>
            <a:xfrm>
              <a:off x="2295593" y="2913992"/>
              <a:ext cx="932624" cy="0"/>
            </a:xfrm>
            <a:prstGeom prst="line">
              <a:avLst/>
            </a:prstGeom>
            <a:noFill/>
            <a:ln w="15875">
              <a:solidFill>
                <a:srgbClr val="1E63B8"/>
              </a:solidFill>
              <a:prstDash val="dash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Text 50">
              <a:extLst>
                <a:ext uri="{FF2B5EF4-FFF2-40B4-BE49-F238E27FC236}">
                  <a16:creationId xmlns:a16="http://schemas.microsoft.com/office/drawing/2014/main" id="{CF0A1DFE-7F2F-28D1-124B-FE1E374DED2D}"/>
                </a:ext>
              </a:extLst>
            </p:cNvPr>
            <p:cNvSpPr/>
            <p:nvPr/>
          </p:nvSpPr>
          <p:spPr>
            <a:xfrm>
              <a:off x="2467401" y="2650227"/>
              <a:ext cx="715348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750" dirty="0">
                  <a:solidFill>
                    <a:srgbClr val="5B6B8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거래 흐름</a:t>
              </a:r>
              <a:r>
                <a:rPr lang="en-US" altLang="ko-KR" sz="750" dirty="0">
                  <a:solidFill>
                    <a:srgbClr val="5B6B8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·</a:t>
              </a:r>
              <a:br>
                <a:rPr lang="en-US" altLang="ko-KR" sz="750" dirty="0">
                  <a:solidFill>
                    <a:srgbClr val="5B6B8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</a:br>
              <a:r>
                <a:rPr lang="ko-KR" altLang="en-US" sz="750" dirty="0">
                  <a:solidFill>
                    <a:srgbClr val="5B6B8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인터페이스</a:t>
              </a:r>
            </a:p>
          </p:txBody>
        </p:sp>
        <p:sp>
          <p:nvSpPr>
            <p:cNvPr id="52" name="Shape 51">
              <a:extLst>
                <a:ext uri="{FF2B5EF4-FFF2-40B4-BE49-F238E27FC236}">
                  <a16:creationId xmlns:a16="http://schemas.microsoft.com/office/drawing/2014/main" id="{26541C89-93A3-DDA7-B234-29D9EFB5F233}"/>
                </a:ext>
              </a:extLst>
            </p:cNvPr>
            <p:cNvSpPr/>
            <p:nvPr/>
          </p:nvSpPr>
          <p:spPr>
            <a:xfrm>
              <a:off x="2251377" y="3611863"/>
              <a:ext cx="976840" cy="0"/>
            </a:xfrm>
            <a:prstGeom prst="line">
              <a:avLst/>
            </a:prstGeom>
            <a:noFill/>
            <a:ln w="15875">
              <a:solidFill>
                <a:srgbClr val="1E63B8"/>
              </a:solidFill>
              <a:prstDash val="dash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52">
              <a:extLst>
                <a:ext uri="{FF2B5EF4-FFF2-40B4-BE49-F238E27FC236}">
                  <a16:creationId xmlns:a16="http://schemas.microsoft.com/office/drawing/2014/main" id="{6627EFC4-7807-CA19-84CB-84BB197C1B37}"/>
                </a:ext>
              </a:extLst>
            </p:cNvPr>
            <p:cNvSpPr/>
            <p:nvPr/>
          </p:nvSpPr>
          <p:spPr>
            <a:xfrm>
              <a:off x="2400377" y="3410695"/>
              <a:ext cx="78710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B6B8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장애·진행상태</a:t>
              </a:r>
              <a:endParaRPr lang="en-US" sz="75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54" name="Shape 53">
              <a:extLst>
                <a:ext uri="{FF2B5EF4-FFF2-40B4-BE49-F238E27FC236}">
                  <a16:creationId xmlns:a16="http://schemas.microsoft.com/office/drawing/2014/main" id="{02033B0F-3F83-97D9-58B9-FA41DA35B51E}"/>
                </a:ext>
              </a:extLst>
            </p:cNvPr>
            <p:cNvSpPr/>
            <p:nvPr/>
          </p:nvSpPr>
          <p:spPr>
            <a:xfrm>
              <a:off x="2400377" y="4291444"/>
              <a:ext cx="827840" cy="6217"/>
            </a:xfrm>
            <a:prstGeom prst="line">
              <a:avLst/>
            </a:prstGeom>
            <a:noFill/>
            <a:ln w="15875">
              <a:solidFill>
                <a:srgbClr val="1E63B8"/>
              </a:solidFill>
              <a:prstDash val="dash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 54">
              <a:extLst>
                <a:ext uri="{FF2B5EF4-FFF2-40B4-BE49-F238E27FC236}">
                  <a16:creationId xmlns:a16="http://schemas.microsoft.com/office/drawing/2014/main" id="{743BB475-9E3C-F2A3-7EFB-41673C6EFE74}"/>
                </a:ext>
              </a:extLst>
            </p:cNvPr>
            <p:cNvSpPr/>
            <p:nvPr/>
          </p:nvSpPr>
          <p:spPr>
            <a:xfrm>
              <a:off x="2400377" y="4096495"/>
              <a:ext cx="78710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5B6B8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변경·영향정보</a:t>
              </a:r>
              <a:endParaRPr lang="en-US" sz="75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72" name="모서리가 둥근 직사각형 119">
              <a:extLst>
                <a:ext uri="{FF2B5EF4-FFF2-40B4-BE49-F238E27FC236}">
                  <a16:creationId xmlns:a16="http://schemas.microsoft.com/office/drawing/2014/main" id="{CA9FADBF-4ED8-944D-C78F-42AA29CE649D}"/>
                </a:ext>
              </a:extLst>
            </p:cNvPr>
            <p:cNvSpPr/>
            <p:nvPr/>
          </p:nvSpPr>
          <p:spPr>
            <a:xfrm>
              <a:off x="884548" y="2015542"/>
              <a:ext cx="1546849" cy="432000"/>
            </a:xfrm>
            <a:prstGeom prst="roundRect">
              <a:avLst>
                <a:gd name="adj" fmla="val 50000"/>
              </a:avLst>
            </a:prstGeom>
            <a:solidFill>
              <a:srgbClr val="02095A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21" tIns="45711" rIns="91421" bIns="45711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914400" latinLnBrk="0">
                <a:buClr>
                  <a:srgbClr val="CC0000"/>
                </a:buClr>
                <a:buSzPct val="70000"/>
                <a:defRPr/>
              </a:pPr>
              <a:r>
                <a:rPr lang="ko-KR" altLang="en-US" sz="1200" dirty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작업관리도구</a:t>
              </a:r>
              <a:endParaRPr lang="en-US" altLang="ko-KR" sz="1200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 defTabSz="914400" latinLnBrk="0">
                <a:buClr>
                  <a:srgbClr val="CC0000"/>
                </a:buClr>
                <a:buSzPct val="70000"/>
                <a:defRPr/>
              </a:pPr>
              <a:r>
                <a:rPr lang="en-US" altLang="ko-KR" sz="1100" dirty="0"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Control-M</a:t>
              </a:r>
            </a:p>
          </p:txBody>
        </p:sp>
        <p:sp>
          <p:nvSpPr>
            <p:cNvPr id="73" name="모서리가 둥근 직사각형 119">
              <a:extLst>
                <a:ext uri="{FF2B5EF4-FFF2-40B4-BE49-F238E27FC236}">
                  <a16:creationId xmlns:a16="http://schemas.microsoft.com/office/drawing/2014/main" id="{2477B334-6327-CDF5-9510-2EDCAFC1B027}"/>
                </a:ext>
              </a:extLst>
            </p:cNvPr>
            <p:cNvSpPr/>
            <p:nvPr/>
          </p:nvSpPr>
          <p:spPr>
            <a:xfrm>
              <a:off x="884548" y="2704249"/>
              <a:ext cx="1546849" cy="432000"/>
            </a:xfrm>
            <a:prstGeom prst="roundRect">
              <a:avLst>
                <a:gd name="adj" fmla="val 50000"/>
              </a:avLst>
            </a:prstGeom>
            <a:solidFill>
              <a:srgbClr val="02095A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21" tIns="45711" rIns="91421" bIns="45711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914400" latinLnBrk="0">
                <a:buClr>
                  <a:srgbClr val="CC0000"/>
                </a:buClr>
                <a:buSzPct val="70000"/>
                <a:defRPr/>
              </a:pPr>
              <a:r>
                <a:rPr lang="ko-KR" altLang="en-US" sz="1200" dirty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온라인 거래</a:t>
              </a:r>
              <a:endParaRPr lang="en-US" altLang="ko-KR" sz="1200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 defTabSz="914400" latinLnBrk="0">
                <a:buClr>
                  <a:srgbClr val="CC0000"/>
                </a:buClr>
                <a:buSzPct val="70000"/>
                <a:defRPr/>
              </a:pPr>
              <a:r>
                <a:rPr lang="en-US" altLang="ko-KR" sz="1050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E2E</a:t>
              </a:r>
            </a:p>
          </p:txBody>
        </p:sp>
        <p:sp>
          <p:nvSpPr>
            <p:cNvPr id="74" name="모서리가 둥근 직사각형 119">
              <a:extLst>
                <a:ext uri="{FF2B5EF4-FFF2-40B4-BE49-F238E27FC236}">
                  <a16:creationId xmlns:a16="http://schemas.microsoft.com/office/drawing/2014/main" id="{A4813573-ADBC-F4FE-A0B3-EBD2DC749569}"/>
                </a:ext>
              </a:extLst>
            </p:cNvPr>
            <p:cNvSpPr/>
            <p:nvPr/>
          </p:nvSpPr>
          <p:spPr>
            <a:xfrm>
              <a:off x="884548" y="3392956"/>
              <a:ext cx="1546849" cy="432000"/>
            </a:xfrm>
            <a:prstGeom prst="roundRect">
              <a:avLst>
                <a:gd name="adj" fmla="val 50000"/>
              </a:avLst>
            </a:prstGeom>
            <a:solidFill>
              <a:srgbClr val="02095A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21" tIns="45711" rIns="91421" bIns="45711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914400" latinLnBrk="0">
                <a:buClr>
                  <a:srgbClr val="CC0000"/>
                </a:buClr>
                <a:buSzPct val="70000"/>
                <a:defRPr/>
              </a:pPr>
              <a:r>
                <a:rPr lang="ko-KR" altLang="en-US" sz="1200" dirty="0" err="1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계정계</a:t>
              </a:r>
              <a:r>
                <a:rPr lang="en-US" altLang="ko-KR" sz="1200" dirty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·</a:t>
              </a:r>
              <a:r>
                <a:rPr lang="ko-KR" altLang="en-US" sz="1200" dirty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채널</a:t>
              </a:r>
              <a:endParaRPr lang="en-US" altLang="ko-KR" sz="1200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75" name="모서리가 둥근 직사각형 119">
              <a:extLst>
                <a:ext uri="{FF2B5EF4-FFF2-40B4-BE49-F238E27FC236}">
                  <a16:creationId xmlns:a16="http://schemas.microsoft.com/office/drawing/2014/main" id="{8B647563-D14A-264C-0EC7-564BF89E5B1E}"/>
                </a:ext>
              </a:extLst>
            </p:cNvPr>
            <p:cNvSpPr/>
            <p:nvPr/>
          </p:nvSpPr>
          <p:spPr>
            <a:xfrm>
              <a:off x="884548" y="4081663"/>
              <a:ext cx="1546849" cy="432000"/>
            </a:xfrm>
            <a:prstGeom prst="roundRect">
              <a:avLst>
                <a:gd name="adj" fmla="val 50000"/>
              </a:avLst>
            </a:prstGeom>
            <a:solidFill>
              <a:srgbClr val="02095A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21" tIns="45711" rIns="91421" bIns="45711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914400" latinLnBrk="0">
                <a:buClr>
                  <a:srgbClr val="CC0000"/>
                </a:buClr>
                <a:buSzPct val="70000"/>
                <a:defRPr/>
              </a:pPr>
              <a:r>
                <a:rPr lang="ko-KR" altLang="en-US" sz="1200" dirty="0"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형상관리</a:t>
              </a:r>
              <a:endParaRPr lang="en-US" altLang="ko-KR" sz="1200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C174BC9D-CEC6-08D0-41C3-5B2734EAE9FD}"/>
                </a:ext>
              </a:extLst>
            </p:cNvPr>
            <p:cNvSpPr/>
            <p:nvPr/>
          </p:nvSpPr>
          <p:spPr>
            <a:xfrm>
              <a:off x="6080008" y="1956800"/>
              <a:ext cx="3012129" cy="2624328"/>
            </a:xfrm>
            <a:prstGeom prst="rect">
              <a:avLst/>
            </a:prstGeom>
            <a:solidFill>
              <a:srgbClr val="EFF4FF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77" name="AutoShape 227">
              <a:extLst>
                <a:ext uri="{FF2B5EF4-FFF2-40B4-BE49-F238E27FC236}">
                  <a16:creationId xmlns:a16="http://schemas.microsoft.com/office/drawing/2014/main" id="{9CB9660A-09DC-1E20-8FE5-2202B438DBB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80008" y="1956799"/>
              <a:ext cx="3012129" cy="234000"/>
            </a:xfrm>
            <a:prstGeom prst="rect">
              <a:avLst/>
            </a:prstGeom>
            <a:solidFill>
              <a:srgbClr val="0209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sz="11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통합로그 플랫폼</a:t>
              </a:r>
              <a:endParaRPr lang="en-US" altLang="ko-KR" sz="11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EE07F17B-C03D-0521-FA8D-B2404EBFA81F}"/>
                </a:ext>
              </a:extLst>
            </p:cNvPr>
            <p:cNvSpPr/>
            <p:nvPr/>
          </p:nvSpPr>
          <p:spPr bwMode="gray">
            <a:xfrm>
              <a:off x="6196762" y="2311844"/>
              <a:ext cx="2751357" cy="4615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62531" tIns="81264" rIns="162531" bIns="81264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914377" latinLnBrk="0"/>
              <a:endPara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9E8A80BE-D3EC-6DA6-6836-EC22F1405774}"/>
                </a:ext>
              </a:extLst>
            </p:cNvPr>
            <p:cNvSpPr/>
            <p:nvPr/>
          </p:nvSpPr>
          <p:spPr bwMode="gray">
            <a:xfrm>
              <a:off x="7026347" y="2457987"/>
              <a:ext cx="1112485" cy="169277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sz="110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표준 로그 통합 저장</a:t>
              </a:r>
              <a:endParaRPr lang="en-US" altLang="ko-KR" sz="11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BE8D60E8-AB30-3077-FE6C-66BED71B596C}"/>
                </a:ext>
              </a:extLst>
            </p:cNvPr>
            <p:cNvSpPr/>
            <p:nvPr/>
          </p:nvSpPr>
          <p:spPr bwMode="gray">
            <a:xfrm>
              <a:off x="6196762" y="2875149"/>
              <a:ext cx="2751357" cy="4615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62531" tIns="81264" rIns="162531" bIns="81264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914377" latinLnBrk="0"/>
              <a:endPara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FB240522-AF9E-E00B-3596-8480F56B1E2D}"/>
                </a:ext>
              </a:extLst>
            </p:cNvPr>
            <p:cNvSpPr/>
            <p:nvPr/>
          </p:nvSpPr>
          <p:spPr bwMode="gray">
            <a:xfrm>
              <a:off x="6196762" y="3438454"/>
              <a:ext cx="2751357" cy="4615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62531" tIns="81264" rIns="162531" bIns="81264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914377" latinLnBrk="0"/>
              <a:endPara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68E6C561-EFFC-B64D-ED9B-464BF744B6DE}"/>
                </a:ext>
              </a:extLst>
            </p:cNvPr>
            <p:cNvSpPr/>
            <p:nvPr/>
          </p:nvSpPr>
          <p:spPr bwMode="gray">
            <a:xfrm>
              <a:off x="6196762" y="4001758"/>
              <a:ext cx="2751357" cy="4615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62531" tIns="81264" rIns="162531" bIns="81264" rtlCol="0" anchor="ctr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914377" latinLnBrk="0"/>
              <a:endPara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69166CE4-2FE9-EE0D-DF07-A1AC51083221}"/>
                </a:ext>
              </a:extLst>
            </p:cNvPr>
            <p:cNvSpPr/>
            <p:nvPr/>
          </p:nvSpPr>
          <p:spPr bwMode="gray">
            <a:xfrm>
              <a:off x="7003905" y="3021292"/>
              <a:ext cx="1157369" cy="169277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거래</a:t>
              </a:r>
              <a:r>
                <a:rPr lang="en-US" altLang="ko-KR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업무</a:t>
              </a:r>
              <a:r>
                <a:rPr lang="en-US" altLang="ko-KR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흐름 연결</a:t>
              </a:r>
              <a:endParaRPr lang="en-US" altLang="ko-KR" sz="11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16D59073-04E6-6844-7C08-ECC5F0EDE532}"/>
                </a:ext>
              </a:extLst>
            </p:cNvPr>
            <p:cNvSpPr/>
            <p:nvPr/>
          </p:nvSpPr>
          <p:spPr bwMode="gray">
            <a:xfrm>
              <a:off x="6891695" y="3584597"/>
              <a:ext cx="1381790" cy="169277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장애</a:t>
              </a:r>
              <a:r>
                <a:rPr lang="en-US" altLang="ko-KR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변경정보</a:t>
              </a:r>
              <a:r>
                <a:rPr lang="en-US" altLang="ko-KR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 </a:t>
              </a:r>
              <a:r>
                <a:rPr lang="ko-KR" altLang="en-US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연관 분석</a:t>
              </a:r>
              <a:endParaRPr lang="en-US" altLang="ko-KR" sz="11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988F29DD-87DC-8DD0-09E3-0982F02F1F7F}"/>
                </a:ext>
              </a:extLst>
            </p:cNvPr>
            <p:cNvSpPr/>
            <p:nvPr/>
          </p:nvSpPr>
          <p:spPr bwMode="gray">
            <a:xfrm>
              <a:off x="6912535" y="4147901"/>
              <a:ext cx="1340111" cy="169277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통합검색</a:t>
              </a:r>
              <a:r>
                <a:rPr lang="en-US" altLang="ko-KR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·</a:t>
              </a:r>
              <a:r>
                <a:rPr lang="ko-KR" altLang="en-US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모니터링</a:t>
              </a:r>
              <a:r>
                <a:rPr lang="en-US" altLang="ko-KR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 </a:t>
              </a:r>
              <a:r>
                <a:rPr lang="ko-KR" altLang="en-US" sz="1100" dirty="0">
                  <a:solidFill>
                    <a:srgbClr val="02095A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활용</a:t>
              </a:r>
              <a:endParaRPr lang="en-US" altLang="ko-KR" sz="11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7537528D-8388-38F8-247E-1037AF6B2FF8}"/>
              </a:ext>
            </a:extLst>
          </p:cNvPr>
          <p:cNvGrpSpPr/>
          <p:nvPr/>
        </p:nvGrpSpPr>
        <p:grpSpPr>
          <a:xfrm>
            <a:off x="415201" y="5625245"/>
            <a:ext cx="963075" cy="576063"/>
            <a:chOff x="415201" y="5337213"/>
            <a:chExt cx="963075" cy="576063"/>
          </a:xfrm>
        </p:grpSpPr>
        <p:sp>
          <p:nvSpPr>
            <p:cNvPr id="121" name="AutoShape 227">
              <a:extLst>
                <a:ext uri="{FF2B5EF4-FFF2-40B4-BE49-F238E27FC236}">
                  <a16:creationId xmlns:a16="http://schemas.microsoft.com/office/drawing/2014/main" id="{04BBBDA7-BD45-72B2-C614-12A405AEA47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31076" y="5359278"/>
              <a:ext cx="931325" cy="55399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panose="020B0604020202020204" pitchFamily="34" charset="0"/>
                </a:rPr>
                <a:t>공통 로그 표준화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endParaRPr>
            </a:p>
            <a:p>
              <a:pPr algn="ctr" latinLnBrk="0"/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panose="020B0604020202020204" pitchFamily="34" charset="0"/>
                </a:rPr>
                <a:t>및 연계 관리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endParaRPr>
            </a:p>
          </p:txBody>
        </p: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7F60D0AA-5C2A-2B0B-9C9F-19FD28A4849B}"/>
                </a:ext>
              </a:extLst>
            </p:cNvPr>
            <p:cNvCxnSpPr/>
            <p:nvPr/>
          </p:nvCxnSpPr>
          <p:spPr>
            <a:xfrm>
              <a:off x="415201" y="5913276"/>
              <a:ext cx="963075" cy="0"/>
            </a:xfrm>
            <a:prstGeom prst="line">
              <a:avLst/>
            </a:prstGeom>
            <a:ln w="6350" cap="flat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B976BB10-EF4A-DE14-E494-5A4ACF988741}"/>
                </a:ext>
              </a:extLst>
            </p:cNvPr>
            <p:cNvCxnSpPr/>
            <p:nvPr/>
          </p:nvCxnSpPr>
          <p:spPr>
            <a:xfrm>
              <a:off x="415201" y="5337213"/>
              <a:ext cx="963075" cy="0"/>
            </a:xfrm>
            <a:prstGeom prst="line">
              <a:avLst/>
            </a:prstGeom>
            <a:ln w="6350" cap="flat">
              <a:solidFill>
                <a:schemeClr val="bg1">
                  <a:lumMod val="75000"/>
                </a:schemeClr>
              </a:solidFill>
              <a:prstDash val="solid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11191B9-FDE4-F477-617B-E5C77FC660AD}"/>
              </a:ext>
            </a:extLst>
          </p:cNvPr>
          <p:cNvCxnSpPr/>
          <p:nvPr/>
        </p:nvCxnSpPr>
        <p:spPr>
          <a:xfrm>
            <a:off x="1739045" y="5625245"/>
            <a:ext cx="7751755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3A794E66-BF7D-4A75-FE73-6EF48C21880B}"/>
              </a:ext>
            </a:extLst>
          </p:cNvPr>
          <p:cNvGrpSpPr/>
          <p:nvPr/>
        </p:nvGrpSpPr>
        <p:grpSpPr>
          <a:xfrm>
            <a:off x="1739045" y="5713797"/>
            <a:ext cx="7751941" cy="641203"/>
            <a:chOff x="1739045" y="5525097"/>
            <a:chExt cx="7503695" cy="829903"/>
          </a:xfrm>
        </p:grpSpPr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1753801-55DC-213C-7CC9-123092187344}"/>
                </a:ext>
              </a:extLst>
            </p:cNvPr>
            <p:cNvGrpSpPr/>
            <p:nvPr/>
          </p:nvGrpSpPr>
          <p:grpSpPr>
            <a:xfrm>
              <a:off x="1739045" y="5533942"/>
              <a:ext cx="1809799" cy="820141"/>
              <a:chOff x="1739045" y="5533942"/>
              <a:chExt cx="1809799" cy="820141"/>
            </a:xfrm>
          </p:grpSpPr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29421777-EE1B-C339-FE2B-78E9774119DB}"/>
                  </a:ext>
                </a:extLst>
              </p:cNvPr>
              <p:cNvSpPr/>
              <p:nvPr/>
            </p:nvSpPr>
            <p:spPr>
              <a:xfrm>
                <a:off x="1739045" y="5533942"/>
                <a:ext cx="1809799" cy="8201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ctr" latinLnBrk="0"/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076EA9D6-958F-72AC-E0AE-604C4618E132}"/>
                  </a:ext>
                </a:extLst>
              </p:cNvPr>
              <p:cNvSpPr/>
              <p:nvPr/>
            </p:nvSpPr>
            <p:spPr bwMode="gray">
              <a:xfrm>
                <a:off x="2096425" y="5600991"/>
                <a:ext cx="1137326" cy="16927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ctr" latinLnBrk="0"/>
                <a:r>
                  <a:rPr lang="ko-KR" alt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anose="020B0604020202020204" pitchFamily="34" charset="0"/>
                  </a:rPr>
                  <a:t>공통 필드 표준화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1907878-42AD-BE0D-F956-9E7B9F51148F}"/>
                  </a:ext>
                </a:extLst>
              </p:cNvPr>
              <p:cNvSpPr txBox="1"/>
              <p:nvPr/>
            </p:nvSpPr>
            <p:spPr>
              <a:xfrm>
                <a:off x="1870464" y="5899171"/>
                <a:ext cx="1609176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marL="88900" indent="-88900" fontAlgn="base" latinLnBrk="0">
                  <a:lnSpc>
                    <a:spcPct val="11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tabLst>
                    <a:tab pos="5648002" algn="l"/>
                  </a:tabLst>
                  <a:defRPr sz="1000" spc="-20">
                    <a:ln>
                      <a:solidFill>
                        <a:srgbClr val="C4266A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KoPub돋움체 Light" panose="00000300000000000000" pitchFamily="2" charset="-127"/>
                    <a:ea typeface="KoPub돋움체 Light" panose="00000300000000000000" pitchFamily="2" charset="-127"/>
                    <a:cs typeface="Arial" panose="020B0604020202020204" pitchFamily="34" charset="0"/>
                  </a:defRPr>
                </a:lvl1pPr>
              </a:lstStyle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시스템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·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업무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·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채널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·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로그유형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, 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발생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·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수집시각</a:t>
                </a:r>
              </a:p>
            </p:txBody>
          </p:sp>
          <p:cxnSp>
            <p:nvCxnSpPr>
              <p:cNvPr id="138" name="직선 연결선 137">
                <a:extLst>
                  <a:ext uri="{FF2B5EF4-FFF2-40B4-BE49-F238E27FC236}">
                    <a16:creationId xmlns:a16="http://schemas.microsoft.com/office/drawing/2014/main" id="{29806751-8E90-EA80-57B2-23C4A549E489}"/>
                  </a:ext>
                </a:extLst>
              </p:cNvPr>
              <p:cNvCxnSpPr/>
              <p:nvPr/>
            </p:nvCxnSpPr>
            <p:spPr>
              <a:xfrm>
                <a:off x="1826564" y="5828885"/>
                <a:ext cx="1676193" cy="0"/>
              </a:xfrm>
              <a:prstGeom prst="line">
                <a:avLst/>
              </a:prstGeom>
              <a:ln w="3175" cap="flat">
                <a:solidFill>
                  <a:schemeClr val="bg1">
                    <a:lumMod val="75000"/>
                  </a:schemeClr>
                </a:solidFill>
                <a:prstDash val="solid"/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EDFBB53B-B48C-91CA-90AD-30AC95076233}"/>
                </a:ext>
              </a:extLst>
            </p:cNvPr>
            <p:cNvGrpSpPr/>
            <p:nvPr/>
          </p:nvGrpSpPr>
          <p:grpSpPr>
            <a:xfrm>
              <a:off x="3632040" y="5534859"/>
              <a:ext cx="1809799" cy="820141"/>
              <a:chOff x="1739045" y="5533942"/>
              <a:chExt cx="1809799" cy="820141"/>
            </a:xfrm>
          </p:grpSpPr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721BA956-252A-DD07-837C-237E99E1AFCF}"/>
                  </a:ext>
                </a:extLst>
              </p:cNvPr>
              <p:cNvSpPr/>
              <p:nvPr/>
            </p:nvSpPr>
            <p:spPr>
              <a:xfrm>
                <a:off x="1739045" y="5533942"/>
                <a:ext cx="1809799" cy="8201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ctr" latinLnBrk="0"/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C922A3A8-7D9F-D2FB-830C-44ADC6AAC0A0}"/>
                  </a:ext>
                </a:extLst>
              </p:cNvPr>
              <p:cNvSpPr/>
              <p:nvPr/>
            </p:nvSpPr>
            <p:spPr bwMode="gray">
              <a:xfrm>
                <a:off x="2096425" y="5576084"/>
                <a:ext cx="1137326" cy="219094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ctr" latinLnBrk="0"/>
                <a:r>
                  <a:rPr lang="ko-KR" alt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anose="020B0604020202020204" pitchFamily="34" charset="0"/>
                  </a:rPr>
                  <a:t>추적 식별정보 유지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FC9C0995-1CFD-29E7-2FF5-3A1B821E98D3}"/>
                  </a:ext>
                </a:extLst>
              </p:cNvPr>
              <p:cNvSpPr txBox="1"/>
              <p:nvPr/>
            </p:nvSpPr>
            <p:spPr>
              <a:xfrm>
                <a:off x="1870464" y="5899171"/>
                <a:ext cx="1609176" cy="179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marL="88900" indent="-88900" fontAlgn="base" latinLnBrk="0">
                  <a:lnSpc>
                    <a:spcPct val="11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tabLst>
                    <a:tab pos="5648002" algn="l"/>
                  </a:tabLst>
                  <a:defRPr sz="1000" spc="-20">
                    <a:ln>
                      <a:solidFill>
                        <a:srgbClr val="C4266A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KoPub돋움체 Light" panose="00000300000000000000" pitchFamily="2" charset="-127"/>
                    <a:ea typeface="KoPub돋움체 Light" panose="00000300000000000000" pitchFamily="2" charset="-127"/>
                    <a:cs typeface="Arial" panose="020B0604020202020204" pitchFamily="34" charset="0"/>
                  </a:defRPr>
                </a:lvl1pPr>
              </a:lstStyle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거래번호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·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전문번호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·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작업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ID·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변경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ID</a:t>
                </a:r>
              </a:p>
            </p:txBody>
          </p:sp>
          <p:cxnSp>
            <p:nvCxnSpPr>
              <p:cNvPr id="155" name="직선 연결선 154">
                <a:extLst>
                  <a:ext uri="{FF2B5EF4-FFF2-40B4-BE49-F238E27FC236}">
                    <a16:creationId xmlns:a16="http://schemas.microsoft.com/office/drawing/2014/main" id="{20B7D430-47FD-F2AA-6738-FBA53968C181}"/>
                  </a:ext>
                </a:extLst>
              </p:cNvPr>
              <p:cNvCxnSpPr/>
              <p:nvPr/>
            </p:nvCxnSpPr>
            <p:spPr>
              <a:xfrm>
                <a:off x="1826564" y="5828885"/>
                <a:ext cx="1676193" cy="0"/>
              </a:xfrm>
              <a:prstGeom prst="line">
                <a:avLst/>
              </a:prstGeom>
              <a:ln w="3175" cap="flat">
                <a:solidFill>
                  <a:schemeClr val="bg1">
                    <a:lumMod val="75000"/>
                  </a:schemeClr>
                </a:solidFill>
                <a:prstDash val="solid"/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6C1E6965-664F-1BB0-21E4-A6A6EB69775D}"/>
                </a:ext>
              </a:extLst>
            </p:cNvPr>
            <p:cNvGrpSpPr/>
            <p:nvPr/>
          </p:nvGrpSpPr>
          <p:grpSpPr>
            <a:xfrm>
              <a:off x="5539946" y="5529268"/>
              <a:ext cx="1809799" cy="820141"/>
              <a:chOff x="1739045" y="5533942"/>
              <a:chExt cx="1809799" cy="820141"/>
            </a:xfrm>
          </p:grpSpPr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795EF2FE-8CD2-B36E-ACA5-6F352D53C82B}"/>
                  </a:ext>
                </a:extLst>
              </p:cNvPr>
              <p:cNvSpPr/>
              <p:nvPr/>
            </p:nvSpPr>
            <p:spPr>
              <a:xfrm>
                <a:off x="1739045" y="5533942"/>
                <a:ext cx="1809799" cy="8201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ctr" latinLnBrk="0"/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4D19F25E-7512-5953-B03F-076669F8356B}"/>
                  </a:ext>
                </a:extLst>
              </p:cNvPr>
              <p:cNvSpPr/>
              <p:nvPr/>
            </p:nvSpPr>
            <p:spPr bwMode="gray">
              <a:xfrm>
                <a:off x="2096425" y="5576084"/>
                <a:ext cx="1137326" cy="219094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ctr" latinLnBrk="0"/>
                <a:r>
                  <a:rPr lang="ko-KR" alt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anose="020B0604020202020204" pitchFamily="34" charset="0"/>
                  </a:rPr>
                  <a:t>시간정보 정합성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29F2631F-F190-2207-7851-D1F180859A31}"/>
                  </a:ext>
                </a:extLst>
              </p:cNvPr>
              <p:cNvSpPr txBox="1"/>
              <p:nvPr/>
            </p:nvSpPr>
            <p:spPr>
              <a:xfrm>
                <a:off x="1870464" y="5899171"/>
                <a:ext cx="1609176" cy="3585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marL="88900" indent="-88900" fontAlgn="base" latinLnBrk="0">
                  <a:lnSpc>
                    <a:spcPct val="11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tabLst>
                    <a:tab pos="5648002" algn="l"/>
                  </a:tabLst>
                  <a:defRPr sz="1000" spc="-20">
                    <a:ln>
                      <a:solidFill>
                        <a:srgbClr val="C4266A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KoPub돋움체 Light" panose="00000300000000000000" pitchFamily="2" charset="-127"/>
                    <a:ea typeface="KoPub돋움체 Light" panose="00000300000000000000" pitchFamily="2" charset="-127"/>
                    <a:cs typeface="Arial" panose="020B0604020202020204" pitchFamily="34" charset="0"/>
                  </a:defRPr>
                </a:lvl1pPr>
              </a:lstStyle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시간 형식 통일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·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로그 발생 순서 재구성</a:t>
                </a:r>
              </a:p>
            </p:txBody>
          </p:sp>
          <p:cxnSp>
            <p:nvCxnSpPr>
              <p:cNvPr id="160" name="직선 연결선 159">
                <a:extLst>
                  <a:ext uri="{FF2B5EF4-FFF2-40B4-BE49-F238E27FC236}">
                    <a16:creationId xmlns:a16="http://schemas.microsoft.com/office/drawing/2014/main" id="{DCFA55CF-B2BF-9E0F-8519-35876C335F87}"/>
                  </a:ext>
                </a:extLst>
              </p:cNvPr>
              <p:cNvCxnSpPr/>
              <p:nvPr/>
            </p:nvCxnSpPr>
            <p:spPr>
              <a:xfrm>
                <a:off x="1826564" y="5828885"/>
                <a:ext cx="1676193" cy="0"/>
              </a:xfrm>
              <a:prstGeom prst="line">
                <a:avLst/>
              </a:prstGeom>
              <a:ln w="3175" cap="flat">
                <a:solidFill>
                  <a:schemeClr val="bg1">
                    <a:lumMod val="75000"/>
                  </a:schemeClr>
                </a:solidFill>
                <a:prstDash val="solid"/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4385A8F1-FA9C-4994-13C9-D81BD82B226B}"/>
                </a:ext>
              </a:extLst>
            </p:cNvPr>
            <p:cNvGrpSpPr/>
            <p:nvPr/>
          </p:nvGrpSpPr>
          <p:grpSpPr>
            <a:xfrm>
              <a:off x="7432941" y="5525097"/>
              <a:ext cx="1809799" cy="820141"/>
              <a:chOff x="1739045" y="5533942"/>
              <a:chExt cx="1809799" cy="820141"/>
            </a:xfrm>
          </p:grpSpPr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9D83678A-5A79-5A80-F64E-109E342DA328}"/>
                  </a:ext>
                </a:extLst>
              </p:cNvPr>
              <p:cNvSpPr/>
              <p:nvPr/>
            </p:nvSpPr>
            <p:spPr>
              <a:xfrm>
                <a:off x="1739045" y="5533942"/>
                <a:ext cx="1809799" cy="8201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ctr" latinLnBrk="0"/>
                <a:endPara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2C9A1F3D-2AAB-E1C2-503E-82819CAD29D1}"/>
                  </a:ext>
                </a:extLst>
              </p:cNvPr>
              <p:cNvSpPr/>
              <p:nvPr/>
            </p:nvSpPr>
            <p:spPr bwMode="gray">
              <a:xfrm>
                <a:off x="2096425" y="5576084"/>
                <a:ext cx="1137326" cy="219094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spAutoFit/>
                <a:scene3d>
                  <a:camera prst="orthographicFront"/>
                  <a:lightRig rig="threePt" dir="t"/>
                </a:scene3d>
                <a:sp3d/>
              </a:bodyPr>
              <a:lstStyle/>
              <a:p>
                <a:pPr algn="ctr" latinLnBrk="0"/>
                <a:r>
                  <a:rPr lang="ko-KR" alt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anose="020B0604020202020204" pitchFamily="34" charset="0"/>
                  </a:rPr>
                  <a:t>연계 품질 관리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ACB7FAB1-B8B3-9898-EF69-E01DAFC44A85}"/>
                  </a:ext>
                </a:extLst>
              </p:cNvPr>
              <p:cNvSpPr txBox="1"/>
              <p:nvPr/>
            </p:nvSpPr>
            <p:spPr>
              <a:xfrm>
                <a:off x="1870464" y="5899171"/>
                <a:ext cx="1609176" cy="3585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  <a:sp3d/>
              </a:bodyPr>
              <a:lstStyle>
                <a:defPPr>
                  <a:defRPr lang="ko-KR"/>
                </a:defPPr>
                <a:lvl1pPr marL="88900" indent="-88900" fontAlgn="base" latinLnBrk="0">
                  <a:lnSpc>
                    <a:spcPct val="11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tabLst>
                    <a:tab pos="5648002" algn="l"/>
                  </a:tabLst>
                  <a:defRPr sz="1000" spc="-20">
                    <a:ln>
                      <a:solidFill>
                        <a:srgbClr val="C4266A">
                          <a:alpha val="0"/>
                        </a:srgb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KoPub돋움체 Light" panose="00000300000000000000" pitchFamily="2" charset="-127"/>
                    <a:ea typeface="KoPub돋움체 Light" panose="00000300000000000000" pitchFamily="2" charset="-127"/>
                    <a:cs typeface="Arial" panose="020B0604020202020204" pitchFamily="34" charset="0"/>
                  </a:defRPr>
                </a:lvl1pPr>
              </a:lstStyle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지연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·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누락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·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실패 감지</a:t>
                </a:r>
                <a:r>
                  <a:rPr lang="en-US" altLang="ko-KR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·</a:t>
                </a:r>
                <a:r>
                  <a:rPr lang="ko-KR" altLang="en-US" sz="90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연계 정책 이력</a:t>
                </a:r>
              </a:p>
            </p:txBody>
          </p: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4935B3AD-2AC9-26DB-60DF-093AD58E9CF3}"/>
                  </a:ext>
                </a:extLst>
              </p:cNvPr>
              <p:cNvCxnSpPr/>
              <p:nvPr/>
            </p:nvCxnSpPr>
            <p:spPr>
              <a:xfrm>
                <a:off x="1826564" y="5828885"/>
                <a:ext cx="1676193" cy="0"/>
              </a:xfrm>
              <a:prstGeom prst="line">
                <a:avLst/>
              </a:prstGeom>
              <a:ln w="3175" cap="flat">
                <a:solidFill>
                  <a:schemeClr val="bg1">
                    <a:lumMod val="75000"/>
                  </a:schemeClr>
                </a:solidFill>
                <a:prstDash val="solid"/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1097D1E7-6C73-FFA4-9ED5-F4F11F791726}"/>
              </a:ext>
            </a:extLst>
          </p:cNvPr>
          <p:cNvSpPr/>
          <p:nvPr/>
        </p:nvSpPr>
        <p:spPr>
          <a:xfrm>
            <a:off x="408662" y="4295878"/>
            <a:ext cx="2178367" cy="1263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endParaRPr lang="ko-KR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1139F4B4-D64E-14F8-B2D6-704122D46895}"/>
              </a:ext>
            </a:extLst>
          </p:cNvPr>
          <p:cNvSpPr/>
          <p:nvPr/>
        </p:nvSpPr>
        <p:spPr>
          <a:xfrm>
            <a:off x="408662" y="4295878"/>
            <a:ext cx="2178367" cy="25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en-US" altLang="ko-KR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Control-M </a:t>
            </a:r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배치 로그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04E110C-41AC-DE67-643A-044B59D478B9}"/>
              </a:ext>
            </a:extLst>
          </p:cNvPr>
          <p:cNvSpPr txBox="1"/>
          <p:nvPr/>
        </p:nvSpPr>
        <p:spPr>
          <a:xfrm>
            <a:off x="488503" y="4797152"/>
            <a:ext cx="20985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작업명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·ID,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스케줄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시작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종료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성공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실패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지연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처리결과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선후행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 흐름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4D4F715C-8299-E1DB-FFC1-CF4F6D215BBD}"/>
              </a:ext>
            </a:extLst>
          </p:cNvPr>
          <p:cNvSpPr/>
          <p:nvPr/>
        </p:nvSpPr>
        <p:spPr>
          <a:xfrm>
            <a:off x="2712099" y="4295878"/>
            <a:ext cx="2178367" cy="1263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endParaRPr lang="ko-KR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5AD15214-66F5-0864-10D3-C8EE29C53FE7}"/>
              </a:ext>
            </a:extLst>
          </p:cNvPr>
          <p:cNvSpPr/>
          <p:nvPr/>
        </p:nvSpPr>
        <p:spPr>
          <a:xfrm>
            <a:off x="2712099" y="4295878"/>
            <a:ext cx="2178367" cy="25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온라인 거래 </a:t>
            </a:r>
            <a:r>
              <a:rPr lang="en-US" altLang="ko-KR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E2E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765DD93-D8AA-CE17-C6FF-930EA248EC72}"/>
              </a:ext>
            </a:extLst>
          </p:cNvPr>
          <p:cNvSpPr txBox="1"/>
          <p:nvPr/>
        </p:nvSpPr>
        <p:spPr>
          <a:xfrm>
            <a:off x="2791940" y="4774939"/>
            <a:ext cx="20985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거래 식별정보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인터페이스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외부기관 상태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건수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처리시간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·TPS,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오류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코어덤프</a:t>
            </a: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A87A17F0-CB4C-D01E-834C-89A8C8C81D79}"/>
              </a:ext>
            </a:extLst>
          </p:cNvPr>
          <p:cNvSpPr/>
          <p:nvPr/>
        </p:nvSpPr>
        <p:spPr>
          <a:xfrm>
            <a:off x="5015536" y="4295878"/>
            <a:ext cx="2178367" cy="1263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endParaRPr lang="ko-KR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2E57148F-90F8-5825-A7F9-BDE25B3F107A}"/>
              </a:ext>
            </a:extLst>
          </p:cNvPr>
          <p:cNvSpPr/>
          <p:nvPr/>
        </p:nvSpPr>
        <p:spPr>
          <a:xfrm>
            <a:off x="5015536" y="4295878"/>
            <a:ext cx="2178367" cy="25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 err="1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계정계</a:t>
            </a:r>
            <a:r>
              <a:rPr lang="en-US" altLang="ko-KR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채널</a:t>
            </a:r>
            <a:r>
              <a:rPr lang="en-US" altLang="ko-KR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인터페이스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2E7FDA7-AE7F-7359-4FA0-F09684CAE494}"/>
              </a:ext>
            </a:extLst>
          </p:cNvPr>
          <p:cNvSpPr txBox="1"/>
          <p:nvPr/>
        </p:nvSpPr>
        <p:spPr>
          <a:xfrm>
            <a:off x="5095377" y="4791083"/>
            <a:ext cx="20985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계정계 장애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에러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채널 오류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거래량 추세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단계별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센터컷 상태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이상징후</a:t>
            </a: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85431A1B-4786-37DB-2B30-42F2B45920EA}"/>
              </a:ext>
            </a:extLst>
          </p:cNvPr>
          <p:cNvSpPr/>
          <p:nvPr/>
        </p:nvSpPr>
        <p:spPr>
          <a:xfrm>
            <a:off x="7318973" y="4295878"/>
            <a:ext cx="2178367" cy="1263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endParaRPr lang="ko-KR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A7FC5351-BA13-A286-ACCF-728F136ACFD0}"/>
              </a:ext>
            </a:extLst>
          </p:cNvPr>
          <p:cNvSpPr/>
          <p:nvPr/>
        </p:nvSpPr>
        <p:spPr>
          <a:xfrm>
            <a:off x="7318973" y="4295878"/>
            <a:ext cx="2178367" cy="25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형상관리</a:t>
            </a:r>
            <a:r>
              <a:rPr lang="en-US" altLang="ko-KR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200" dirty="0" err="1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영향도분석</a:t>
            </a:r>
            <a:endParaRPr lang="ko-KR" altLang="en-US" sz="1200" dirty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D0C2C77-B7B1-1391-205E-DA7F9BEFB28E}"/>
              </a:ext>
            </a:extLst>
          </p:cNvPr>
          <p:cNvSpPr txBox="1"/>
          <p:nvPr/>
        </p:nvSpPr>
        <p:spPr>
          <a:xfrm>
            <a:off x="7361298" y="4774939"/>
            <a:ext cx="20985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변경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배포 이력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중요작업 진행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점검사항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지연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미처리 업무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영향 범위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17DE5B18-1F2F-A0E9-A736-856414A5B3AF}"/>
              </a:ext>
            </a:extLst>
          </p:cNvPr>
          <p:cNvSpPr/>
          <p:nvPr/>
        </p:nvSpPr>
        <p:spPr bwMode="gray">
          <a:xfrm>
            <a:off x="488503" y="4591887"/>
            <a:ext cx="1466150" cy="16927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latinLnBrk="0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수집정보 및 활용목적</a:t>
            </a: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6ECCBD62-6546-DDBD-6508-14A43BDA050D}"/>
              </a:ext>
            </a:extLst>
          </p:cNvPr>
          <p:cNvSpPr/>
          <p:nvPr/>
        </p:nvSpPr>
        <p:spPr bwMode="gray">
          <a:xfrm>
            <a:off x="2792760" y="4591887"/>
            <a:ext cx="1466150" cy="16927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latinLnBrk="0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수집정보 및 활용목적</a:t>
            </a: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FF3CB804-BB7E-FCED-1B82-DA422B39F000}"/>
              </a:ext>
            </a:extLst>
          </p:cNvPr>
          <p:cNvSpPr/>
          <p:nvPr/>
        </p:nvSpPr>
        <p:spPr bwMode="gray">
          <a:xfrm>
            <a:off x="5071026" y="4591887"/>
            <a:ext cx="1466150" cy="16927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latinLnBrk="0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수집정보 및 활용목적</a:t>
            </a: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497CCB0A-BEF6-A201-40D9-61C969C51017}"/>
              </a:ext>
            </a:extLst>
          </p:cNvPr>
          <p:cNvSpPr/>
          <p:nvPr/>
        </p:nvSpPr>
        <p:spPr bwMode="gray">
          <a:xfrm>
            <a:off x="7401272" y="4591887"/>
            <a:ext cx="1466150" cy="16927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latinLnBrk="0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수집정보 및 활용목적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1E4863D-F593-CB58-759A-E7DF662BC47B}"/>
              </a:ext>
            </a:extLst>
          </p:cNvPr>
          <p:cNvSpPr txBox="1"/>
          <p:nvPr/>
        </p:nvSpPr>
        <p:spPr>
          <a:xfrm>
            <a:off x="490700" y="5168525"/>
            <a:ext cx="20985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배치 진행현황 확인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실패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지연 식별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마감 운영점검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AE070D8C-B3E0-D92B-1AB8-23EF9B13C5F4}"/>
              </a:ext>
            </a:extLst>
          </p:cNvPr>
          <p:cNvSpPr txBox="1"/>
          <p:nvPr/>
        </p:nvSpPr>
        <p:spPr>
          <a:xfrm>
            <a:off x="2790227" y="5245459"/>
            <a:ext cx="20985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거래 흐름 추적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지연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오류 구간 확인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외부 영향 분석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DE37514-21E1-910B-C2F8-C1E79731B1D7}"/>
              </a:ext>
            </a:extLst>
          </p:cNvPr>
          <p:cNvSpPr txBox="1"/>
          <p:nvPr/>
        </p:nvSpPr>
        <p:spPr>
          <a:xfrm>
            <a:off x="5095378" y="5137447"/>
            <a:ext cx="20985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핵심 업무 운영상태 확인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이상징후 감지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장애 영향 확인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3F5847C5-6674-5783-27BF-C374B3851AE9}"/>
              </a:ext>
            </a:extLst>
          </p:cNvPr>
          <p:cNvSpPr txBox="1"/>
          <p:nvPr/>
        </p:nvSpPr>
        <p:spPr>
          <a:xfrm>
            <a:off x="7361298" y="5121303"/>
            <a:ext cx="20985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/>
          </a:bodyPr>
          <a:lstStyle>
            <a:defPPr>
              <a:defRPr lang="ko-KR"/>
            </a:defPPr>
            <a:lvl1pPr marL="88900" indent="-88900" fontAlgn="base" latinLnBrk="0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5648002" algn="l"/>
              </a:tabLst>
              <a:defRPr sz="1000" spc="-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변경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배포 연계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영향 범위 확인 </a:t>
            </a:r>
            <a:r>
              <a:rPr lang="en-US" altLang="ko-KR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· </a:t>
            </a:r>
            <a:r>
              <a:rPr lang="ko-KR" altLang="en-US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중요작업 관리</a:t>
            </a:r>
          </a:p>
        </p:txBody>
      </p:sp>
    </p:spTree>
    <p:extLst>
      <p:ext uri="{BB962C8B-B14F-4D97-AF65-F5344CB8AC3E}">
        <p14:creationId xmlns:p14="http://schemas.microsoft.com/office/powerpoint/2010/main" val="1105000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105">
            <a:extLst>
              <a:ext uri="{FF2B5EF4-FFF2-40B4-BE49-F238E27FC236}">
                <a16:creationId xmlns:a16="http://schemas.microsoft.com/office/drawing/2014/main" id="{D62DBBF5-AED3-27C3-77E2-91C49BBA1A35}"/>
              </a:ext>
            </a:extLst>
          </p:cNvPr>
          <p:cNvSpPr/>
          <p:nvPr/>
        </p:nvSpPr>
        <p:spPr>
          <a:xfrm>
            <a:off x="6825209" y="1844751"/>
            <a:ext cx="266374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>
            <a:off x="415199" y="383253"/>
            <a:ext cx="4481035" cy="419085"/>
            <a:chOff x="415199" y="383253"/>
            <a:chExt cx="4481035" cy="419085"/>
          </a:xfrm>
        </p:grpSpPr>
        <p:sp>
          <p:nvSpPr>
            <p:cNvPr id="135" name="Rectangle 4"/>
            <p:cNvSpPr>
              <a:spLocks noChangeArrowheads="1"/>
            </p:cNvSpPr>
            <p:nvPr/>
          </p:nvSpPr>
          <p:spPr bwMode="auto">
            <a:xfrm>
              <a:off x="415199" y="383253"/>
              <a:ext cx="448103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D4E5F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BBD6F3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marL="217475" lvl="0" indent="-217475" defTabSz="957689" fontAlgn="t" latinLnBrk="0">
                <a:spcAft>
                  <a:spcPts val="200"/>
                </a:spcAft>
              </a:pP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3.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상세 구축방안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&gt; 3.1 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기능  요구사항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 IT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운영관리 </a:t>
              </a:r>
              <a:r>
                <a:rPr lang="en-US" altLang="ko-KR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&gt; 3.1.7.1 </a:t>
              </a:r>
              <a:r>
                <a:rPr lang="ko-KR" altLang="en-US" sz="900" spc="-30" dirty="0" err="1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통합로그</a:t>
              </a:r>
              <a:r>
                <a:rPr lang="ko-KR" altLang="en-US" sz="900" spc="-30" dirty="0">
                  <a:solidFill>
                    <a:schemeClr val="bg1">
                      <a:lumMod val="50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기반 모니터링 환경 구축</a:t>
              </a:r>
              <a:endParaRPr lang="en-US" altLang="ko-KR" sz="900" spc="-30" dirty="0">
                <a:solidFill>
                  <a:schemeClr val="bg1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6" name="Rectangle 4"/>
            <p:cNvSpPr>
              <a:spLocks noChangeArrowheads="1"/>
            </p:cNvSpPr>
            <p:nvPr/>
          </p:nvSpPr>
          <p:spPr bwMode="auto">
            <a:xfrm>
              <a:off x="415199" y="556117"/>
              <a:ext cx="2457917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lvl1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1pPr>
              <a:lvl2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fontAlgn="base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fontAlgn="t" latinLnBrk="0"/>
              <a:r>
                <a:rPr lang="en-US" altLang="ko-KR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3.1.7.1.7 </a:t>
              </a:r>
              <a:r>
                <a:rPr lang="ko-KR" altLang="en-US" sz="1600" spc="-3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로그 분석 및 시각화</a:t>
              </a:r>
              <a:endParaRPr lang="en-US" altLang="ko-KR" sz="1600" spc="-3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415199" y="931585"/>
            <a:ext cx="6213262" cy="393793"/>
            <a:chOff x="415199" y="959742"/>
            <a:chExt cx="6213262" cy="393793"/>
          </a:xfrm>
        </p:grpSpPr>
        <p:grpSp>
          <p:nvGrpSpPr>
            <p:cNvPr id="79" name="그룹 78"/>
            <p:cNvGrpSpPr/>
            <p:nvPr/>
          </p:nvGrpSpPr>
          <p:grpSpPr>
            <a:xfrm>
              <a:off x="415199" y="959742"/>
              <a:ext cx="6213262" cy="184666"/>
              <a:chOff x="415199" y="959742"/>
              <a:chExt cx="6213262" cy="184666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415199" y="994131"/>
                <a:ext cx="120786" cy="115888"/>
                <a:chOff x="477838" y="1011238"/>
                <a:chExt cx="117476" cy="11271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87" name="Freeform 10"/>
                <p:cNvSpPr>
                  <a:spLocks/>
                </p:cNvSpPr>
                <p:nvPr/>
              </p:nvSpPr>
              <p:spPr bwMode="auto">
                <a:xfrm>
                  <a:off x="498476" y="1022350"/>
                  <a:ext cx="96838" cy="71437"/>
                </a:xfrm>
                <a:custGeom>
                  <a:avLst/>
                  <a:gdLst>
                    <a:gd name="T0" fmla="*/ 22 w 61"/>
                    <a:gd name="T1" fmla="*/ 45 h 45"/>
                    <a:gd name="T2" fmla="*/ 0 w 61"/>
                    <a:gd name="T3" fmla="*/ 23 h 45"/>
                    <a:gd name="T4" fmla="*/ 7 w 61"/>
                    <a:gd name="T5" fmla="*/ 17 h 45"/>
                    <a:gd name="T6" fmla="*/ 22 w 61"/>
                    <a:gd name="T7" fmla="*/ 32 h 45"/>
                    <a:gd name="T8" fmla="*/ 54 w 61"/>
                    <a:gd name="T9" fmla="*/ 0 h 45"/>
                    <a:gd name="T10" fmla="*/ 61 w 61"/>
                    <a:gd name="T11" fmla="*/ 7 h 45"/>
                    <a:gd name="T12" fmla="*/ 22 w 61"/>
                    <a:gd name="T13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1" h="45">
                      <a:moveTo>
                        <a:pt x="22" y="45"/>
                      </a:moveTo>
                      <a:lnTo>
                        <a:pt x="0" y="23"/>
                      </a:lnTo>
                      <a:lnTo>
                        <a:pt x="7" y="17"/>
                      </a:lnTo>
                      <a:lnTo>
                        <a:pt x="22" y="32"/>
                      </a:lnTo>
                      <a:lnTo>
                        <a:pt x="54" y="0"/>
                      </a:lnTo>
                      <a:lnTo>
                        <a:pt x="61" y="7"/>
                      </a:lnTo>
                      <a:lnTo>
                        <a:pt x="22" y="4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8" name="Freeform 11"/>
                <p:cNvSpPr>
                  <a:spLocks/>
                </p:cNvSpPr>
                <p:nvPr/>
              </p:nvSpPr>
              <p:spPr bwMode="auto">
                <a:xfrm>
                  <a:off x="477838" y="1011238"/>
                  <a:ext cx="112713" cy="112712"/>
                </a:xfrm>
                <a:custGeom>
                  <a:avLst/>
                  <a:gdLst>
                    <a:gd name="T0" fmla="*/ 926 w 1040"/>
                    <a:gd name="T1" fmla="*/ 500 h 1041"/>
                    <a:gd name="T2" fmla="*/ 927 w 1040"/>
                    <a:gd name="T3" fmla="*/ 521 h 1041"/>
                    <a:gd name="T4" fmla="*/ 520 w 1040"/>
                    <a:gd name="T5" fmla="*/ 928 h 1041"/>
                    <a:gd name="T6" fmla="*/ 113 w 1040"/>
                    <a:gd name="T7" fmla="*/ 521 h 1041"/>
                    <a:gd name="T8" fmla="*/ 520 w 1040"/>
                    <a:gd name="T9" fmla="*/ 114 h 1041"/>
                    <a:gd name="T10" fmla="*/ 747 w 1040"/>
                    <a:gd name="T11" fmla="*/ 183 h 1041"/>
                    <a:gd name="T12" fmla="*/ 830 w 1040"/>
                    <a:gd name="T13" fmla="*/ 103 h 1041"/>
                    <a:gd name="T14" fmla="*/ 520 w 1040"/>
                    <a:gd name="T15" fmla="*/ 1 h 1041"/>
                    <a:gd name="T16" fmla="*/ 0 w 1040"/>
                    <a:gd name="T17" fmla="*/ 521 h 1041"/>
                    <a:gd name="T18" fmla="*/ 520 w 1040"/>
                    <a:gd name="T19" fmla="*/ 1041 h 1041"/>
                    <a:gd name="T20" fmla="*/ 1040 w 1040"/>
                    <a:gd name="T21" fmla="*/ 520 h 1041"/>
                    <a:gd name="T22" fmla="*/ 1027 w 1040"/>
                    <a:gd name="T23" fmla="*/ 403 h 1041"/>
                    <a:gd name="T24" fmla="*/ 926 w 1040"/>
                    <a:gd name="T25" fmla="*/ 500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40" h="1041">
                      <a:moveTo>
                        <a:pt x="926" y="500"/>
                      </a:moveTo>
                      <a:cubicBezTo>
                        <a:pt x="927" y="506"/>
                        <a:pt x="927" y="513"/>
                        <a:pt x="927" y="521"/>
                      </a:cubicBezTo>
                      <a:cubicBezTo>
                        <a:pt x="927" y="745"/>
                        <a:pt x="745" y="927"/>
                        <a:pt x="520" y="928"/>
                      </a:cubicBezTo>
                      <a:cubicBezTo>
                        <a:pt x="295" y="928"/>
                        <a:pt x="113" y="746"/>
                        <a:pt x="113" y="521"/>
                      </a:cubicBezTo>
                      <a:cubicBezTo>
                        <a:pt x="113" y="296"/>
                        <a:pt x="295" y="114"/>
                        <a:pt x="520" y="114"/>
                      </a:cubicBezTo>
                      <a:cubicBezTo>
                        <a:pt x="604" y="114"/>
                        <a:pt x="682" y="139"/>
                        <a:pt x="747" y="183"/>
                      </a:cubicBezTo>
                      <a:cubicBezTo>
                        <a:pt x="830" y="103"/>
                        <a:pt x="830" y="103"/>
                        <a:pt x="830" y="103"/>
                      </a:cubicBezTo>
                      <a:cubicBezTo>
                        <a:pt x="743" y="39"/>
                        <a:pt x="636" y="0"/>
                        <a:pt x="520" y="1"/>
                      </a:cubicBezTo>
                      <a:cubicBezTo>
                        <a:pt x="233" y="1"/>
                        <a:pt x="0" y="234"/>
                        <a:pt x="0" y="521"/>
                      </a:cubicBezTo>
                      <a:cubicBezTo>
                        <a:pt x="0" y="808"/>
                        <a:pt x="233" y="1041"/>
                        <a:pt x="520" y="1041"/>
                      </a:cubicBezTo>
                      <a:cubicBezTo>
                        <a:pt x="807" y="1041"/>
                        <a:pt x="1040" y="808"/>
                        <a:pt x="1040" y="520"/>
                      </a:cubicBezTo>
                      <a:cubicBezTo>
                        <a:pt x="1040" y="480"/>
                        <a:pt x="1036" y="441"/>
                        <a:pt x="1027" y="403"/>
                      </a:cubicBezTo>
                      <a:lnTo>
                        <a:pt x="926" y="50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6" name="TextBox 9"/>
              <p:cNvSpPr txBox="1"/>
              <p:nvPr/>
            </p:nvSpPr>
            <p:spPr>
              <a:xfrm>
                <a:off x="577124" y="959742"/>
                <a:ext cx="605133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21" latinLnBrk="0"/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업무 중요도와 운영 스케줄을 반영한 모니터링 정책으로 로그 스트림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·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이상 이벤트를 실시간 분석합니다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. </a:t>
                </a:r>
              </a:p>
            </p:txBody>
          </p:sp>
        </p:grpSp>
        <p:grpSp>
          <p:nvGrpSpPr>
            <p:cNvPr id="80" name="그룹 79"/>
            <p:cNvGrpSpPr/>
            <p:nvPr/>
          </p:nvGrpSpPr>
          <p:grpSpPr>
            <a:xfrm>
              <a:off x="415199" y="1168869"/>
              <a:ext cx="5200164" cy="184666"/>
              <a:chOff x="415199" y="1168869"/>
              <a:chExt cx="5200164" cy="184666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415199" y="1203258"/>
                <a:ext cx="120786" cy="115888"/>
                <a:chOff x="477838" y="1011238"/>
                <a:chExt cx="117476" cy="112712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83" name="Freeform 10"/>
                <p:cNvSpPr>
                  <a:spLocks/>
                </p:cNvSpPr>
                <p:nvPr/>
              </p:nvSpPr>
              <p:spPr bwMode="auto">
                <a:xfrm>
                  <a:off x="498476" y="1022350"/>
                  <a:ext cx="96838" cy="71437"/>
                </a:xfrm>
                <a:custGeom>
                  <a:avLst/>
                  <a:gdLst>
                    <a:gd name="T0" fmla="*/ 22 w 61"/>
                    <a:gd name="T1" fmla="*/ 45 h 45"/>
                    <a:gd name="T2" fmla="*/ 0 w 61"/>
                    <a:gd name="T3" fmla="*/ 23 h 45"/>
                    <a:gd name="T4" fmla="*/ 7 w 61"/>
                    <a:gd name="T5" fmla="*/ 17 h 45"/>
                    <a:gd name="T6" fmla="*/ 22 w 61"/>
                    <a:gd name="T7" fmla="*/ 32 h 45"/>
                    <a:gd name="T8" fmla="*/ 54 w 61"/>
                    <a:gd name="T9" fmla="*/ 0 h 45"/>
                    <a:gd name="T10" fmla="*/ 61 w 61"/>
                    <a:gd name="T11" fmla="*/ 7 h 45"/>
                    <a:gd name="T12" fmla="*/ 22 w 61"/>
                    <a:gd name="T13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1" h="45">
                      <a:moveTo>
                        <a:pt x="22" y="45"/>
                      </a:moveTo>
                      <a:lnTo>
                        <a:pt x="0" y="23"/>
                      </a:lnTo>
                      <a:lnTo>
                        <a:pt x="7" y="17"/>
                      </a:lnTo>
                      <a:lnTo>
                        <a:pt x="22" y="32"/>
                      </a:lnTo>
                      <a:lnTo>
                        <a:pt x="54" y="0"/>
                      </a:lnTo>
                      <a:lnTo>
                        <a:pt x="61" y="7"/>
                      </a:lnTo>
                      <a:lnTo>
                        <a:pt x="22" y="4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4" name="Freeform 11"/>
                <p:cNvSpPr>
                  <a:spLocks/>
                </p:cNvSpPr>
                <p:nvPr/>
              </p:nvSpPr>
              <p:spPr bwMode="auto">
                <a:xfrm>
                  <a:off x="477838" y="1011238"/>
                  <a:ext cx="112713" cy="112712"/>
                </a:xfrm>
                <a:custGeom>
                  <a:avLst/>
                  <a:gdLst>
                    <a:gd name="T0" fmla="*/ 926 w 1040"/>
                    <a:gd name="T1" fmla="*/ 500 h 1041"/>
                    <a:gd name="T2" fmla="*/ 927 w 1040"/>
                    <a:gd name="T3" fmla="*/ 521 h 1041"/>
                    <a:gd name="T4" fmla="*/ 520 w 1040"/>
                    <a:gd name="T5" fmla="*/ 928 h 1041"/>
                    <a:gd name="T6" fmla="*/ 113 w 1040"/>
                    <a:gd name="T7" fmla="*/ 521 h 1041"/>
                    <a:gd name="T8" fmla="*/ 520 w 1040"/>
                    <a:gd name="T9" fmla="*/ 114 h 1041"/>
                    <a:gd name="T10" fmla="*/ 747 w 1040"/>
                    <a:gd name="T11" fmla="*/ 183 h 1041"/>
                    <a:gd name="T12" fmla="*/ 830 w 1040"/>
                    <a:gd name="T13" fmla="*/ 103 h 1041"/>
                    <a:gd name="T14" fmla="*/ 520 w 1040"/>
                    <a:gd name="T15" fmla="*/ 1 h 1041"/>
                    <a:gd name="T16" fmla="*/ 0 w 1040"/>
                    <a:gd name="T17" fmla="*/ 521 h 1041"/>
                    <a:gd name="T18" fmla="*/ 520 w 1040"/>
                    <a:gd name="T19" fmla="*/ 1041 h 1041"/>
                    <a:gd name="T20" fmla="*/ 1040 w 1040"/>
                    <a:gd name="T21" fmla="*/ 520 h 1041"/>
                    <a:gd name="T22" fmla="*/ 1027 w 1040"/>
                    <a:gd name="T23" fmla="*/ 403 h 1041"/>
                    <a:gd name="T24" fmla="*/ 926 w 1040"/>
                    <a:gd name="T25" fmla="*/ 500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40" h="1041">
                      <a:moveTo>
                        <a:pt x="926" y="500"/>
                      </a:moveTo>
                      <a:cubicBezTo>
                        <a:pt x="927" y="506"/>
                        <a:pt x="927" y="513"/>
                        <a:pt x="927" y="521"/>
                      </a:cubicBezTo>
                      <a:cubicBezTo>
                        <a:pt x="927" y="745"/>
                        <a:pt x="745" y="927"/>
                        <a:pt x="520" y="928"/>
                      </a:cubicBezTo>
                      <a:cubicBezTo>
                        <a:pt x="295" y="928"/>
                        <a:pt x="113" y="746"/>
                        <a:pt x="113" y="521"/>
                      </a:cubicBezTo>
                      <a:cubicBezTo>
                        <a:pt x="113" y="296"/>
                        <a:pt x="295" y="114"/>
                        <a:pt x="520" y="114"/>
                      </a:cubicBezTo>
                      <a:cubicBezTo>
                        <a:pt x="604" y="114"/>
                        <a:pt x="682" y="139"/>
                        <a:pt x="747" y="183"/>
                      </a:cubicBezTo>
                      <a:cubicBezTo>
                        <a:pt x="830" y="103"/>
                        <a:pt x="830" y="103"/>
                        <a:pt x="830" y="103"/>
                      </a:cubicBezTo>
                      <a:cubicBezTo>
                        <a:pt x="743" y="39"/>
                        <a:pt x="636" y="0"/>
                        <a:pt x="520" y="1"/>
                      </a:cubicBezTo>
                      <a:cubicBezTo>
                        <a:pt x="233" y="1"/>
                        <a:pt x="0" y="234"/>
                        <a:pt x="0" y="521"/>
                      </a:cubicBezTo>
                      <a:cubicBezTo>
                        <a:pt x="0" y="808"/>
                        <a:pt x="233" y="1041"/>
                        <a:pt x="520" y="1041"/>
                      </a:cubicBezTo>
                      <a:cubicBezTo>
                        <a:pt x="807" y="1041"/>
                        <a:pt x="1040" y="808"/>
                        <a:pt x="1040" y="520"/>
                      </a:cubicBezTo>
                      <a:cubicBezTo>
                        <a:pt x="1040" y="480"/>
                        <a:pt x="1036" y="441"/>
                        <a:pt x="1027" y="403"/>
                      </a:cubicBezTo>
                      <a:lnTo>
                        <a:pt x="926" y="50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latinLnBrk="0"/>
                  <a:endParaRPr lang="ko-KR" alt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2" name="TextBox 9"/>
              <p:cNvSpPr txBox="1"/>
              <p:nvPr/>
            </p:nvSpPr>
            <p:spPr>
              <a:xfrm>
                <a:off x="577124" y="1168869"/>
                <a:ext cx="503823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21" latinLnBrk="0"/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서비스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·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시스템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·</a:t>
                </a:r>
                <a:r>
                  <a:rPr lang="ko-KR" altLang="en-US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부서별 대시보드를 통해 운영상태와 장애 원인을 신속하게 파악합니다</a:t>
                </a:r>
                <a:r>
                  <a:rPr lang="en-US" altLang="ko-KR" sz="1200" spc="-30" dirty="0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.</a:t>
                </a:r>
              </a:p>
            </p:txBody>
          </p:sp>
        </p:grpSp>
      </p:grpSp>
      <p:grpSp>
        <p:nvGrpSpPr>
          <p:cNvPr id="89" name="그룹 88"/>
          <p:cNvGrpSpPr/>
          <p:nvPr/>
        </p:nvGrpSpPr>
        <p:grpSpPr>
          <a:xfrm>
            <a:off x="8005397" y="1261597"/>
            <a:ext cx="1485589" cy="187106"/>
            <a:chOff x="4899641" y="1714485"/>
            <a:chExt cx="1621709" cy="187106"/>
          </a:xfrm>
        </p:grpSpPr>
        <p:grpSp>
          <p:nvGrpSpPr>
            <p:cNvPr id="90" name="그룹 89"/>
            <p:cNvGrpSpPr/>
            <p:nvPr/>
          </p:nvGrpSpPr>
          <p:grpSpPr>
            <a:xfrm>
              <a:off x="4903555" y="1714485"/>
              <a:ext cx="1617795" cy="187106"/>
              <a:chOff x="4586156" y="1714485"/>
              <a:chExt cx="1617795" cy="187106"/>
            </a:xfrm>
          </p:grpSpPr>
          <p:sp>
            <p:nvSpPr>
              <p:cNvPr id="92" name="직사각형 91"/>
              <p:cNvSpPr/>
              <p:nvPr/>
            </p:nvSpPr>
            <p:spPr bwMode="gray">
              <a:xfrm>
                <a:off x="4586156" y="1714485"/>
                <a:ext cx="806183" cy="1871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ko-KR" alt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요구사항 번호</a:t>
                </a:r>
              </a:p>
            </p:txBody>
          </p:sp>
          <p:sp>
            <p:nvSpPr>
              <p:cNvPr id="93" name="직사각형 92"/>
              <p:cNvSpPr/>
              <p:nvPr/>
            </p:nvSpPr>
            <p:spPr bwMode="gray">
              <a:xfrm>
                <a:off x="5392339" y="1714485"/>
                <a:ext cx="811612" cy="187106"/>
              </a:xfrm>
              <a:prstGeom prst="rect">
                <a:avLst/>
              </a:prstGeom>
              <a:solidFill>
                <a:srgbClr val="F5F5F6"/>
              </a:solidFill>
              <a:ln>
                <a:noFill/>
              </a:ln>
            </p:spPr>
            <p:txBody>
              <a:bodyPr wrap="none" lIns="0" tIns="0" rIns="0" bIns="0" anchor="ctr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algn="ctr" defTabSz="444474" fontAlgn="base" latinLnBrk="0">
                  <a:spcBef>
                    <a:spcPts val="100"/>
                  </a:spcBef>
                  <a:tabLst>
                    <a:tab pos="5648002" algn="l"/>
                  </a:tabLst>
                </a:pP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SFR-IT-01</a:t>
                </a:r>
              </a:p>
            </p:txBody>
          </p:sp>
        </p:grpSp>
        <p:sp>
          <p:nvSpPr>
            <p:cNvPr id="91" name="자유형 90"/>
            <p:cNvSpPr/>
            <p:nvPr/>
          </p:nvSpPr>
          <p:spPr>
            <a:xfrm rot="10800000" flipV="1">
              <a:off x="4899641" y="1714485"/>
              <a:ext cx="1621708" cy="187105"/>
            </a:xfrm>
            <a:custGeom>
              <a:avLst/>
              <a:gdLst>
                <a:gd name="connsiteX0" fmla="*/ 0 w 2557462"/>
                <a:gd name="connsiteY0" fmla="*/ 320675 h 320675"/>
                <a:gd name="connsiteX1" fmla="*/ 0 w 2557462"/>
                <a:gd name="connsiteY1" fmla="*/ 0 h 320675"/>
                <a:gd name="connsiteX2" fmla="*/ 2557462 w 2557462"/>
                <a:gd name="connsiteY2" fmla="*/ 0 h 320675"/>
                <a:gd name="connsiteX3" fmla="*/ 2557462 w 2557462"/>
                <a:gd name="connsiteY3" fmla="*/ 320675 h 32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7462" h="320675">
                  <a:moveTo>
                    <a:pt x="0" y="320675"/>
                  </a:moveTo>
                  <a:lnTo>
                    <a:pt x="0" y="0"/>
                  </a:lnTo>
                  <a:lnTo>
                    <a:pt x="2557462" y="0"/>
                  </a:lnTo>
                  <a:lnTo>
                    <a:pt x="2557462" y="320675"/>
                  </a:lnTo>
                </a:path>
              </a:pathLst>
            </a:custGeom>
            <a:noFill/>
            <a:ln w="9525" cap="flat">
              <a:solidFill>
                <a:srgbClr val="C5C8CD"/>
              </a:solidFill>
              <a:prstDash val="solid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 dirty="0">
                <a:solidFill>
                  <a:prstClr val="black"/>
                </a:solidFill>
                <a:latin typeface="Calibri" panose="020F0502020204030204"/>
                <a:ea typeface="페이퍼로지 4 Regular" pitchFamily="2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11DA44C-8A08-DA42-DB32-7B145D46D851}"/>
              </a:ext>
            </a:extLst>
          </p:cNvPr>
          <p:cNvGrpSpPr/>
          <p:nvPr/>
        </p:nvGrpSpPr>
        <p:grpSpPr>
          <a:xfrm>
            <a:off x="402167" y="1754840"/>
            <a:ext cx="6300148" cy="1818175"/>
            <a:chOff x="402167" y="1754840"/>
            <a:chExt cx="8783532" cy="18181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8A62BD7-BF76-F76C-5A8B-5A636F635667}"/>
                </a:ext>
              </a:extLst>
            </p:cNvPr>
            <p:cNvSpPr/>
            <p:nvPr/>
          </p:nvSpPr>
          <p:spPr>
            <a:xfrm>
              <a:off x="402167" y="1988841"/>
              <a:ext cx="4391999" cy="1584174"/>
            </a:xfrm>
            <a:prstGeom prst="rect">
              <a:avLst/>
            </a:prstGeom>
            <a:solidFill>
              <a:srgbClr val="EFF4FF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6A9A9DBB-F558-8DE2-DAD3-D6DAD0AACCE4}"/>
                </a:ext>
              </a:extLst>
            </p:cNvPr>
            <p:cNvCxnSpPr/>
            <p:nvPr/>
          </p:nvCxnSpPr>
          <p:spPr>
            <a:xfrm>
              <a:off x="402636" y="1754840"/>
              <a:ext cx="4391063" cy="0"/>
            </a:xfrm>
            <a:prstGeom prst="line">
              <a:avLst/>
            </a:prstGeom>
            <a:ln w="9525">
              <a:solidFill>
                <a:srgbClr val="02095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3C11683-3E4F-1EAE-2FE0-83A3A3621F8A}"/>
                </a:ext>
              </a:extLst>
            </p:cNvPr>
            <p:cNvSpPr/>
            <p:nvPr/>
          </p:nvSpPr>
          <p:spPr>
            <a:xfrm>
              <a:off x="4793700" y="1988841"/>
              <a:ext cx="4391999" cy="1584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</a:sp3d>
            </a:bodyPr>
            <a:lstStyle/>
            <a:p>
              <a:pPr algn="ctr" latinLnBrk="0"/>
              <a:endParaRPr lang="ko-KR" altLang="en-US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4D8CD8A6-CA69-5F94-D7D6-4C54E9E8D2A1}"/>
                </a:ext>
              </a:extLst>
            </p:cNvPr>
            <p:cNvCxnSpPr/>
            <p:nvPr/>
          </p:nvCxnSpPr>
          <p:spPr>
            <a:xfrm>
              <a:off x="4794168" y="1754840"/>
              <a:ext cx="4391063" cy="0"/>
            </a:xfrm>
            <a:prstGeom prst="line">
              <a:avLst/>
            </a:prstGeom>
            <a:ln w="9525">
              <a:solidFill>
                <a:srgbClr val="7F7F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F533B1F6-42EF-7EC1-D4F9-5B9876DE4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209" y="3933032"/>
            <a:ext cx="2663744" cy="143935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11DFA8-750D-7F55-3388-F1B16A00071F}"/>
              </a:ext>
            </a:extLst>
          </p:cNvPr>
          <p:cNvSpPr/>
          <p:nvPr/>
        </p:nvSpPr>
        <p:spPr bwMode="gray">
          <a:xfrm>
            <a:off x="6825208" y="3717032"/>
            <a:ext cx="2663743" cy="216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wrap="none" lIns="0" tIns="0" rIns="0" bIns="0" anchor="ctr">
            <a:no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1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사용자 친화 로그 모니터링 </a:t>
            </a:r>
            <a:r>
              <a:rPr lang="en-US" altLang="ko-KR" sz="11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예시</a:t>
            </a:r>
            <a:r>
              <a:rPr lang="en-US" altLang="ko-KR" sz="11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D460D2-D936-86D7-B0B4-DB17F9408FDA}"/>
              </a:ext>
            </a:extLst>
          </p:cNvPr>
          <p:cNvSpPr/>
          <p:nvPr/>
        </p:nvSpPr>
        <p:spPr bwMode="gray">
          <a:xfrm>
            <a:off x="6825207" y="1754840"/>
            <a:ext cx="2678289" cy="216000"/>
          </a:xfrm>
          <a:prstGeom prst="rect">
            <a:avLst/>
          </a:prstGeom>
          <a:solidFill>
            <a:srgbClr val="0158FF"/>
          </a:solidFill>
          <a:ln>
            <a:noFill/>
          </a:ln>
          <a:effectLst/>
        </p:spPr>
        <p:txBody>
          <a:bodyPr wrap="none" lIns="0" tIns="0" rIns="0" bIns="0" anchor="ctr">
            <a:no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1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주요 모니터링 지표</a:t>
            </a:r>
            <a:endParaRPr lang="en-US" altLang="ko-KR" sz="11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Shape 108">
            <a:extLst>
              <a:ext uri="{FF2B5EF4-FFF2-40B4-BE49-F238E27FC236}">
                <a16:creationId xmlns:a16="http://schemas.microsoft.com/office/drawing/2014/main" id="{23D8B5EE-C598-7FF7-F2AB-78CD1E150B37}"/>
              </a:ext>
            </a:extLst>
          </p:cNvPr>
          <p:cNvSpPr/>
          <p:nvPr/>
        </p:nvSpPr>
        <p:spPr>
          <a:xfrm>
            <a:off x="6886726" y="2120836"/>
            <a:ext cx="1209060" cy="224942"/>
          </a:xfrm>
          <a:prstGeom prst="roundRect">
            <a:avLst>
              <a:gd name="adj" fmla="val 1626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09">
            <a:extLst>
              <a:ext uri="{FF2B5EF4-FFF2-40B4-BE49-F238E27FC236}">
                <a16:creationId xmlns:a16="http://schemas.microsoft.com/office/drawing/2014/main" id="{D61E3516-A325-68DE-3502-3495EA90637A}"/>
              </a:ext>
            </a:extLst>
          </p:cNvPr>
          <p:cNvSpPr/>
          <p:nvPr/>
        </p:nvSpPr>
        <p:spPr>
          <a:xfrm>
            <a:off x="6941590" y="2120836"/>
            <a:ext cx="1591056" cy="224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 err="1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</a:t>
            </a:r>
            <a:r>
              <a:rPr lang="en-US" sz="820" dirty="0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건수·TPS</a:t>
            </a:r>
            <a:endParaRPr lang="en-US" sz="820" dirty="0"/>
          </a:p>
        </p:txBody>
      </p:sp>
      <p:sp>
        <p:nvSpPr>
          <p:cNvPr id="22" name="Shape 110">
            <a:extLst>
              <a:ext uri="{FF2B5EF4-FFF2-40B4-BE49-F238E27FC236}">
                <a16:creationId xmlns:a16="http://schemas.microsoft.com/office/drawing/2014/main" id="{3F7EAC86-7720-B4F0-17D7-490F928F6B33}"/>
              </a:ext>
            </a:extLst>
          </p:cNvPr>
          <p:cNvSpPr/>
          <p:nvPr/>
        </p:nvSpPr>
        <p:spPr>
          <a:xfrm>
            <a:off x="8162741" y="2120836"/>
            <a:ext cx="1251574" cy="224942"/>
          </a:xfrm>
          <a:prstGeom prst="roundRect">
            <a:avLst>
              <a:gd name="adj" fmla="val 1626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11">
            <a:extLst>
              <a:ext uri="{FF2B5EF4-FFF2-40B4-BE49-F238E27FC236}">
                <a16:creationId xmlns:a16="http://schemas.microsoft.com/office/drawing/2014/main" id="{F8CA935B-94FB-92C8-7DEA-2A8CE4966B16}"/>
              </a:ext>
            </a:extLst>
          </p:cNvPr>
          <p:cNvSpPr/>
          <p:nvPr/>
        </p:nvSpPr>
        <p:spPr>
          <a:xfrm>
            <a:off x="8217604" y="2120836"/>
            <a:ext cx="1415916" cy="224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 err="1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평균·최대</a:t>
            </a:r>
            <a:r>
              <a:rPr lang="en-US" sz="820" dirty="0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처리시간</a:t>
            </a:r>
            <a:endParaRPr lang="en-US" sz="820" dirty="0"/>
          </a:p>
        </p:txBody>
      </p:sp>
      <p:sp>
        <p:nvSpPr>
          <p:cNvPr id="24" name="Shape 112">
            <a:extLst>
              <a:ext uri="{FF2B5EF4-FFF2-40B4-BE49-F238E27FC236}">
                <a16:creationId xmlns:a16="http://schemas.microsoft.com/office/drawing/2014/main" id="{B5FECEF8-6C52-3B4E-14A6-E0E3144144F0}"/>
              </a:ext>
            </a:extLst>
          </p:cNvPr>
          <p:cNvSpPr/>
          <p:nvPr/>
        </p:nvSpPr>
        <p:spPr>
          <a:xfrm>
            <a:off x="6886726" y="2400642"/>
            <a:ext cx="1209060" cy="224942"/>
          </a:xfrm>
          <a:prstGeom prst="roundRect">
            <a:avLst>
              <a:gd name="adj" fmla="val 1626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13">
            <a:extLst>
              <a:ext uri="{FF2B5EF4-FFF2-40B4-BE49-F238E27FC236}">
                <a16:creationId xmlns:a16="http://schemas.microsoft.com/office/drawing/2014/main" id="{683BF047-0AD6-82F3-F3DE-43E81D5D3040}"/>
              </a:ext>
            </a:extLst>
          </p:cNvPr>
          <p:cNvSpPr/>
          <p:nvPr/>
        </p:nvSpPr>
        <p:spPr>
          <a:xfrm>
            <a:off x="6941590" y="2400642"/>
            <a:ext cx="1591056" cy="224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 err="1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성공·실패</a:t>
            </a:r>
            <a:r>
              <a:rPr lang="en-US" sz="820" dirty="0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건수</a:t>
            </a:r>
            <a:endParaRPr lang="en-US" sz="820" dirty="0"/>
          </a:p>
        </p:txBody>
      </p:sp>
      <p:sp>
        <p:nvSpPr>
          <p:cNvPr id="26" name="Shape 114">
            <a:extLst>
              <a:ext uri="{FF2B5EF4-FFF2-40B4-BE49-F238E27FC236}">
                <a16:creationId xmlns:a16="http://schemas.microsoft.com/office/drawing/2014/main" id="{570F24E5-384A-6FB4-2DDE-7E3EB4D402D7}"/>
              </a:ext>
            </a:extLst>
          </p:cNvPr>
          <p:cNvSpPr/>
          <p:nvPr/>
        </p:nvSpPr>
        <p:spPr>
          <a:xfrm>
            <a:off x="8162741" y="2400642"/>
            <a:ext cx="1251574" cy="224942"/>
          </a:xfrm>
          <a:prstGeom prst="roundRect">
            <a:avLst>
              <a:gd name="adj" fmla="val 1626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15">
            <a:extLst>
              <a:ext uri="{FF2B5EF4-FFF2-40B4-BE49-F238E27FC236}">
                <a16:creationId xmlns:a16="http://schemas.microsoft.com/office/drawing/2014/main" id="{141C75DF-8B15-FCC0-49F4-A6093F034354}"/>
              </a:ext>
            </a:extLst>
          </p:cNvPr>
          <p:cNvSpPr/>
          <p:nvPr/>
        </p:nvSpPr>
        <p:spPr>
          <a:xfrm>
            <a:off x="8217604" y="2400642"/>
            <a:ext cx="1415916" cy="224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 err="1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오류율·주요</a:t>
            </a:r>
            <a:r>
              <a:rPr lang="en-US" sz="820" dirty="0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오류코드</a:t>
            </a:r>
            <a:endParaRPr lang="en-US" sz="820" dirty="0"/>
          </a:p>
        </p:txBody>
      </p:sp>
      <p:sp>
        <p:nvSpPr>
          <p:cNvPr id="28" name="Shape 116">
            <a:extLst>
              <a:ext uri="{FF2B5EF4-FFF2-40B4-BE49-F238E27FC236}">
                <a16:creationId xmlns:a16="http://schemas.microsoft.com/office/drawing/2014/main" id="{CFF83D9B-52F2-2FC9-8A08-C357824327E6}"/>
              </a:ext>
            </a:extLst>
          </p:cNvPr>
          <p:cNvSpPr/>
          <p:nvPr/>
        </p:nvSpPr>
        <p:spPr>
          <a:xfrm>
            <a:off x="6886726" y="2680449"/>
            <a:ext cx="1209060" cy="224942"/>
          </a:xfrm>
          <a:prstGeom prst="roundRect">
            <a:avLst>
              <a:gd name="adj" fmla="val 1626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17">
            <a:extLst>
              <a:ext uri="{FF2B5EF4-FFF2-40B4-BE49-F238E27FC236}">
                <a16:creationId xmlns:a16="http://schemas.microsoft.com/office/drawing/2014/main" id="{A8708E51-2DC9-4440-60BF-A261E2A0FE01}"/>
              </a:ext>
            </a:extLst>
          </p:cNvPr>
          <p:cNvSpPr/>
          <p:nvPr/>
        </p:nvSpPr>
        <p:spPr>
          <a:xfrm>
            <a:off x="6941590" y="2680449"/>
            <a:ext cx="1591056" cy="224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 err="1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서비스·시스템</a:t>
            </a:r>
            <a:r>
              <a:rPr lang="en-US" sz="820" dirty="0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상태</a:t>
            </a:r>
            <a:endParaRPr lang="en-US" sz="820" dirty="0"/>
          </a:p>
        </p:txBody>
      </p:sp>
      <p:sp>
        <p:nvSpPr>
          <p:cNvPr id="30" name="Shape 118">
            <a:extLst>
              <a:ext uri="{FF2B5EF4-FFF2-40B4-BE49-F238E27FC236}">
                <a16:creationId xmlns:a16="http://schemas.microsoft.com/office/drawing/2014/main" id="{FB739C3E-F4A5-A6A7-0D83-187C10EB7C45}"/>
              </a:ext>
            </a:extLst>
          </p:cNvPr>
          <p:cNvSpPr/>
          <p:nvPr/>
        </p:nvSpPr>
        <p:spPr>
          <a:xfrm>
            <a:off x="8162741" y="2675898"/>
            <a:ext cx="1265193" cy="224942"/>
          </a:xfrm>
          <a:prstGeom prst="roundRect">
            <a:avLst>
              <a:gd name="adj" fmla="val 1626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19">
            <a:extLst>
              <a:ext uri="{FF2B5EF4-FFF2-40B4-BE49-F238E27FC236}">
                <a16:creationId xmlns:a16="http://schemas.microsoft.com/office/drawing/2014/main" id="{19E07BCC-8DC2-3BC0-AEFA-A3FBB3B939CC}"/>
              </a:ext>
            </a:extLst>
          </p:cNvPr>
          <p:cNvSpPr/>
          <p:nvPr/>
        </p:nvSpPr>
        <p:spPr>
          <a:xfrm>
            <a:off x="8217604" y="2675898"/>
            <a:ext cx="1415916" cy="224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20" dirty="0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외부기관 연계 상태</a:t>
            </a:r>
            <a:endParaRPr lang="en-US" sz="820" dirty="0"/>
          </a:p>
        </p:txBody>
      </p:sp>
      <p:sp>
        <p:nvSpPr>
          <p:cNvPr id="32" name="Shape 120">
            <a:extLst>
              <a:ext uri="{FF2B5EF4-FFF2-40B4-BE49-F238E27FC236}">
                <a16:creationId xmlns:a16="http://schemas.microsoft.com/office/drawing/2014/main" id="{6305C2C0-86EE-0EA3-6994-5133E7C898C3}"/>
              </a:ext>
            </a:extLst>
          </p:cNvPr>
          <p:cNvSpPr/>
          <p:nvPr/>
        </p:nvSpPr>
        <p:spPr>
          <a:xfrm>
            <a:off x="6886726" y="2960255"/>
            <a:ext cx="1209060" cy="224942"/>
          </a:xfrm>
          <a:prstGeom prst="roundRect">
            <a:avLst>
              <a:gd name="adj" fmla="val 1626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121">
            <a:extLst>
              <a:ext uri="{FF2B5EF4-FFF2-40B4-BE49-F238E27FC236}">
                <a16:creationId xmlns:a16="http://schemas.microsoft.com/office/drawing/2014/main" id="{8008A080-5FFE-1370-AD5D-70B5A2EFB18D}"/>
              </a:ext>
            </a:extLst>
          </p:cNvPr>
          <p:cNvSpPr/>
          <p:nvPr/>
        </p:nvSpPr>
        <p:spPr>
          <a:xfrm>
            <a:off x="6941590" y="2960255"/>
            <a:ext cx="1591056" cy="224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 err="1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</a:t>
            </a:r>
            <a:r>
              <a:rPr lang="en-US" sz="820" dirty="0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작업 진행률</a:t>
            </a:r>
            <a:endParaRPr lang="en-US" sz="820" dirty="0"/>
          </a:p>
        </p:txBody>
      </p:sp>
      <p:sp>
        <p:nvSpPr>
          <p:cNvPr id="34" name="Shape 122">
            <a:extLst>
              <a:ext uri="{FF2B5EF4-FFF2-40B4-BE49-F238E27FC236}">
                <a16:creationId xmlns:a16="http://schemas.microsoft.com/office/drawing/2014/main" id="{F9663C73-CDDE-ABC9-ADB1-EBF6875D167D}"/>
              </a:ext>
            </a:extLst>
          </p:cNvPr>
          <p:cNvSpPr/>
          <p:nvPr/>
        </p:nvSpPr>
        <p:spPr>
          <a:xfrm>
            <a:off x="8162741" y="2960255"/>
            <a:ext cx="1251574" cy="224942"/>
          </a:xfrm>
          <a:prstGeom prst="roundRect">
            <a:avLst>
              <a:gd name="adj" fmla="val 1626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123">
            <a:extLst>
              <a:ext uri="{FF2B5EF4-FFF2-40B4-BE49-F238E27FC236}">
                <a16:creationId xmlns:a16="http://schemas.microsoft.com/office/drawing/2014/main" id="{4F1CA4FA-3202-BE87-EAC6-557CADBB58AF}"/>
              </a:ext>
            </a:extLst>
          </p:cNvPr>
          <p:cNvSpPr/>
          <p:nvPr/>
        </p:nvSpPr>
        <p:spPr>
          <a:xfrm>
            <a:off x="8217604" y="2960255"/>
            <a:ext cx="1415916" cy="224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 err="1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지연·미처리</a:t>
            </a:r>
            <a:r>
              <a:rPr lang="en-US" sz="820" dirty="0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업무</a:t>
            </a:r>
            <a:endParaRPr lang="en-US" sz="820" dirty="0"/>
          </a:p>
        </p:txBody>
      </p:sp>
      <p:sp>
        <p:nvSpPr>
          <p:cNvPr id="36" name="Shape 124">
            <a:extLst>
              <a:ext uri="{FF2B5EF4-FFF2-40B4-BE49-F238E27FC236}">
                <a16:creationId xmlns:a16="http://schemas.microsoft.com/office/drawing/2014/main" id="{36379C99-E5F8-89DE-A0DB-B32F1E0BD6C5}"/>
              </a:ext>
            </a:extLst>
          </p:cNvPr>
          <p:cNvSpPr/>
          <p:nvPr/>
        </p:nvSpPr>
        <p:spPr>
          <a:xfrm>
            <a:off x="6886726" y="3240062"/>
            <a:ext cx="1209060" cy="224942"/>
          </a:xfrm>
          <a:prstGeom prst="roundRect">
            <a:avLst>
              <a:gd name="adj" fmla="val 1626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125">
            <a:extLst>
              <a:ext uri="{FF2B5EF4-FFF2-40B4-BE49-F238E27FC236}">
                <a16:creationId xmlns:a16="http://schemas.microsoft.com/office/drawing/2014/main" id="{15E3BA91-5AEF-BDA4-B508-9D66EDA2FCA6}"/>
              </a:ext>
            </a:extLst>
          </p:cNvPr>
          <p:cNvSpPr/>
          <p:nvPr/>
        </p:nvSpPr>
        <p:spPr>
          <a:xfrm>
            <a:off x="6941590" y="3240062"/>
            <a:ext cx="1591056" cy="224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 err="1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</a:t>
            </a:r>
            <a:r>
              <a:rPr lang="en-US" sz="820" dirty="0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이상 이벤트</a:t>
            </a:r>
            <a:endParaRPr lang="en-US" sz="820" dirty="0"/>
          </a:p>
        </p:txBody>
      </p:sp>
      <p:sp>
        <p:nvSpPr>
          <p:cNvPr id="38" name="Shape 126">
            <a:extLst>
              <a:ext uri="{FF2B5EF4-FFF2-40B4-BE49-F238E27FC236}">
                <a16:creationId xmlns:a16="http://schemas.microsoft.com/office/drawing/2014/main" id="{11509474-B3CE-2BE7-32C6-2E6A4F646CB4}"/>
              </a:ext>
            </a:extLst>
          </p:cNvPr>
          <p:cNvSpPr/>
          <p:nvPr/>
        </p:nvSpPr>
        <p:spPr>
          <a:xfrm>
            <a:off x="8162741" y="3240062"/>
            <a:ext cx="1251574" cy="224942"/>
          </a:xfrm>
          <a:prstGeom prst="roundRect">
            <a:avLst>
              <a:gd name="adj" fmla="val 1626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127">
            <a:extLst>
              <a:ext uri="{FF2B5EF4-FFF2-40B4-BE49-F238E27FC236}">
                <a16:creationId xmlns:a16="http://schemas.microsoft.com/office/drawing/2014/main" id="{E06328F1-D997-FF73-8982-651FFEE7E525}"/>
              </a:ext>
            </a:extLst>
          </p:cNvPr>
          <p:cNvSpPr/>
          <p:nvPr/>
        </p:nvSpPr>
        <p:spPr>
          <a:xfrm>
            <a:off x="8217604" y="3240062"/>
            <a:ext cx="1415916" cy="224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 err="1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업무별</a:t>
            </a:r>
            <a:r>
              <a:rPr lang="en-US" sz="820" dirty="0">
                <a:solidFill>
                  <a:srgbClr val="0B2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점검 결과</a:t>
            </a:r>
            <a:endParaRPr lang="en-US" sz="82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2F778A2-B43C-E93D-C433-60E849EBBFE5}"/>
              </a:ext>
            </a:extLst>
          </p:cNvPr>
          <p:cNvSpPr/>
          <p:nvPr/>
        </p:nvSpPr>
        <p:spPr>
          <a:xfrm>
            <a:off x="3551404" y="3807015"/>
            <a:ext cx="3150241" cy="1584174"/>
          </a:xfrm>
          <a:prstGeom prst="rect">
            <a:avLst/>
          </a:prstGeom>
          <a:solidFill>
            <a:srgbClr val="EFF4FF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1762095-3EF4-BFC0-E6E1-A81BDB5EBD8B}"/>
              </a:ext>
            </a:extLst>
          </p:cNvPr>
          <p:cNvCxnSpPr/>
          <p:nvPr/>
        </p:nvCxnSpPr>
        <p:spPr>
          <a:xfrm>
            <a:off x="3551740" y="3573014"/>
            <a:ext cx="3149570" cy="0"/>
          </a:xfrm>
          <a:prstGeom prst="line">
            <a:avLst/>
          </a:prstGeom>
          <a:ln w="9525">
            <a:solidFill>
              <a:srgbClr val="0209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3CD346B-7BAE-FA65-EB44-61942F5B17A3}"/>
              </a:ext>
            </a:extLst>
          </p:cNvPr>
          <p:cNvSpPr/>
          <p:nvPr/>
        </p:nvSpPr>
        <p:spPr>
          <a:xfrm>
            <a:off x="401498" y="3807016"/>
            <a:ext cx="3150241" cy="15841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endParaRPr lang="ko-KR" altLang="en-US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8EB2202-8E37-A10C-81D2-DE8CAA943673}"/>
              </a:ext>
            </a:extLst>
          </p:cNvPr>
          <p:cNvCxnSpPr/>
          <p:nvPr/>
        </p:nvCxnSpPr>
        <p:spPr>
          <a:xfrm>
            <a:off x="401834" y="3573015"/>
            <a:ext cx="314957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utoShape 227">
            <a:extLst>
              <a:ext uri="{FF2B5EF4-FFF2-40B4-BE49-F238E27FC236}">
                <a16:creationId xmlns:a16="http://schemas.microsoft.com/office/drawing/2014/main" id="{14EB5125-8808-8F89-02BE-5D52BFE3B3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35232" y="1783559"/>
            <a:ext cx="1482778" cy="16927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lvl="0" algn="ctr" latinLnBrk="0"/>
            <a:r>
              <a:rPr lang="ko-KR" altLang="en-US" sz="11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서비스 흐름 기반 모니터링</a:t>
            </a:r>
            <a:endParaRPr lang="en-US" altLang="ko-KR" sz="1100" dirty="0">
              <a:solidFill>
                <a:srgbClr val="02095A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48" name="AutoShape 227">
            <a:extLst>
              <a:ext uri="{FF2B5EF4-FFF2-40B4-BE49-F238E27FC236}">
                <a16:creationId xmlns:a16="http://schemas.microsoft.com/office/drawing/2014/main" id="{406C6F39-45AE-310F-0E6A-2355ABA07D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529473" y="3613870"/>
            <a:ext cx="1317669" cy="16927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lvl="0" algn="ctr" latinLnBrk="0"/>
            <a:r>
              <a:rPr lang="ko-KR" altLang="en-US" sz="1100" dirty="0">
                <a:solidFill>
                  <a:srgbClr val="02095A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사용자 맞춤형 대시보드</a:t>
            </a:r>
            <a:endParaRPr lang="en-US" altLang="ko-KR" sz="1100" dirty="0">
              <a:solidFill>
                <a:srgbClr val="02095A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49" name="AutoShape 227">
            <a:extLst>
              <a:ext uri="{FF2B5EF4-FFF2-40B4-BE49-F238E27FC236}">
                <a16:creationId xmlns:a16="http://schemas.microsoft.com/office/drawing/2014/main" id="{CB98C1A2-EA88-B6A0-B32C-1A561525B87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46921" y="1789485"/>
            <a:ext cx="1482778" cy="16927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업무 스케줄 기반 운영점검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0" name="AutoShape 227">
            <a:extLst>
              <a:ext uri="{FF2B5EF4-FFF2-40B4-BE49-F238E27FC236}">
                <a16:creationId xmlns:a16="http://schemas.microsoft.com/office/drawing/2014/main" id="{2BB6F182-D83A-6E92-16DC-A5291AF8D5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11540" y="3613871"/>
            <a:ext cx="1981312" cy="16927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 latinLnBrk="0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실시간 로그 분석 및 이상징후 탐지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72100573-F8EF-7E55-1835-487D5BEEE019}"/>
              </a:ext>
            </a:extLst>
          </p:cNvPr>
          <p:cNvGrpSpPr/>
          <p:nvPr/>
        </p:nvGrpSpPr>
        <p:grpSpPr>
          <a:xfrm>
            <a:off x="531088" y="2138999"/>
            <a:ext cx="428601" cy="1252501"/>
            <a:chOff x="365760" y="2340864"/>
            <a:chExt cx="411480" cy="918972"/>
          </a:xfrm>
        </p:grpSpPr>
        <p:sp>
          <p:nvSpPr>
            <p:cNvPr id="59" name="Shape 32">
              <a:extLst>
                <a:ext uri="{FF2B5EF4-FFF2-40B4-BE49-F238E27FC236}">
                  <a16:creationId xmlns:a16="http://schemas.microsoft.com/office/drawing/2014/main" id="{79E922E2-E52C-3BDE-6D1A-2ACF1B655FF9}"/>
                </a:ext>
              </a:extLst>
            </p:cNvPr>
            <p:cNvSpPr/>
            <p:nvPr/>
          </p:nvSpPr>
          <p:spPr>
            <a:xfrm>
              <a:off x="365760" y="2340864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60" name="Text 33">
              <a:extLst>
                <a:ext uri="{FF2B5EF4-FFF2-40B4-BE49-F238E27FC236}">
                  <a16:creationId xmlns:a16="http://schemas.microsoft.com/office/drawing/2014/main" id="{AACDB568-70B7-55E4-C29C-09C1365FF9E7}"/>
                </a:ext>
              </a:extLst>
            </p:cNvPr>
            <p:cNvSpPr/>
            <p:nvPr/>
          </p:nvSpPr>
          <p:spPr>
            <a:xfrm>
              <a:off x="365760" y="2340864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입력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61" name="Shape 35">
              <a:extLst>
                <a:ext uri="{FF2B5EF4-FFF2-40B4-BE49-F238E27FC236}">
                  <a16:creationId xmlns:a16="http://schemas.microsoft.com/office/drawing/2014/main" id="{53D129B7-D2D1-E3BE-D72E-E25058ACE38E}"/>
                </a:ext>
              </a:extLst>
            </p:cNvPr>
            <p:cNvSpPr/>
            <p:nvPr/>
          </p:nvSpPr>
          <p:spPr>
            <a:xfrm>
              <a:off x="365760" y="2598039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62" name="Text 36">
              <a:extLst>
                <a:ext uri="{FF2B5EF4-FFF2-40B4-BE49-F238E27FC236}">
                  <a16:creationId xmlns:a16="http://schemas.microsoft.com/office/drawing/2014/main" id="{AC906D05-9B53-AB77-95FF-7FD2E75CBD12}"/>
                </a:ext>
              </a:extLst>
            </p:cNvPr>
            <p:cNvSpPr/>
            <p:nvPr/>
          </p:nvSpPr>
          <p:spPr>
            <a:xfrm>
              <a:off x="365760" y="2598039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분석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63" name="Shape 39">
              <a:extLst>
                <a:ext uri="{FF2B5EF4-FFF2-40B4-BE49-F238E27FC236}">
                  <a16:creationId xmlns:a16="http://schemas.microsoft.com/office/drawing/2014/main" id="{5D17664D-60FF-9B80-9DCD-E18ED66206CE}"/>
                </a:ext>
              </a:extLst>
            </p:cNvPr>
            <p:cNvSpPr/>
            <p:nvPr/>
          </p:nvSpPr>
          <p:spPr>
            <a:xfrm>
              <a:off x="365760" y="2855214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64" name="Text 40">
              <a:extLst>
                <a:ext uri="{FF2B5EF4-FFF2-40B4-BE49-F238E27FC236}">
                  <a16:creationId xmlns:a16="http://schemas.microsoft.com/office/drawing/2014/main" id="{0C333AB2-5FE5-8C8D-A435-BEDC8B7BE4B3}"/>
                </a:ext>
              </a:extLst>
            </p:cNvPr>
            <p:cNvSpPr/>
            <p:nvPr/>
          </p:nvSpPr>
          <p:spPr>
            <a:xfrm>
              <a:off x="365760" y="2855214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결과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65" name="Shape 42">
              <a:extLst>
                <a:ext uri="{FF2B5EF4-FFF2-40B4-BE49-F238E27FC236}">
                  <a16:creationId xmlns:a16="http://schemas.microsoft.com/office/drawing/2014/main" id="{139EBB1A-4CDE-A02C-B51D-506FBC84CE2B}"/>
                </a:ext>
              </a:extLst>
            </p:cNvPr>
            <p:cNvSpPr/>
            <p:nvPr/>
          </p:nvSpPr>
          <p:spPr>
            <a:xfrm>
              <a:off x="365760" y="3112389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66" name="Text 43">
              <a:extLst>
                <a:ext uri="{FF2B5EF4-FFF2-40B4-BE49-F238E27FC236}">
                  <a16:creationId xmlns:a16="http://schemas.microsoft.com/office/drawing/2014/main" id="{532CB445-4A2F-8AA4-562C-6CD3AF1F24A9}"/>
                </a:ext>
              </a:extLst>
            </p:cNvPr>
            <p:cNvSpPr/>
            <p:nvPr/>
          </p:nvSpPr>
          <p:spPr>
            <a:xfrm>
              <a:off x="365760" y="3112389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활용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838D5B38-1E66-02DF-41D4-D78CC6696CD4}"/>
              </a:ext>
            </a:extLst>
          </p:cNvPr>
          <p:cNvGrpSpPr/>
          <p:nvPr/>
        </p:nvGrpSpPr>
        <p:grpSpPr>
          <a:xfrm>
            <a:off x="531088" y="3957173"/>
            <a:ext cx="428601" cy="1252501"/>
            <a:chOff x="365760" y="2340864"/>
            <a:chExt cx="411480" cy="918972"/>
          </a:xfrm>
        </p:grpSpPr>
        <p:sp>
          <p:nvSpPr>
            <p:cNvPr id="69" name="Shape 32">
              <a:extLst>
                <a:ext uri="{FF2B5EF4-FFF2-40B4-BE49-F238E27FC236}">
                  <a16:creationId xmlns:a16="http://schemas.microsoft.com/office/drawing/2014/main" id="{06AAE331-83A4-D0B9-9E79-32358D898E32}"/>
                </a:ext>
              </a:extLst>
            </p:cNvPr>
            <p:cNvSpPr/>
            <p:nvPr/>
          </p:nvSpPr>
          <p:spPr>
            <a:xfrm>
              <a:off x="365760" y="2340864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70" name="Text 33">
              <a:extLst>
                <a:ext uri="{FF2B5EF4-FFF2-40B4-BE49-F238E27FC236}">
                  <a16:creationId xmlns:a16="http://schemas.microsoft.com/office/drawing/2014/main" id="{29A07CB6-FAF8-F664-B38B-8DE4BACCCC92}"/>
                </a:ext>
              </a:extLst>
            </p:cNvPr>
            <p:cNvSpPr/>
            <p:nvPr/>
          </p:nvSpPr>
          <p:spPr>
            <a:xfrm>
              <a:off x="365760" y="2340864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입력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71" name="Shape 35">
              <a:extLst>
                <a:ext uri="{FF2B5EF4-FFF2-40B4-BE49-F238E27FC236}">
                  <a16:creationId xmlns:a16="http://schemas.microsoft.com/office/drawing/2014/main" id="{C1F99C40-E405-2B27-1DA9-2816245E38A9}"/>
                </a:ext>
              </a:extLst>
            </p:cNvPr>
            <p:cNvSpPr/>
            <p:nvPr/>
          </p:nvSpPr>
          <p:spPr>
            <a:xfrm>
              <a:off x="365760" y="2598039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72" name="Text 36">
              <a:extLst>
                <a:ext uri="{FF2B5EF4-FFF2-40B4-BE49-F238E27FC236}">
                  <a16:creationId xmlns:a16="http://schemas.microsoft.com/office/drawing/2014/main" id="{5063F9CB-0376-CE6B-596E-5BEEACBFFF1F}"/>
                </a:ext>
              </a:extLst>
            </p:cNvPr>
            <p:cNvSpPr/>
            <p:nvPr/>
          </p:nvSpPr>
          <p:spPr>
            <a:xfrm>
              <a:off x="365760" y="2598039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분석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0BA9CD48-E6F7-0837-47AC-1F99C36ED0EC}"/>
                </a:ext>
              </a:extLst>
            </p:cNvPr>
            <p:cNvSpPr/>
            <p:nvPr/>
          </p:nvSpPr>
          <p:spPr>
            <a:xfrm>
              <a:off x="365760" y="2855214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6A064BF6-B1E8-D735-56ED-6056B41367EB}"/>
                </a:ext>
              </a:extLst>
            </p:cNvPr>
            <p:cNvSpPr/>
            <p:nvPr/>
          </p:nvSpPr>
          <p:spPr>
            <a:xfrm>
              <a:off x="365760" y="2855214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결과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75" name="Shape 42">
              <a:extLst>
                <a:ext uri="{FF2B5EF4-FFF2-40B4-BE49-F238E27FC236}">
                  <a16:creationId xmlns:a16="http://schemas.microsoft.com/office/drawing/2014/main" id="{F1D85EDC-B690-92FD-CF8A-1573437F3F75}"/>
                </a:ext>
              </a:extLst>
            </p:cNvPr>
            <p:cNvSpPr/>
            <p:nvPr/>
          </p:nvSpPr>
          <p:spPr>
            <a:xfrm>
              <a:off x="365760" y="3112389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76" name="Text 43">
              <a:extLst>
                <a:ext uri="{FF2B5EF4-FFF2-40B4-BE49-F238E27FC236}">
                  <a16:creationId xmlns:a16="http://schemas.microsoft.com/office/drawing/2014/main" id="{756242D9-43DA-2EF2-C585-65D7983D7E6A}"/>
                </a:ext>
              </a:extLst>
            </p:cNvPr>
            <p:cNvSpPr/>
            <p:nvPr/>
          </p:nvSpPr>
          <p:spPr>
            <a:xfrm>
              <a:off x="365760" y="3112389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활용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A6D629E-5B67-FFCE-26DB-AA72EC1ECF97}"/>
              </a:ext>
            </a:extLst>
          </p:cNvPr>
          <p:cNvGrpSpPr/>
          <p:nvPr/>
        </p:nvGrpSpPr>
        <p:grpSpPr>
          <a:xfrm>
            <a:off x="3675302" y="2138633"/>
            <a:ext cx="428601" cy="1252501"/>
            <a:chOff x="365760" y="2340864"/>
            <a:chExt cx="411480" cy="918972"/>
          </a:xfrm>
        </p:grpSpPr>
        <p:sp>
          <p:nvSpPr>
            <p:cNvPr id="94" name="Shape 32">
              <a:extLst>
                <a:ext uri="{FF2B5EF4-FFF2-40B4-BE49-F238E27FC236}">
                  <a16:creationId xmlns:a16="http://schemas.microsoft.com/office/drawing/2014/main" id="{8C903514-8028-9EC3-090C-392FD322D601}"/>
                </a:ext>
              </a:extLst>
            </p:cNvPr>
            <p:cNvSpPr/>
            <p:nvPr/>
          </p:nvSpPr>
          <p:spPr>
            <a:xfrm>
              <a:off x="365760" y="2340864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95" name="Text 33">
              <a:extLst>
                <a:ext uri="{FF2B5EF4-FFF2-40B4-BE49-F238E27FC236}">
                  <a16:creationId xmlns:a16="http://schemas.microsoft.com/office/drawing/2014/main" id="{5C82AE64-C9EC-CF50-F482-C33893C033D4}"/>
                </a:ext>
              </a:extLst>
            </p:cNvPr>
            <p:cNvSpPr/>
            <p:nvPr/>
          </p:nvSpPr>
          <p:spPr>
            <a:xfrm>
              <a:off x="365760" y="2340864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입력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96" name="Shape 35">
              <a:extLst>
                <a:ext uri="{FF2B5EF4-FFF2-40B4-BE49-F238E27FC236}">
                  <a16:creationId xmlns:a16="http://schemas.microsoft.com/office/drawing/2014/main" id="{BFF2380A-3004-FF33-516A-F29117167F74}"/>
                </a:ext>
              </a:extLst>
            </p:cNvPr>
            <p:cNvSpPr/>
            <p:nvPr/>
          </p:nvSpPr>
          <p:spPr>
            <a:xfrm>
              <a:off x="365760" y="2598039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97" name="Text 36">
              <a:extLst>
                <a:ext uri="{FF2B5EF4-FFF2-40B4-BE49-F238E27FC236}">
                  <a16:creationId xmlns:a16="http://schemas.microsoft.com/office/drawing/2014/main" id="{D5E67A55-0A68-5523-1B33-F394A7D02102}"/>
                </a:ext>
              </a:extLst>
            </p:cNvPr>
            <p:cNvSpPr/>
            <p:nvPr/>
          </p:nvSpPr>
          <p:spPr>
            <a:xfrm>
              <a:off x="365760" y="2598039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분석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98" name="Shape 39">
              <a:extLst>
                <a:ext uri="{FF2B5EF4-FFF2-40B4-BE49-F238E27FC236}">
                  <a16:creationId xmlns:a16="http://schemas.microsoft.com/office/drawing/2014/main" id="{1F4DA3AD-0F15-EFC1-F0F4-D7CEE9A63057}"/>
                </a:ext>
              </a:extLst>
            </p:cNvPr>
            <p:cNvSpPr/>
            <p:nvPr/>
          </p:nvSpPr>
          <p:spPr>
            <a:xfrm>
              <a:off x="365760" y="2855214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99" name="Text 40">
              <a:extLst>
                <a:ext uri="{FF2B5EF4-FFF2-40B4-BE49-F238E27FC236}">
                  <a16:creationId xmlns:a16="http://schemas.microsoft.com/office/drawing/2014/main" id="{82F9816F-FEEA-F582-3952-0DE437FC167A}"/>
                </a:ext>
              </a:extLst>
            </p:cNvPr>
            <p:cNvSpPr/>
            <p:nvPr/>
          </p:nvSpPr>
          <p:spPr>
            <a:xfrm>
              <a:off x="365760" y="2855214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결과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00" name="Shape 42">
              <a:extLst>
                <a:ext uri="{FF2B5EF4-FFF2-40B4-BE49-F238E27FC236}">
                  <a16:creationId xmlns:a16="http://schemas.microsoft.com/office/drawing/2014/main" id="{3AE4DFDE-C29E-A700-6951-5CE12003E9FE}"/>
                </a:ext>
              </a:extLst>
            </p:cNvPr>
            <p:cNvSpPr/>
            <p:nvPr/>
          </p:nvSpPr>
          <p:spPr>
            <a:xfrm>
              <a:off x="365760" y="3112389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01" name="Text 43">
              <a:extLst>
                <a:ext uri="{FF2B5EF4-FFF2-40B4-BE49-F238E27FC236}">
                  <a16:creationId xmlns:a16="http://schemas.microsoft.com/office/drawing/2014/main" id="{2411507B-C2CB-150E-7770-1A394C1C4798}"/>
                </a:ext>
              </a:extLst>
            </p:cNvPr>
            <p:cNvSpPr/>
            <p:nvPr/>
          </p:nvSpPr>
          <p:spPr>
            <a:xfrm>
              <a:off x="365760" y="3112389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활용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F9D5AD71-5D83-E103-A38E-C40B7C0274F7}"/>
              </a:ext>
            </a:extLst>
          </p:cNvPr>
          <p:cNvGrpSpPr/>
          <p:nvPr/>
        </p:nvGrpSpPr>
        <p:grpSpPr>
          <a:xfrm>
            <a:off x="3675302" y="3951831"/>
            <a:ext cx="428601" cy="1252501"/>
            <a:chOff x="365760" y="2340864"/>
            <a:chExt cx="411480" cy="918972"/>
          </a:xfrm>
        </p:grpSpPr>
        <p:sp>
          <p:nvSpPr>
            <p:cNvPr id="112" name="Shape 32">
              <a:extLst>
                <a:ext uri="{FF2B5EF4-FFF2-40B4-BE49-F238E27FC236}">
                  <a16:creationId xmlns:a16="http://schemas.microsoft.com/office/drawing/2014/main" id="{61C1C6D8-697A-AE87-6C6D-FB442805D0AC}"/>
                </a:ext>
              </a:extLst>
            </p:cNvPr>
            <p:cNvSpPr/>
            <p:nvPr/>
          </p:nvSpPr>
          <p:spPr>
            <a:xfrm>
              <a:off x="365760" y="2340864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13" name="Text 33">
              <a:extLst>
                <a:ext uri="{FF2B5EF4-FFF2-40B4-BE49-F238E27FC236}">
                  <a16:creationId xmlns:a16="http://schemas.microsoft.com/office/drawing/2014/main" id="{70FD1B4C-4C9A-CA78-A6EE-5054A41854BF}"/>
                </a:ext>
              </a:extLst>
            </p:cNvPr>
            <p:cNvSpPr/>
            <p:nvPr/>
          </p:nvSpPr>
          <p:spPr>
            <a:xfrm>
              <a:off x="365760" y="2340864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입력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14" name="Shape 35">
              <a:extLst>
                <a:ext uri="{FF2B5EF4-FFF2-40B4-BE49-F238E27FC236}">
                  <a16:creationId xmlns:a16="http://schemas.microsoft.com/office/drawing/2014/main" id="{64D58F84-3C99-E972-4EB4-2AD3D0B33029}"/>
                </a:ext>
              </a:extLst>
            </p:cNvPr>
            <p:cNvSpPr/>
            <p:nvPr/>
          </p:nvSpPr>
          <p:spPr>
            <a:xfrm>
              <a:off x="365760" y="2598039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15" name="Text 36">
              <a:extLst>
                <a:ext uri="{FF2B5EF4-FFF2-40B4-BE49-F238E27FC236}">
                  <a16:creationId xmlns:a16="http://schemas.microsoft.com/office/drawing/2014/main" id="{2B322FD1-4686-196C-5FBC-98610A0CE752}"/>
                </a:ext>
              </a:extLst>
            </p:cNvPr>
            <p:cNvSpPr/>
            <p:nvPr/>
          </p:nvSpPr>
          <p:spPr>
            <a:xfrm>
              <a:off x="365760" y="2598039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분석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16" name="Shape 39">
              <a:extLst>
                <a:ext uri="{FF2B5EF4-FFF2-40B4-BE49-F238E27FC236}">
                  <a16:creationId xmlns:a16="http://schemas.microsoft.com/office/drawing/2014/main" id="{93D81936-F6AB-03E5-0BCC-30CEEE8209EF}"/>
                </a:ext>
              </a:extLst>
            </p:cNvPr>
            <p:cNvSpPr/>
            <p:nvPr/>
          </p:nvSpPr>
          <p:spPr>
            <a:xfrm>
              <a:off x="365760" y="2855214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17" name="Text 40">
              <a:extLst>
                <a:ext uri="{FF2B5EF4-FFF2-40B4-BE49-F238E27FC236}">
                  <a16:creationId xmlns:a16="http://schemas.microsoft.com/office/drawing/2014/main" id="{4249BFB1-0CC0-4E8D-D329-C17378ED5663}"/>
                </a:ext>
              </a:extLst>
            </p:cNvPr>
            <p:cNvSpPr/>
            <p:nvPr/>
          </p:nvSpPr>
          <p:spPr>
            <a:xfrm>
              <a:off x="365760" y="2855214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결과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18" name="Shape 42">
              <a:extLst>
                <a:ext uri="{FF2B5EF4-FFF2-40B4-BE49-F238E27FC236}">
                  <a16:creationId xmlns:a16="http://schemas.microsoft.com/office/drawing/2014/main" id="{44E5ED4F-8866-A6CD-1457-64EA62FB2CBB}"/>
                </a:ext>
              </a:extLst>
            </p:cNvPr>
            <p:cNvSpPr/>
            <p:nvPr/>
          </p:nvSpPr>
          <p:spPr>
            <a:xfrm>
              <a:off x="365760" y="3112389"/>
              <a:ext cx="411480" cy="147447"/>
            </a:xfrm>
            <a:prstGeom prst="roundRect">
              <a:avLst>
                <a:gd name="adj" fmla="val 18605"/>
              </a:avLst>
            </a:prstGeom>
            <a:solidFill>
              <a:schemeClr val="bg1"/>
            </a:solidFill>
            <a:ln w="12700">
              <a:solidFill>
                <a:srgbClr val="E8F0FB"/>
              </a:solidFill>
              <a:prstDash val="solid"/>
            </a:ln>
          </p:spPr>
          <p:txBody>
            <a:bodyPr/>
            <a:lstStyle/>
            <a:p>
              <a:endParaRPr lang="ko-KR" altLang="en-US" sz="100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19" name="Text 43">
              <a:extLst>
                <a:ext uri="{FF2B5EF4-FFF2-40B4-BE49-F238E27FC236}">
                  <a16:creationId xmlns:a16="http://schemas.microsoft.com/office/drawing/2014/main" id="{43F84094-C345-1652-AEAB-1555C76FF2C8}"/>
                </a:ext>
              </a:extLst>
            </p:cNvPr>
            <p:cNvSpPr/>
            <p:nvPr/>
          </p:nvSpPr>
          <p:spPr>
            <a:xfrm>
              <a:off x="365760" y="3112389"/>
              <a:ext cx="411480" cy="147447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B2A52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맑은 고딕" pitchFamily="34" charset="-120"/>
                </a:rPr>
                <a:t>활용</a:t>
              </a:r>
              <a:endParaRPr lang="en-US" sz="100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</p:grp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8686D182-D786-2F19-5ED1-4A0B5DC936F2}"/>
              </a:ext>
            </a:extLst>
          </p:cNvPr>
          <p:cNvSpPr/>
          <p:nvPr/>
        </p:nvSpPr>
        <p:spPr>
          <a:xfrm>
            <a:off x="1052126" y="2156363"/>
            <a:ext cx="22999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거래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업무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서비스 처리 로그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시스템 상태</a:t>
            </a: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EAD2EEA4-50C2-FB86-3476-75099C0AFE62}"/>
              </a:ext>
            </a:extLst>
          </p:cNvPr>
          <p:cNvGrpSpPr/>
          <p:nvPr/>
        </p:nvGrpSpPr>
        <p:grpSpPr>
          <a:xfrm>
            <a:off x="400976" y="5461752"/>
            <a:ext cx="2996702" cy="883483"/>
            <a:chOff x="400976" y="5461752"/>
            <a:chExt cx="2178367" cy="1263326"/>
          </a:xfrm>
        </p:grpSpPr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5C78D720-888B-51B3-8C59-CD502065CC46}"/>
                </a:ext>
              </a:extLst>
            </p:cNvPr>
            <p:cNvSpPr/>
            <p:nvPr/>
          </p:nvSpPr>
          <p:spPr>
            <a:xfrm>
              <a:off x="400976" y="5461752"/>
              <a:ext cx="2178367" cy="12633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321411A5-C427-88F1-6D71-34BDCFBE4623}"/>
                </a:ext>
              </a:extLst>
            </p:cNvPr>
            <p:cNvSpPr/>
            <p:nvPr/>
          </p:nvSpPr>
          <p:spPr>
            <a:xfrm>
              <a:off x="400976" y="5461752"/>
              <a:ext cx="2178367" cy="300473"/>
            </a:xfrm>
            <a:prstGeom prst="rect">
              <a:avLst/>
            </a:prstGeom>
            <a:solidFill>
              <a:srgbClr val="0209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대응 시나리오</a:t>
              </a:r>
              <a:r>
                <a:rPr lang="en-US" altLang="ko-KR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: </a:t>
              </a:r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거래 지연 시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627F85BC-C46A-BC4E-6E64-C1B46B4CD844}"/>
              </a:ext>
            </a:extLst>
          </p:cNvPr>
          <p:cNvGrpSpPr/>
          <p:nvPr/>
        </p:nvGrpSpPr>
        <p:grpSpPr>
          <a:xfrm>
            <a:off x="3443962" y="5461755"/>
            <a:ext cx="2996702" cy="883483"/>
            <a:chOff x="400976" y="5461752"/>
            <a:chExt cx="2178367" cy="1263326"/>
          </a:xfrm>
        </p:grpSpPr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E2E757FB-96B5-C817-6065-C6592412EDA8}"/>
                </a:ext>
              </a:extLst>
            </p:cNvPr>
            <p:cNvSpPr/>
            <p:nvPr/>
          </p:nvSpPr>
          <p:spPr>
            <a:xfrm>
              <a:off x="400976" y="5461752"/>
              <a:ext cx="2178367" cy="12633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endPara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6EE0476D-2D89-AA78-3C36-D976237BD179}"/>
                </a:ext>
              </a:extLst>
            </p:cNvPr>
            <p:cNvSpPr/>
            <p:nvPr/>
          </p:nvSpPr>
          <p:spPr>
            <a:xfrm>
              <a:off x="400976" y="5461752"/>
              <a:ext cx="2178367" cy="300473"/>
            </a:xfrm>
            <a:prstGeom prst="rect">
              <a:avLst/>
            </a:prstGeom>
            <a:solidFill>
              <a:srgbClr val="0209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cene3d>
                <a:camera prst="orthographicFront"/>
                <a:lightRig rig="threePt" dir="t"/>
              </a:scene3d>
              <a:sp3d/>
            </a:bodyPr>
            <a:lstStyle/>
            <a:p>
              <a:pPr algn="ctr" latinLnBrk="0"/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대응 시나리오</a:t>
              </a:r>
              <a:r>
                <a:rPr lang="en-US" altLang="ko-KR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: </a:t>
              </a:r>
              <a:r>
                <a:rPr lang="ko-KR" altLang="en-US" sz="1200" dirty="0">
                  <a:solidFill>
                    <a:prstClr val="whit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anose="020B0604020202020204" pitchFamily="34" charset="0"/>
                </a:rPr>
                <a:t>배치 작업 실패 시</a:t>
              </a:r>
            </a:p>
          </p:txBody>
        </p:sp>
      </p:grp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26821ACB-67E8-8800-BB66-B12AD4B37C9E}"/>
              </a:ext>
            </a:extLst>
          </p:cNvPr>
          <p:cNvSpPr/>
          <p:nvPr/>
        </p:nvSpPr>
        <p:spPr>
          <a:xfrm>
            <a:off x="6494284" y="5461752"/>
            <a:ext cx="2996702" cy="8834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endParaRPr lang="ko-KR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87D9D100-7484-88B4-72AB-4FF1CAE99C6D}"/>
              </a:ext>
            </a:extLst>
          </p:cNvPr>
          <p:cNvSpPr/>
          <p:nvPr/>
        </p:nvSpPr>
        <p:spPr>
          <a:xfrm>
            <a:off x="6494284" y="5461752"/>
            <a:ext cx="2996702" cy="21013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/>
          </a:bodyPr>
          <a:lstStyle/>
          <a:p>
            <a:pPr algn="ctr" latinLnBrk="0"/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대응 시나리오</a:t>
            </a:r>
            <a:r>
              <a:rPr lang="en-US" altLang="ko-KR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: </a:t>
            </a:r>
            <a:r>
              <a:rPr lang="ko-KR" altLang="en-US" sz="12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오류 급증 시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B4E401C-1EF7-08EF-2898-E42C8215A160}"/>
              </a:ext>
            </a:extLst>
          </p:cNvPr>
          <p:cNvSpPr/>
          <p:nvPr/>
        </p:nvSpPr>
        <p:spPr>
          <a:xfrm>
            <a:off x="1052126" y="2437147"/>
            <a:ext cx="22999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통합단말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채널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인터페이스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계정계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 구간 연결 및 시간순 연계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7642986E-9ADC-781E-7DF7-6C4B0D4F1F6B}"/>
              </a:ext>
            </a:extLst>
          </p:cNvPr>
          <p:cNvSpPr/>
          <p:nvPr/>
        </p:nvSpPr>
        <p:spPr>
          <a:xfrm>
            <a:off x="1052126" y="2816932"/>
            <a:ext cx="22999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구간별 처리시간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지연위치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정상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지연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오류 상태 표시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F545F83-5DA1-5D2B-4A8E-B26A0CF94FB5}"/>
              </a:ext>
            </a:extLst>
          </p:cNvPr>
          <p:cNvSpPr/>
          <p:nvPr/>
        </p:nvSpPr>
        <p:spPr>
          <a:xfrm>
            <a:off x="1052126" y="3176972"/>
            <a:ext cx="22999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실패 구간 추적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외부기관 지연 확인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장애 최초 발생지점 식별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77297EF-F244-8DD4-C80C-B61933B4F6DA}"/>
              </a:ext>
            </a:extLst>
          </p:cNvPr>
          <p:cNvSpPr/>
          <p:nvPr/>
        </p:nvSpPr>
        <p:spPr>
          <a:xfrm>
            <a:off x="4248859" y="2158988"/>
            <a:ext cx="239522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일일 업무 스케줄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시작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마감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센터컷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배치 일정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4131F278-FB0D-6EEC-71B1-A1B22EFF3B2B}"/>
              </a:ext>
            </a:extLst>
          </p:cNvPr>
          <p:cNvSpPr/>
          <p:nvPr/>
        </p:nvSpPr>
        <p:spPr>
          <a:xfrm>
            <a:off x="4248859" y="2456892"/>
            <a:ext cx="239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예정시간 대비 지연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미처리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실패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선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후행 업무 진행상태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9AB91E0E-4BB5-B045-CB85-0A544B5EA5F3}"/>
              </a:ext>
            </a:extLst>
          </p:cNvPr>
          <p:cNvSpPr/>
          <p:nvPr/>
        </p:nvSpPr>
        <p:spPr>
          <a:xfrm>
            <a:off x="4248859" y="2816932"/>
            <a:ext cx="239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중요 업무 우선 표시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점검 결과 및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미조치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 항목 관리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AEAA2F6D-430F-2F30-E700-53F0AC6745CB}"/>
              </a:ext>
            </a:extLst>
          </p:cNvPr>
          <p:cNvSpPr/>
          <p:nvPr/>
        </p:nvSpPr>
        <p:spPr>
          <a:xfrm>
            <a:off x="4248859" y="3228695"/>
            <a:ext cx="239522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일일 점검 자동화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마감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센터컷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 지연 조기 발견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BD3FCAC-3822-AE8A-0E66-3E4C2F4F292E}"/>
              </a:ext>
            </a:extLst>
          </p:cNvPr>
          <p:cNvSpPr/>
          <p:nvPr/>
        </p:nvSpPr>
        <p:spPr>
          <a:xfrm>
            <a:off x="1050786" y="3897052"/>
            <a:ext cx="23900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실시간 로그 스트림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거래량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처리시간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·TPS·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오류율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799232F-0DCE-F97C-31D0-1AB1299A54B4}"/>
              </a:ext>
            </a:extLst>
          </p:cNvPr>
          <p:cNvSpPr/>
          <p:nvPr/>
        </p:nvSpPr>
        <p:spPr>
          <a:xfrm>
            <a:off x="1050786" y="4293096"/>
            <a:ext cx="23900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규칙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임계치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키워드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오류코드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시계열 추세 기반 탐지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008E8494-1236-6D2D-D7B4-6A3FEFB0B87A}"/>
              </a:ext>
            </a:extLst>
          </p:cNvPr>
          <p:cNvSpPr/>
          <p:nvPr/>
        </p:nvSpPr>
        <p:spPr>
          <a:xfrm>
            <a:off x="1050786" y="4633391"/>
            <a:ext cx="23900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이벤트 생성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심각도 분류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발생 시스템 상태 즉시 시각화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4B619E76-3E25-6D69-CF0E-4BF598D078B9}"/>
              </a:ext>
            </a:extLst>
          </p:cNvPr>
          <p:cNvSpPr/>
          <p:nvPr/>
        </p:nvSpPr>
        <p:spPr>
          <a:xfrm>
            <a:off x="1050786" y="4993431"/>
            <a:ext cx="23900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반복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연속 오류 감지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원본 로그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거래정보 연계 분석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3933F44E-18E0-476F-2D37-3A2C46796FB3}"/>
              </a:ext>
            </a:extLst>
          </p:cNvPr>
          <p:cNvSpPr/>
          <p:nvPr/>
        </p:nvSpPr>
        <p:spPr>
          <a:xfrm>
            <a:off x="4253038" y="3913311"/>
            <a:ext cx="23900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사용자 역할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부서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관심 업무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조회 필터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(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기간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시스템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등급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7A988BA4-01DA-E902-6BEC-C5FF43782F1B}"/>
              </a:ext>
            </a:extLst>
          </p:cNvPr>
          <p:cNvSpPr/>
          <p:nvPr/>
        </p:nvSpPr>
        <p:spPr>
          <a:xfrm>
            <a:off x="4232920" y="4329100"/>
            <a:ext cx="2390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요약 지표 집계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정상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주의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장애 상태 색상 구분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2FE96DC9-ED9D-201A-88F3-22B5E9F55E2F}"/>
              </a:ext>
            </a:extLst>
          </p:cNvPr>
          <p:cNvSpPr/>
          <p:nvPr/>
        </p:nvSpPr>
        <p:spPr>
          <a:xfrm>
            <a:off x="4253038" y="4597387"/>
            <a:ext cx="21830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전사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서비스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시스템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업무별 화면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사용자 정의 화면 저장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D7435DB-46B8-0CFD-9545-FCE8CC326A9F}"/>
              </a:ext>
            </a:extLst>
          </p:cNvPr>
          <p:cNvSpPr/>
          <p:nvPr/>
        </p:nvSpPr>
        <p:spPr>
          <a:xfrm>
            <a:off x="4253038" y="4977172"/>
            <a:ext cx="21830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spcBef>
                <a:spcPts val="300"/>
              </a:spcBef>
              <a:tabLst>
                <a:tab pos="5648002" algn="l"/>
              </a:tabLst>
            </a:pP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반복 운영점검 화면 재사용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이벤트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미조치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 통합 제공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E1A31C65-60BA-F2D8-8A5D-B2581D8B9426}"/>
              </a:ext>
            </a:extLst>
          </p:cNvPr>
          <p:cNvSpPr/>
          <p:nvPr/>
        </p:nvSpPr>
        <p:spPr>
          <a:xfrm>
            <a:off x="535985" y="5693767"/>
            <a:ext cx="27846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1.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처리시간 증가 감지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fontAlgn="base" latinLnBrk="0"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2.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지연 구간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외부기관 상태 확인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fontAlgn="base" latinLnBrk="0"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3.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동일 거래 연관 로그 조회  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fontAlgn="base" latinLnBrk="0"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4.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원인 오류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영향거래 식별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95305D0C-C3A4-802D-0C67-6986D34314F9}"/>
              </a:ext>
            </a:extLst>
          </p:cNvPr>
          <p:cNvSpPr/>
          <p:nvPr/>
        </p:nvSpPr>
        <p:spPr>
          <a:xfrm>
            <a:off x="3560695" y="5693767"/>
            <a:ext cx="27846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1.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예정시간 내 미완료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실패 감지  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fontAlgn="base" latinLnBrk="0"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2.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선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후행 작업 영향 확인 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fontAlgn="base" latinLnBrk="0"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3.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오류 로그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작업 결과 조회 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0000300000000000000" pitchFamily="2" charset="-127"/>
              <a:ea typeface="KoPub돋움체 Light" panose="00000300000000000000" pitchFamily="2" charset="-127"/>
              <a:cs typeface="Arial" panose="020B0604020202020204" pitchFamily="34" charset="0"/>
            </a:endParaRPr>
          </a:p>
          <a:p>
            <a:pPr fontAlgn="base" latinLnBrk="0"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4.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마감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후속 업무 영향 분석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52330DD3-40F1-5566-5907-6E1A5B29B807}"/>
              </a:ext>
            </a:extLst>
          </p:cNvPr>
          <p:cNvSpPr/>
          <p:nvPr/>
        </p:nvSpPr>
        <p:spPr>
          <a:xfrm>
            <a:off x="6585406" y="5693767"/>
            <a:ext cx="27846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fontAlgn="base" latinLnBrk="0">
              <a:tabLst>
                <a:tab pos="5648002" algn="l"/>
              </a:tabLst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1.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오류코드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키워드 급증 탐지     </a:t>
            </a:r>
            <a:b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</a:b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2.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발생 시스템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업무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시간대 분석  </a:t>
            </a:r>
            <a:b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</a:b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3.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거래량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처리시간 비교</a:t>
            </a:r>
            <a:b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</a:b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4.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  <a:cs typeface="Arial" panose="020B0604020202020204" pitchFamily="34" charset="0"/>
              </a:rPr>
              <a:t>상세 로그로 원인 분석</a:t>
            </a:r>
          </a:p>
        </p:txBody>
      </p:sp>
    </p:spTree>
    <p:extLst>
      <p:ext uri="{BB962C8B-B14F-4D97-AF65-F5344CB8AC3E}">
        <p14:creationId xmlns:p14="http://schemas.microsoft.com/office/powerpoint/2010/main" val="479135861"/>
      </p:ext>
    </p:extLst>
  </p:cSld>
  <p:clrMapOvr>
    <a:masterClrMapping/>
  </p:clrMapOvr>
</p:sld>
</file>

<file path=ppt/theme/theme1.xml><?xml version="1.0" encoding="utf-8"?>
<a:theme xmlns:a="http://schemas.openxmlformats.org/drawingml/2006/main" name="[고객사] 제안서_목차간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[고객사] 제안서_본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39742</TotalTime>
  <Words>2300</Words>
  <Application>Microsoft Office PowerPoint</Application>
  <PresentationFormat>A4 용지(210x297mm)</PresentationFormat>
  <Paragraphs>444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21" baseType="lpstr">
      <vt:lpstr>KoPub돋움체 Bold</vt:lpstr>
      <vt:lpstr>Times New Roman</vt:lpstr>
      <vt:lpstr>KoPub돋움체 Medium</vt:lpstr>
      <vt:lpstr>Segoe UI</vt:lpstr>
      <vt:lpstr>페이퍼로지 6 SemiBold</vt:lpstr>
      <vt:lpstr>Arial</vt:lpstr>
      <vt:lpstr>KoPub돋움체 Light</vt:lpstr>
      <vt:lpstr>Calibri</vt:lpstr>
      <vt:lpstr>페이퍼로지 8 ExtraBold</vt:lpstr>
      <vt:lpstr>페이퍼로지 4 Regular</vt:lpstr>
      <vt:lpstr>맑은 고딕</vt:lpstr>
      <vt:lpstr>페이퍼로지 7 Bold</vt:lpstr>
      <vt:lpstr>[고객사] 제안서_목차간지</vt:lpstr>
      <vt:lpstr>[고객사] 제안서_본문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PMS</dc:creator>
  <cp:lastModifiedBy>윤 이지</cp:lastModifiedBy>
  <cp:revision>3056</cp:revision>
  <cp:lastPrinted>2026-03-26T23:57:48Z</cp:lastPrinted>
  <dcterms:created xsi:type="dcterms:W3CDTF">2015-06-16T05:10:28Z</dcterms:created>
  <dcterms:modified xsi:type="dcterms:W3CDTF">2026-06-16T08:08:56Z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lpwstr>7D3356B922E6E9930051F6472E7464E8FF0DA5CF3440EB683A90AE343E3FCE97</vt:lpwstr>
  </property>
  <property fmtid="{D5CDD505-2E9C-101B-9397-08002B2CF9AE}" pid="2" name="NSCPROP">
    <vt:lpwstr>NSCCustomProperty</vt:lpwstr>
  </property>
  <property fmtid="{D5CDD505-2E9C-101B-9397-08002B2CF9AE}" pid="3" name="FLCMData">
    <vt:lpwstr>06B32D9676095CF76EFA65E422259274B218B99B0E14FF64EBA4D84FEE805D1CB7589C9EAB2BE820A98C6F8EFF62815CD14A99643E84F962D1908A2883AE99A9</vt:lpwstr>
  </property>
</Properties>
</file>